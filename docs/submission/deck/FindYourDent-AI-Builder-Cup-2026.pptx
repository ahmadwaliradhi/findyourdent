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USD</c:v>
                </c:pt>
              </c:strCache>
            </c:strRef>
          </c:tx>
          <c:spPr>
            <a:solidFill>
              <a:srgbClr val="0B6E6A"/>
            </a:solidFill>
          </c:spPr>
          <c:cat>
            <c:strRef>
              <c:f>Sheet1!$A$2:$A$7</c:f>
              <c:strCache>
                <c:ptCount val="6"/>
                <c:pt idx="0">
                  <c:v>PPN 11%</c:v>
                </c:pt>
                <c:pt idx="1">
                  <c:v>Storage and registry</c:v>
                </c:pt>
                <c:pt idx="2">
                  <c:v>Cloud Run active time</c:v>
                </c:pt>
                <c:pt idx="3">
                  <c:v>Gemini: Moderation, extraction, cache</c:v>
                </c:pt>
                <c:pt idx="4">
                  <c:v>Gemini: Guidance sessions</c:v>
                </c:pt>
                <c:pt idx="5">
                  <c:v>Warm agent instance (20 days)</c:v>
                </c:pt>
              </c:strCache>
            </c:strRef>
          </c:cat>
          <c:val>
            <c:numRef>
              <c:f>Sheet1!$B$2:$B$7</c:f>
              <c:numCache>
                <c:formatCode>General</c:formatCode>
                <c:ptCount val="6"/>
                <c:pt idx="0">
                  <c:v>1.66</c:v>
                </c:pt>
                <c:pt idx="1">
                  <c:v>0.25</c:v>
                </c:pt>
                <c:pt idx="2">
                  <c:v>0.32</c:v>
                </c:pt>
                <c:pt idx="3">
                  <c:v>1.94</c:v>
                </c:pt>
                <c:pt idx="4">
                  <c:v>3.51</c:v>
                </c:pt>
                <c:pt idx="5">
                  <c:v>9.07</c:v>
                </c:pt>
              </c:numCache>
            </c:numRef>
          </c:val>
        </c:ser>
        <c:dLbls>
          <c:numFmt formatCode="0.00" sourceLinked="0"/>
          <c:txPr>
            <a:bodyPr/>
            <a:lstStyle/>
            <a:p>
              <a:pPr>
                <a:defRPr sz="850">
                  <a:solidFill>
                    <a:srgbClr val="172427"/>
                  </a:solidFill>
                </a:defRPr>
              </a:pPr>
            </a:p>
          </c:txPr>
          <c:dLblPos val="outEnd"/>
          <c:showLegendKey val="0"/>
          <c:showVal val="1"/>
          <c:showCatName val="0"/>
          <c:showSerName val="0"/>
          <c:showPercent val="0"/>
          <c:showBubbleSize val="0"/>
          <c:showLeaderLines val="1"/>
        </c:dLbls>
        <c:gapWidth val="55"/>
        <c:axId val="-2068027336"/>
        <c:axId val="-2113994440"/>
      </c:barChart>
      <c:catAx>
        <c:axId val="-2068027336"/>
        <c:scaling>
          <c:orientation val="minMax"/>
        </c:scaling>
        <c:delete val="0"/>
        <c:axPos val="l"/>
        <c:majorTickMark val="out"/>
        <c:minorTickMark val="none"/>
        <c:tickLblPos val="nextTo"/>
        <c:spPr>
          <a:ln>
            <a:noFill/>
          </a:ln>
        </c:spPr>
        <c:txPr>
          <a:bodyPr/>
          <a:lstStyle/>
          <a:p>
            <a:pPr>
              <a:defRPr sz="850">
                <a:solidFill>
                  <a:srgbClr val="5B6B70"/>
                </a:solidFill>
              </a:defRPr>
            </a:pPr>
          </a:p>
        </c:txPr>
        <c:crossAx val="-2113994440"/>
        <c:crosses val="autoZero"/>
        <c:auto val="1"/>
        <c:lblAlgn val="ctr"/>
        <c:lblOffset val="100"/>
        <c:noMultiLvlLbl val="0"/>
      </c:catAx>
      <c:valAx>
        <c:axId val="-2113994440"/>
        <c:scaling>
          <c:max val="11.0"/>
        </c:scaling>
        <c:delete/>
        <c:axPos val="b"/>
        <c:majorTickMark val="out"/>
        <c:minorTickMark val="none"/>
        <c:tickLblPos val="nextTo"/>
        <c:crossAx val="-2068027336"/>
        <c:crosses val="autoZero"/>
      </c:valAx>
    </c:plotArea>
    <c:dispBlanksAs val="gap"/>
  </c:chart>
  <c:txPr>
    <a:bodyPr/>
    <a:lstStyle/>
    <a:p>
      <a:pPr>
        <a:defRPr sz="850">
          <a:solidFill>
            <a:srgbClr val="172427"/>
          </a:solidFill>
          <a:latin typeface="Google Sans Flex"/>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3fb085bff3c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 name="Google Shape;67;g3fb085bff3c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3fb085bff3c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 name="Google Shape;74;g3fb085bff3c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fb085bff3c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3fb085bff3c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fb085bff3c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3fb085bff3c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3fb085bff3c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3fb085bff3c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3fb085bff3c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3fb085bff3c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fb085bff3c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3fb085bff3c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3fb085bff3c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3fb085bff3c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3fb085bff3c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3fb085bff3c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fb085bff3c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3fb085bff3c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fb085bff3c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3fb085bff3c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fb085bff3c_0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fb085bff3c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3fb085bff3c_0_1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3fb085bff3c_0_1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3fb085bff3c_0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3fb085bff3c_0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4.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4.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4.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4.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4.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4.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chart" Target="../charts/char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1.png"/><Relationship Id="rId6" Type="http://schemas.openxmlformats.org/officeDocument/2006/relationships/image" Target="../media/image6.png"/><Relationship Id="rId7" Type="http://schemas.openxmlformats.org/officeDocument/2006/relationships/image" Target="../media/image7.png"/><Relationship Id="rId8" Type="http://schemas.openxmlformats.org/officeDocument/2006/relationships/image" Target="../media/image8.png"/><Relationship Id="rId9"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4.png"/><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4.png"/><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hyperlink" Target="https://github.com/ahmadwaliradhi/findyourdent" TargetMode="External"/><Relationship Id="rId6" Type="http://schemas.openxmlformats.org/officeDocument/2006/relationships/hyperlink" Target="https://youtu.be/KsSCkUG_M00" TargetMode="External"/><Relationship Id="rId7" Type="http://schemas.openxmlformats.org/officeDocument/2006/relationships/hyperlink" Target="https://findyourdent.com" TargetMode="External"/><Relationship Id="rId8" Type="http://schemas.openxmlformats.org/officeDocument/2006/relationships/image" Target="../media/image10.png"/><Relationship Id="rId9" Type="http://schemas.openxmlformats.org/officeDocument/2006/relationships/image" Target="../media/image11.png"/><Relationship Id="rId10" Type="http://schemas.openxmlformats.org/officeDocument/2006/relationships/image" Target="../media/image1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4.png"/><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4.png"/><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nvSpPr>
        <p:spPr>
          <a:xfrm>
            <a:off x="146600" y="2615184"/>
            <a:ext cx="8760000" cy="2003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100">
                <a:latin typeface="Google Sans Flex SemiBold"/>
                <a:ea typeface="Google Sans Flex SemiBold"/>
                <a:cs typeface="Google Sans Flex SemiBold"/>
                <a:sym typeface="Google Sans Flex SemiBold"/>
              </a:rPr>
              <a:t>Team Details</a:t>
            </a:r>
            <a:endParaRPr sz="2100">
              <a:latin typeface="Google Sans Flex SemiBold"/>
              <a:ea typeface="Google Sans Flex SemiBold"/>
              <a:cs typeface="Google Sans Flex SemiBold"/>
              <a:sym typeface="Google Sans Flex SemiBold"/>
            </a:endParaRPr>
          </a:p>
          <a:p>
            <a:pPr indent="0" lvl="0" marL="0" rtl="0" algn="l">
              <a:spcBef>
                <a:spcPts val="0"/>
              </a:spcBef>
              <a:spcAft>
                <a:spcPts val="0"/>
              </a:spcAft>
              <a:buNone/>
            </a:pPr>
            <a:r>
              <a:t/>
            </a:r>
            <a:endParaRPr sz="1800">
              <a:latin typeface="Google Sans Flex Medium"/>
              <a:ea typeface="Google Sans Flex Medium"/>
              <a:cs typeface="Google Sans Flex Medium"/>
              <a:sym typeface="Google Sans Flex Medium"/>
            </a:endParaRPr>
          </a:p>
          <a:p>
            <a:pPr indent="-342900" lvl="1" marL="914400" rtl="0" algn="l">
              <a:spcBef>
                <a:spcPts val="0"/>
              </a:spcBef>
              <a:spcAft>
                <a:spcPts val="0"/>
              </a:spcAft>
              <a:buSzPts val="1800"/>
              <a:buFont typeface="Google Sans Flex"/>
              <a:buAutoNum type="alphaLcPeriod"/>
            </a:pPr>
            <a:r>
              <a:rPr lang="en-GB" sz="1800">
                <a:latin typeface="Google Sans Flex"/>
                <a:ea typeface="Google Sans Flex"/>
                <a:cs typeface="Google Sans Flex"/>
                <a:sym typeface="Google Sans Flex"/>
              </a:rPr>
              <a:t>Team name: </a:t>
            </a:r>
            <a:r>
              <a:rPr lang="en-GB" sz="1800">
                <a:latin typeface="Google Sans Flex"/>
                <a:ea typeface="Google Sans Flex"/>
                <a:cs typeface="Google Sans Flex"/>
                <a:sym typeface="Google Sans Flex"/>
              </a:rPr>
              <a:t>SabiqLab</a:t>
            </a:r>
            <a:endParaRPr sz="1800">
              <a:latin typeface="Google Sans Flex"/>
              <a:ea typeface="Google Sans Flex"/>
              <a:cs typeface="Google Sans Flex"/>
              <a:sym typeface="Google Sans Flex"/>
            </a:endParaRPr>
          </a:p>
          <a:p>
            <a:pPr indent="-342900" lvl="1" marL="914400" rtl="0" algn="l">
              <a:spcBef>
                <a:spcPts val="0"/>
              </a:spcBef>
              <a:spcAft>
                <a:spcPts val="0"/>
              </a:spcAft>
              <a:buSzPts val="1800"/>
              <a:buFont typeface="Google Sans Flex"/>
              <a:buAutoNum type="alphaLcPeriod"/>
            </a:pPr>
            <a:r>
              <a:rPr lang="en-GB" sz="1800">
                <a:latin typeface="Google Sans Flex"/>
                <a:ea typeface="Google Sans Flex"/>
                <a:cs typeface="Google Sans Flex"/>
                <a:sym typeface="Google Sans Flex"/>
              </a:rPr>
              <a:t>Team leader name: </a:t>
            </a:r>
            <a:r>
              <a:rPr lang="en-GB" sz="1800">
                <a:latin typeface="Google Sans Flex"/>
                <a:ea typeface="Google Sans Flex"/>
                <a:cs typeface="Google Sans Flex"/>
                <a:sym typeface="Google Sans Flex"/>
              </a:rPr>
              <a:t>Ahmad Wali Radhi</a:t>
            </a:r>
            <a:endParaRPr sz="1800">
              <a:latin typeface="Google Sans Flex"/>
              <a:ea typeface="Google Sans Flex"/>
              <a:cs typeface="Google Sans Flex"/>
              <a:sym typeface="Google Sans Flex"/>
            </a:endParaRPr>
          </a:p>
          <a:p>
            <a:pPr indent="-342900" lvl="1" marL="914400" rtl="0" algn="l">
              <a:spcBef>
                <a:spcPts val="0"/>
              </a:spcBef>
              <a:spcAft>
                <a:spcPts val="0"/>
              </a:spcAft>
              <a:buSzPts val="1800"/>
              <a:buFont typeface="Google Sans Flex"/>
              <a:buAutoNum type="alphaLcPeriod"/>
            </a:pPr>
            <a:r>
              <a:rPr lang="en-GB" sz="1800">
                <a:latin typeface="Google Sans Flex"/>
                <a:ea typeface="Google Sans Flex"/>
                <a:cs typeface="Google Sans Flex"/>
                <a:sym typeface="Google Sans Flex"/>
              </a:rPr>
              <a:t>Problem Statement: </a:t>
            </a:r>
            <a:r>
              <a:rPr lang="en-GB" sz="1300">
                <a:latin typeface="Google Sans Flex"/>
                <a:ea typeface="Google Sans Flex"/>
                <a:cs typeface="Google Sans Flex"/>
                <a:sym typeface="Google Sans Flex"/>
              </a:rPr>
              <a:t>Survei Kesehatan Indonesia 2023: 56.9% of Indonesians aged 3 and over had a dental or oral problem in the past year, yet only 11.2% of them were treated by dental health workers. A Patient cannot tell how urgent it is, what it will cost, whether BPJS pays, or where to go.</a:t>
            </a:r>
            <a:endParaRPr sz="1800">
              <a:latin typeface="Google Sans Flex"/>
              <a:ea typeface="Google Sans Flex"/>
              <a:cs typeface="Google Sans Flex"/>
              <a:sym typeface="Google Sans Flex"/>
            </a:endParaRPr>
          </a:p>
        </p:txBody>
      </p:sp>
      <p:pic>
        <p:nvPicPr>
          <p:cNvPr id="55" name="Google Shape;55;p13" title="Frame 144.png"/>
          <p:cNvPicPr preferRelativeResize="0"/>
          <p:nvPr/>
        </p:nvPicPr>
        <p:blipFill>
          <a:blip r:embed="rId3">
            <a:alphaModFix/>
          </a:blip>
          <a:stretch>
            <a:fillRect/>
          </a:stretch>
        </p:blipFill>
        <p:spPr>
          <a:xfrm>
            <a:off x="0" y="-3"/>
            <a:ext cx="9144000" cy="2715526"/>
          </a:xfrm>
          <a:prstGeom prst="rect">
            <a:avLst/>
          </a:prstGeom>
          <a:noFill/>
          <a:ln>
            <a:noFill/>
          </a:ln>
        </p:spPr>
      </p:pic>
      <p:pic>
        <p:nvPicPr>
          <p:cNvPr id="56" name="Google Shape;56;p13" title="Frame 144.png"/>
          <p:cNvPicPr preferRelativeResize="0"/>
          <p:nvPr/>
        </p:nvPicPr>
        <p:blipFill rotWithShape="1">
          <a:blip r:embed="rId4">
            <a:alphaModFix/>
          </a:blip>
          <a:srcRect b="98001" l="0" r="0" t="0"/>
          <a:stretch/>
        </p:blipFill>
        <p:spPr>
          <a:xfrm>
            <a:off x="0" y="5093562"/>
            <a:ext cx="9144000" cy="54275"/>
          </a:xfrm>
          <a:prstGeom prst="rect">
            <a:avLst/>
          </a:prstGeom>
          <a:noFill/>
          <a:ln>
            <a:noFill/>
          </a:ln>
        </p:spPr>
      </p:pic>
      <p:sp>
        <p:nvSpPr>
          <p:cNvPr id="57" name="Source"/>
          <p:cNvSpPr txBox="1"/>
          <p:nvPr/>
        </p:nvSpPr>
        <p:spPr>
          <a:xfrm>
            <a:off x="265176" y="4754880"/>
            <a:ext cx="8595360" cy="228600"/>
          </a:xfrm>
          <a:prstGeom prst="rect">
            <a:avLst/>
          </a:prstGeom>
          <a:noFill/>
        </p:spPr>
        <p:txBody>
          <a:bodyPr wrap="square" lIns="0" rIns="0" tIns="0" bIns="0" anchor="t">
            <a:spAutoFit/>
          </a:bodyPr>
          <a:lstStyle/>
          <a:p>
            <a:pPr algn="l">
              <a:spcAft>
                <a:spcPts val="0"/>
              </a:spcAft>
            </a:pPr>
            <a:r>
              <a:rPr sz="750" b="0" i="0">
                <a:solidFill>
                  <a:srgbClr val="5B6B70"/>
                </a:solidFill>
                <a:latin typeface="Google Sans Flex"/>
              </a:rPr>
              <a:t>Sources: SKI 2023 Dalam Angka, BKPK Kemenkes, Tabel 9.5 p. 324 (56.9%) and Tabel 9.7 p. 327 (57.0%); BKPK SKI 2023 oral health factsheet, Gambar 3 p. 2 (11.2%).</a:t>
            </a: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pic>
        <p:nvPicPr>
          <p:cNvPr id="69" name="Google Shape;69;p15" title="Group 427319979.png"/>
          <p:cNvPicPr preferRelativeResize="0"/>
          <p:nvPr/>
        </p:nvPicPr>
        <p:blipFill>
          <a:blip r:embed="rId3">
            <a:alphaModFix/>
          </a:blip>
          <a:stretch>
            <a:fillRect/>
          </a:stretch>
        </p:blipFill>
        <p:spPr>
          <a:xfrm>
            <a:off x="0" y="1"/>
            <a:ext cx="9144000" cy="507359"/>
          </a:xfrm>
          <a:prstGeom prst="rect">
            <a:avLst/>
          </a:prstGeom>
          <a:noFill/>
          <a:ln>
            <a:noFill/>
          </a:ln>
        </p:spPr>
      </p:pic>
      <p:sp>
        <p:nvSpPr>
          <p:cNvPr id="70" name="Google Shape;70;p15"/>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1" name="Google Shape;71;p15"/>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Brief about the idea</a:t>
            </a:r>
            <a:endParaRPr sz="1600">
              <a:latin typeface="Google Sans Flex Medium"/>
              <a:ea typeface="Google Sans Flex Medium"/>
              <a:cs typeface="Google Sans Flex Medium"/>
              <a:sym typeface="Google Sans Flex Medium"/>
            </a:endParaRPr>
          </a:p>
        </p:txBody>
      </p:sp>
      <p:sp>
        <p:nvSpPr>
          <p:cNvPr id="72" name="Action title"/>
          <p:cNvSpPr txBox="1"/>
          <p:nvPr/>
        </p:nvSpPr>
        <p:spPr>
          <a:xfrm>
            <a:off x="265176" y="1024128"/>
            <a:ext cx="8595360" cy="566928"/>
          </a:xfrm>
          <a:prstGeom prst="rect">
            <a:avLst/>
          </a:prstGeom>
          <a:noFill/>
        </p:spPr>
        <p:txBody>
          <a:bodyPr wrap="square" lIns="0" rIns="0" tIns="0" bIns="0" anchor="t">
            <a:spAutoFit/>
          </a:bodyPr>
          <a:lstStyle/>
          <a:p>
            <a:pPr algn="l">
              <a:lnSpc>
                <a:spcPct val="100000"/>
              </a:lnSpc>
              <a:spcAft>
                <a:spcPts val="0"/>
              </a:spcAft>
            </a:pPr>
            <a:r>
              <a:rPr sz="1900" b="1" i="0">
                <a:solidFill>
                  <a:srgbClr val="172427"/>
                </a:solidFill>
                <a:latin typeface="Google Sans Flex"/>
              </a:rPr>
              <a:t>A Patient describes a toothache in their own words and leaves knowing how urgent it is, what it costs, and where to go</a:t>
            </a:r>
          </a:p>
        </p:txBody>
      </p:sp>
      <p:sp>
        <p:nvSpPr>
          <p:cNvPr id="73" name="TextBox 72"/>
          <p:cNvSpPr txBox="1"/>
          <p:nvPr/>
        </p:nvSpPr>
        <p:spPr>
          <a:xfrm>
            <a:off x="265176" y="1737360"/>
            <a:ext cx="2743200" cy="201168"/>
          </a:xfrm>
          <a:prstGeom prst="rect">
            <a:avLst/>
          </a:prstGeom>
          <a:noFill/>
        </p:spPr>
        <p:txBody>
          <a:bodyPr wrap="square" lIns="0" rIns="0" tIns="0" bIns="0" anchor="t">
            <a:spAutoFit/>
          </a:bodyPr>
          <a:lstStyle/>
          <a:p>
            <a:pPr algn="l">
              <a:spcAft>
                <a:spcPts val="0"/>
              </a:spcAft>
            </a:pPr>
            <a:r>
              <a:rPr sz="850" b="1" i="0">
                <a:solidFill>
                  <a:srgbClr val="0B6E6A"/>
                </a:solidFill>
                <a:latin typeface="Google Sans Flex"/>
              </a:rPr>
              <a:t>THE GAP · SKI 2023</a:t>
            </a:r>
          </a:p>
        </p:txBody>
      </p:sp>
      <p:sp>
        <p:nvSpPr>
          <p:cNvPr id="74" name="TextBox 73"/>
          <p:cNvSpPr txBox="1"/>
          <p:nvPr/>
        </p:nvSpPr>
        <p:spPr>
          <a:xfrm>
            <a:off x="265176" y="2011679"/>
            <a:ext cx="1143000" cy="457200"/>
          </a:xfrm>
          <a:prstGeom prst="rect">
            <a:avLst/>
          </a:prstGeom>
          <a:noFill/>
        </p:spPr>
        <p:txBody>
          <a:bodyPr wrap="square" lIns="0" rIns="0" tIns="0" bIns="0" anchor="t">
            <a:spAutoFit/>
          </a:bodyPr>
          <a:lstStyle/>
          <a:p>
            <a:pPr algn="l">
              <a:spcAft>
                <a:spcPts val="0"/>
              </a:spcAft>
            </a:pPr>
            <a:r>
              <a:rPr sz="2600" b="1" i="0">
                <a:solidFill>
                  <a:srgbClr val="0B6E6A"/>
                </a:solidFill>
                <a:latin typeface="Google Sans Flex"/>
              </a:rPr>
              <a:t>56.9%</a:t>
            </a:r>
          </a:p>
        </p:txBody>
      </p:sp>
      <p:sp>
        <p:nvSpPr>
          <p:cNvPr id="75" name="TextBox 74"/>
          <p:cNvSpPr txBox="1"/>
          <p:nvPr/>
        </p:nvSpPr>
        <p:spPr>
          <a:xfrm>
            <a:off x="1463040" y="2066543"/>
            <a:ext cx="1691640" cy="731520"/>
          </a:xfrm>
          <a:prstGeom prst="rect">
            <a:avLst/>
          </a:prstGeom>
          <a:noFill/>
        </p:spPr>
        <p:txBody>
          <a:bodyPr wrap="square" lIns="0" rIns="0" tIns="0" bIns="0" anchor="t">
            <a:spAutoFit/>
          </a:bodyPr>
          <a:lstStyle/>
          <a:p>
            <a:pPr algn="l">
              <a:spcAft>
                <a:spcPts val="0"/>
              </a:spcAft>
            </a:pPr>
            <a:r>
              <a:rPr sz="1000" b="0" i="0">
                <a:solidFill>
                  <a:srgbClr val="172427"/>
                </a:solidFill>
                <a:latin typeface="Google Sans Flex"/>
              </a:rPr>
              <a:t>of Indonesians aged 3+ had a dental or oral problem in the past year</a:t>
            </a:r>
          </a:p>
        </p:txBody>
      </p:sp>
      <p:sp>
        <p:nvSpPr>
          <p:cNvPr id="76" name="TextBox 75"/>
          <p:cNvSpPr txBox="1"/>
          <p:nvPr/>
        </p:nvSpPr>
        <p:spPr>
          <a:xfrm>
            <a:off x="265176" y="2907791"/>
            <a:ext cx="1143000" cy="457200"/>
          </a:xfrm>
          <a:prstGeom prst="rect">
            <a:avLst/>
          </a:prstGeom>
          <a:noFill/>
        </p:spPr>
        <p:txBody>
          <a:bodyPr wrap="square" lIns="0" rIns="0" tIns="0" bIns="0" anchor="t">
            <a:spAutoFit/>
          </a:bodyPr>
          <a:lstStyle/>
          <a:p>
            <a:pPr algn="l">
              <a:spcAft>
                <a:spcPts val="0"/>
              </a:spcAft>
            </a:pPr>
            <a:r>
              <a:rPr sz="2600" b="1" i="0">
                <a:solidFill>
                  <a:srgbClr val="B42318"/>
                </a:solidFill>
                <a:latin typeface="Google Sans Flex"/>
              </a:rPr>
              <a:t>11.2%</a:t>
            </a:r>
          </a:p>
        </p:txBody>
      </p:sp>
      <p:sp>
        <p:nvSpPr>
          <p:cNvPr id="77" name="TextBox 76"/>
          <p:cNvSpPr txBox="1"/>
          <p:nvPr/>
        </p:nvSpPr>
        <p:spPr>
          <a:xfrm>
            <a:off x="1463040" y="2962656"/>
            <a:ext cx="1691640" cy="731520"/>
          </a:xfrm>
          <a:prstGeom prst="rect">
            <a:avLst/>
          </a:prstGeom>
          <a:noFill/>
        </p:spPr>
        <p:txBody>
          <a:bodyPr wrap="square" lIns="0" rIns="0" tIns="0" bIns="0" anchor="t">
            <a:spAutoFit/>
          </a:bodyPr>
          <a:lstStyle/>
          <a:p>
            <a:pPr algn="l">
              <a:spcAft>
                <a:spcPts val="0"/>
              </a:spcAft>
            </a:pPr>
            <a:r>
              <a:rPr sz="1000" b="0" i="0">
                <a:solidFill>
                  <a:srgbClr val="172427"/>
                </a:solidFill>
                <a:latin typeface="Google Sans Flex"/>
              </a:rPr>
              <a:t>of them were treated by dental health workers</a:t>
            </a:r>
          </a:p>
        </p:txBody>
      </p:sp>
      <p:sp>
        <p:nvSpPr>
          <p:cNvPr id="78" name="TextBox 77"/>
          <p:cNvSpPr txBox="1"/>
          <p:nvPr/>
        </p:nvSpPr>
        <p:spPr>
          <a:xfrm>
            <a:off x="265176" y="3803904"/>
            <a:ext cx="1143000" cy="457200"/>
          </a:xfrm>
          <a:prstGeom prst="rect">
            <a:avLst/>
          </a:prstGeom>
          <a:noFill/>
        </p:spPr>
        <p:txBody>
          <a:bodyPr wrap="square" lIns="0" rIns="0" tIns="0" bIns="0" anchor="t">
            <a:spAutoFit/>
          </a:bodyPr>
          <a:lstStyle/>
          <a:p>
            <a:pPr algn="l">
              <a:spcAft>
                <a:spcPts val="0"/>
              </a:spcAft>
            </a:pPr>
            <a:r>
              <a:rPr sz="2600" b="1" i="0">
                <a:solidFill>
                  <a:srgbClr val="0B6E6A"/>
                </a:solidFill>
                <a:latin typeface="Google Sans Flex"/>
              </a:rPr>
              <a:t>57.0%</a:t>
            </a:r>
          </a:p>
        </p:txBody>
      </p:sp>
      <p:sp>
        <p:nvSpPr>
          <p:cNvPr id="79" name="TextBox 78"/>
          <p:cNvSpPr txBox="1"/>
          <p:nvPr/>
        </p:nvSpPr>
        <p:spPr>
          <a:xfrm>
            <a:off x="1463040" y="3858768"/>
            <a:ext cx="1691640" cy="731520"/>
          </a:xfrm>
          <a:prstGeom prst="rect">
            <a:avLst/>
          </a:prstGeom>
          <a:noFill/>
        </p:spPr>
        <p:txBody>
          <a:bodyPr wrap="square" lIns="0" rIns="0" tIns="0" bIns="0" anchor="t">
            <a:spAutoFit/>
          </a:bodyPr>
          <a:lstStyle/>
          <a:p>
            <a:pPr algn="l">
              <a:spcAft>
                <a:spcPts val="0"/>
              </a:spcAft>
            </a:pPr>
            <a:r>
              <a:rPr sz="1000" b="0" i="0">
                <a:solidFill>
                  <a:srgbClr val="172427"/>
                </a:solidFill>
                <a:latin typeface="Google Sans Flex"/>
              </a:rPr>
              <a:t>of people not treated by a dental health worker said they felt no need</a:t>
            </a:r>
          </a:p>
        </p:txBody>
      </p:sp>
      <p:sp>
        <p:nvSpPr>
          <p:cNvPr id="80" name="Rectangle 79"/>
          <p:cNvSpPr/>
          <p:nvPr/>
        </p:nvSpPr>
        <p:spPr>
          <a:xfrm>
            <a:off x="3310128" y="1737360"/>
            <a:ext cx="9144" cy="2880360"/>
          </a:xfrm>
          <a:prstGeom prst="rect">
            <a:avLst/>
          </a:prstGeom>
          <a:solidFill>
            <a:srgbClr val="D5DDDF"/>
          </a:solidFill>
          <a:ln>
            <a:noFill/>
          </a:ln>
        </p:spPr>
        <p:txBody>
          <a:bodyPr rtlCol="0" anchor="ctr"/>
          <a:lstStyle/>
          <a:p/>
        </p:txBody>
      </p:sp>
      <p:sp>
        <p:nvSpPr>
          <p:cNvPr id="81" name="TextBox 80"/>
          <p:cNvSpPr txBox="1"/>
          <p:nvPr/>
        </p:nvSpPr>
        <p:spPr>
          <a:xfrm>
            <a:off x="3566160" y="1737360"/>
            <a:ext cx="5029200" cy="201168"/>
          </a:xfrm>
          <a:prstGeom prst="rect">
            <a:avLst/>
          </a:prstGeom>
          <a:noFill/>
        </p:spPr>
        <p:txBody>
          <a:bodyPr wrap="square" lIns="0" rIns="0" tIns="0" bIns="0" anchor="t">
            <a:spAutoFit/>
          </a:bodyPr>
          <a:lstStyle/>
          <a:p>
            <a:pPr algn="l">
              <a:spcAft>
                <a:spcPts val="0"/>
              </a:spcAft>
            </a:pPr>
            <a:r>
              <a:rPr sz="850" b="1" i="0">
                <a:solidFill>
                  <a:srgbClr val="0B6E6A"/>
                </a:solidFill>
                <a:latin typeface="Google Sans Flex"/>
              </a:rPr>
              <a:t>WHAT FINDYOURDENT DOES</a:t>
            </a:r>
          </a:p>
        </p:txBody>
      </p:sp>
      <p:sp>
        <p:nvSpPr>
          <p:cNvPr id="82" name="Oval 81"/>
          <p:cNvSpPr/>
          <p:nvPr/>
        </p:nvSpPr>
        <p:spPr>
          <a:xfrm>
            <a:off x="3566160" y="2011679"/>
            <a:ext cx="274320" cy="274320"/>
          </a:xfrm>
          <a:prstGeom prst="ellipse">
            <a:avLst/>
          </a:prstGeom>
          <a:solidFill>
            <a:srgbClr val="0B6E6A"/>
          </a:solidFill>
          <a:ln>
            <a:noFill/>
          </a:ln>
        </p:spPr>
        <p:txBody>
          <a:bodyPr rtlCol="0" anchor="ctr" wrap="square" lIns="0" rIns="0" tIns="36576" bIns="36576"/>
          <a:lstStyle/>
          <a:p>
            <a:pPr algn="ctr"/>
            <a:r>
              <a:rPr sz="1000" b="1" i="0">
                <a:solidFill>
                  <a:srgbClr val="FFFFFF"/>
                </a:solidFill>
                <a:latin typeface="Google Sans Flex"/>
              </a:rPr>
              <a:t>1</a:t>
            </a:r>
          </a:p>
        </p:txBody>
      </p:sp>
      <p:sp>
        <p:nvSpPr>
          <p:cNvPr id="83" name="TextBox 82"/>
          <p:cNvSpPr txBox="1"/>
          <p:nvPr/>
        </p:nvSpPr>
        <p:spPr>
          <a:xfrm>
            <a:off x="3977639" y="2002536"/>
            <a:ext cx="4846320" cy="640080"/>
          </a:xfrm>
          <a:prstGeom prst="rect">
            <a:avLst/>
          </a:prstGeom>
          <a:noFill/>
        </p:spPr>
        <p:txBody>
          <a:bodyPr wrap="square" lIns="0" rIns="0" tIns="0" bIns="0" anchor="t">
            <a:spAutoFit/>
          </a:bodyPr>
          <a:lstStyle/>
          <a:p>
            <a:pPr algn="l">
              <a:lnSpc>
                <a:spcPct val="100000"/>
              </a:lnSpc>
              <a:spcAft>
                <a:spcPts val="0"/>
              </a:spcAft>
            </a:pPr>
            <a:r>
              <a:rPr sz="1150" b="1" i="0">
                <a:solidFill>
                  <a:srgbClr val="172427"/>
                </a:solidFill>
                <a:latin typeface="Google Sans Flex"/>
              </a:rPr>
              <a:t>Describe</a:t>
            </a:r>
          </a:p>
          <a:p>
            <a:pPr algn="l">
              <a:lnSpc>
                <a:spcPct val="100000"/>
              </a:lnSpc>
              <a:spcAft>
                <a:spcPts val="0"/>
              </a:spcAft>
            </a:pPr>
            <a:r>
              <a:rPr sz="1000" b="0" i="0">
                <a:solidFill>
                  <a:srgbClr val="5B6B70"/>
                </a:solidFill>
                <a:latin typeface="Google Sans Flex"/>
              </a:rPr>
              <a:t>Type or speak the complaint in Indonesian, a regional language or English. The complaint is never stored.</a:t>
            </a:r>
          </a:p>
        </p:txBody>
      </p:sp>
      <p:sp>
        <p:nvSpPr>
          <p:cNvPr id="84" name="Oval 83"/>
          <p:cNvSpPr/>
          <p:nvPr/>
        </p:nvSpPr>
        <p:spPr>
          <a:xfrm>
            <a:off x="3566160" y="2679191"/>
            <a:ext cx="274320" cy="274320"/>
          </a:xfrm>
          <a:prstGeom prst="ellipse">
            <a:avLst/>
          </a:prstGeom>
          <a:solidFill>
            <a:srgbClr val="0B6E6A"/>
          </a:solidFill>
          <a:ln>
            <a:noFill/>
          </a:ln>
        </p:spPr>
        <p:txBody>
          <a:bodyPr rtlCol="0" anchor="ctr" wrap="square" lIns="0" rIns="0" tIns="36576" bIns="36576"/>
          <a:lstStyle/>
          <a:p>
            <a:pPr algn="ctr"/>
            <a:r>
              <a:rPr sz="1000" b="1" i="0">
                <a:solidFill>
                  <a:srgbClr val="FFFFFF"/>
                </a:solidFill>
                <a:latin typeface="Google Sans Flex"/>
              </a:rPr>
              <a:t>2</a:t>
            </a:r>
          </a:p>
        </p:txBody>
      </p:sp>
      <p:sp>
        <p:nvSpPr>
          <p:cNvPr id="85" name="TextBox 84"/>
          <p:cNvSpPr txBox="1"/>
          <p:nvPr/>
        </p:nvSpPr>
        <p:spPr>
          <a:xfrm>
            <a:off x="3977639" y="2670048"/>
            <a:ext cx="4846320" cy="640080"/>
          </a:xfrm>
          <a:prstGeom prst="rect">
            <a:avLst/>
          </a:prstGeom>
          <a:noFill/>
        </p:spPr>
        <p:txBody>
          <a:bodyPr wrap="square" lIns="0" rIns="0" tIns="0" bIns="0" anchor="t">
            <a:spAutoFit/>
          </a:bodyPr>
          <a:lstStyle/>
          <a:p>
            <a:pPr algn="l">
              <a:lnSpc>
                <a:spcPct val="100000"/>
              </a:lnSpc>
              <a:spcAft>
                <a:spcPts val="0"/>
              </a:spcAft>
            </a:pPr>
            <a:r>
              <a:rPr sz="1150" b="1" i="0">
                <a:solidFill>
                  <a:srgbClr val="172427"/>
                </a:solidFill>
                <a:latin typeface="Google Sans Flex"/>
              </a:rPr>
              <a:t>Guidance</a:t>
            </a:r>
          </a:p>
          <a:p>
            <a:pPr algn="l">
              <a:lnSpc>
                <a:spcPct val="100000"/>
              </a:lnSpc>
              <a:spcAft>
                <a:spcPts val="0"/>
              </a:spcAft>
            </a:pPr>
            <a:r>
              <a:rPr sz="1000" b="0" i="0">
                <a:solidFill>
                  <a:srgbClr val="5B6B70"/>
                </a:solidFill>
                <a:latin typeface="Google Sans Flex"/>
              </a:rPr>
              <a:t>Urgency tier, likely category, visit journey, cost estimate with why prices vary, and BPJS coverage. Red flags go straight to “Ke IGD sekarang”.</a:t>
            </a:r>
          </a:p>
        </p:txBody>
      </p:sp>
      <p:sp>
        <p:nvSpPr>
          <p:cNvPr id="86" name="Oval 85"/>
          <p:cNvSpPr/>
          <p:nvPr/>
        </p:nvSpPr>
        <p:spPr>
          <a:xfrm>
            <a:off x="3566160" y="3346703"/>
            <a:ext cx="274320" cy="274320"/>
          </a:xfrm>
          <a:prstGeom prst="ellipse">
            <a:avLst/>
          </a:prstGeom>
          <a:solidFill>
            <a:srgbClr val="0B6E6A"/>
          </a:solidFill>
          <a:ln>
            <a:noFill/>
          </a:ln>
        </p:spPr>
        <p:txBody>
          <a:bodyPr rtlCol="0" anchor="ctr" wrap="square" lIns="0" rIns="0" tIns="36576" bIns="36576"/>
          <a:lstStyle/>
          <a:p>
            <a:pPr algn="ctr"/>
            <a:r>
              <a:rPr sz="1000" b="1" i="0">
                <a:solidFill>
                  <a:srgbClr val="FFFFFF"/>
                </a:solidFill>
                <a:latin typeface="Google Sans Flex"/>
              </a:rPr>
              <a:t>3</a:t>
            </a:r>
          </a:p>
        </p:txBody>
      </p:sp>
      <p:sp>
        <p:nvSpPr>
          <p:cNvPr id="87" name="TextBox 86"/>
          <p:cNvSpPr txBox="1"/>
          <p:nvPr/>
        </p:nvSpPr>
        <p:spPr>
          <a:xfrm>
            <a:off x="3977639" y="3337560"/>
            <a:ext cx="4846320" cy="640080"/>
          </a:xfrm>
          <a:prstGeom prst="rect">
            <a:avLst/>
          </a:prstGeom>
          <a:noFill/>
        </p:spPr>
        <p:txBody>
          <a:bodyPr wrap="square" lIns="0" rIns="0" tIns="0" bIns="0" anchor="t">
            <a:spAutoFit/>
          </a:bodyPr>
          <a:lstStyle/>
          <a:p>
            <a:pPr algn="l">
              <a:lnSpc>
                <a:spcPct val="100000"/>
              </a:lnSpc>
              <a:spcAft>
                <a:spcPts val="0"/>
              </a:spcAft>
            </a:pPr>
            <a:r>
              <a:rPr sz="1150" b="1" i="0">
                <a:solidFill>
                  <a:srgbClr val="172427"/>
                </a:solidFill>
                <a:latin typeface="Google Sans Flex"/>
              </a:rPr>
              <a:t>Shortlist</a:t>
            </a:r>
          </a:p>
          <a:p>
            <a:pPr algn="l">
              <a:lnSpc>
                <a:spcPct val="100000"/>
              </a:lnSpc>
              <a:spcAft>
                <a:spcPts val="0"/>
              </a:spcAft>
            </a:pPr>
            <a:r>
              <a:rPr sz="1000" b="0" i="0">
                <a:solidFill>
                  <a:srgbClr val="5B6B70"/>
                </a:solidFill>
                <a:latin typeface="Google Sans Flex"/>
              </a:rPr>
              <a:t>Nearby Providers that can treat this complaint, with Testimonies and price signals.</a:t>
            </a:r>
          </a:p>
        </p:txBody>
      </p:sp>
      <p:sp>
        <p:nvSpPr>
          <p:cNvPr id="88" name="Oval 87"/>
          <p:cNvSpPr/>
          <p:nvPr/>
        </p:nvSpPr>
        <p:spPr>
          <a:xfrm>
            <a:off x="3566160" y="4014215"/>
            <a:ext cx="274320" cy="274320"/>
          </a:xfrm>
          <a:prstGeom prst="ellipse">
            <a:avLst/>
          </a:prstGeom>
          <a:solidFill>
            <a:srgbClr val="0B6E6A"/>
          </a:solidFill>
          <a:ln>
            <a:noFill/>
          </a:ln>
        </p:spPr>
        <p:txBody>
          <a:bodyPr rtlCol="0" anchor="ctr" wrap="square" lIns="0" rIns="0" tIns="36576" bIns="36576"/>
          <a:lstStyle/>
          <a:p>
            <a:pPr algn="ctr"/>
            <a:r>
              <a:rPr sz="1000" b="1" i="0">
                <a:solidFill>
                  <a:srgbClr val="FFFFFF"/>
                </a:solidFill>
                <a:latin typeface="Google Sans Flex"/>
              </a:rPr>
              <a:t>4</a:t>
            </a:r>
          </a:p>
        </p:txBody>
      </p:sp>
      <p:sp>
        <p:nvSpPr>
          <p:cNvPr id="89" name="TextBox 88"/>
          <p:cNvSpPr txBox="1"/>
          <p:nvPr/>
        </p:nvSpPr>
        <p:spPr>
          <a:xfrm>
            <a:off x="3977639" y="4005072"/>
            <a:ext cx="4846320" cy="640080"/>
          </a:xfrm>
          <a:prstGeom prst="rect">
            <a:avLst/>
          </a:prstGeom>
          <a:noFill/>
        </p:spPr>
        <p:txBody>
          <a:bodyPr wrap="square" lIns="0" rIns="0" tIns="0" bIns="0" anchor="t">
            <a:spAutoFit/>
          </a:bodyPr>
          <a:lstStyle/>
          <a:p>
            <a:pPr algn="l">
              <a:lnSpc>
                <a:spcPct val="100000"/>
              </a:lnSpc>
              <a:spcAft>
                <a:spcPts val="0"/>
              </a:spcAft>
            </a:pPr>
            <a:r>
              <a:rPr sz="1150" b="1" i="0">
                <a:solidFill>
                  <a:srgbClr val="172427"/>
                </a:solidFill>
                <a:latin typeface="Google Sans Flex"/>
              </a:rPr>
              <a:t>Testimony</a:t>
            </a:r>
          </a:p>
          <a:p>
            <a:pPr algn="l">
              <a:lnSpc>
                <a:spcPct val="100000"/>
              </a:lnSpc>
              <a:spcAft>
                <a:spcPts val="0"/>
              </a:spcAft>
            </a:pPr>
            <a:r>
              <a:rPr sz="1000" b="0" i="0">
                <a:solidFill>
                  <a:srgbClr val="5B6B70"/>
                </a:solidFill>
                <a:latin typeface="Google Sans Flex"/>
              </a:rPr>
              <a:t>After the visit the Patient tells others. Gemini screens it against fixed rules; a proof of visit earns “Kunjungan terbukti”.</a:t>
            </a:r>
          </a:p>
        </p:txBody>
      </p:sp>
      <p:sp>
        <p:nvSpPr>
          <p:cNvPr id="90" name="Source"/>
          <p:cNvSpPr txBox="1"/>
          <p:nvPr/>
        </p:nvSpPr>
        <p:spPr>
          <a:xfrm>
            <a:off x="265176" y="4690872"/>
            <a:ext cx="8595360" cy="329184"/>
          </a:xfrm>
          <a:prstGeom prst="rect">
            <a:avLst/>
          </a:prstGeom>
          <a:noFill/>
        </p:spPr>
        <p:txBody>
          <a:bodyPr wrap="square" lIns="0" rIns="0" tIns="0" bIns="0" anchor="b">
            <a:spAutoFit/>
          </a:bodyPr>
          <a:lstStyle/>
          <a:p>
            <a:pPr algn="l">
              <a:spcAft>
                <a:spcPts val="0"/>
              </a:spcAft>
            </a:pPr>
            <a:r>
              <a:rPr sz="750" b="0" i="0">
                <a:solidFill>
                  <a:srgbClr val="5B6B70"/>
                </a:solidFill>
                <a:latin typeface="Google Sans Flex"/>
              </a:rPr>
              <a:t>Sources: SKI 2023 Dalam Angka, BKPK Kemenkes, Tabel 9.5 p. 324 (56.9%) and Tabel 9.7 p. 327 (57.0%); BKPK SKI 2023 oral health factsheet, Gambar 3 p. 2 (11.2%). Product: docs/specs/README.md.</a:t>
            </a: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pic>
        <p:nvPicPr>
          <p:cNvPr id="76" name="Google Shape;76;p16"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77" name="Google Shape;77;p16"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78" name="Google Shape;78;p16"/>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9" name="Google Shape;79;p16"/>
          <p:cNvSpPr txBox="1"/>
          <p:nvPr/>
        </p:nvSpPr>
        <p:spPr>
          <a:xfrm>
            <a:off x="265350" y="663825"/>
            <a:ext cx="8943000" cy="32004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SemiBold"/>
                <a:ea typeface="Google Sans Flex SemiBold"/>
                <a:cs typeface="Google Sans Flex SemiBold"/>
                <a:sym typeface="Google Sans Flex SemiBold"/>
              </a:rPr>
              <a:t>Opportunities</a:t>
            </a:r>
            <a:br>
              <a:rPr lang="en-GB" sz="1600">
                <a:latin typeface="Google Sans Flex SemiBold"/>
                <a:ea typeface="Google Sans Flex SemiBold"/>
                <a:cs typeface="Google Sans Flex SemiBold"/>
                <a:sym typeface="Google Sans Flex SemiBold"/>
              </a:rPr>
            </a:br>
            <a:endParaRPr sz="1600">
              <a:latin typeface="Google Sans Flex SemiBold"/>
              <a:ea typeface="Google Sans Flex SemiBold"/>
              <a:cs typeface="Google Sans Flex SemiBold"/>
              <a:sym typeface="Google Sans Flex SemiBold"/>
            </a:endParaRPr>
          </a:p>
        </p:txBody>
      </p:sp>
      <p:sp>
        <p:nvSpPr>
          <p:cNvPr id="80" name="Action title"/>
          <p:cNvSpPr txBox="1"/>
          <p:nvPr/>
        </p:nvSpPr>
        <p:spPr>
          <a:xfrm>
            <a:off x="265176" y="1024128"/>
            <a:ext cx="8595360" cy="566928"/>
          </a:xfrm>
          <a:prstGeom prst="rect">
            <a:avLst/>
          </a:prstGeom>
          <a:noFill/>
        </p:spPr>
        <p:txBody>
          <a:bodyPr wrap="square" lIns="0" rIns="0" tIns="0" bIns="0" anchor="t">
            <a:spAutoFit/>
          </a:bodyPr>
          <a:lstStyle/>
          <a:p>
            <a:pPr algn="l">
              <a:lnSpc>
                <a:spcPct val="100000"/>
              </a:lnSpc>
              <a:spcAft>
                <a:spcPts val="0"/>
              </a:spcAft>
            </a:pPr>
            <a:r>
              <a:rPr sz="1900" b="1" i="0">
                <a:solidFill>
                  <a:srgbClr val="172427"/>
                </a:solidFill>
                <a:latin typeface="Google Sans Flex"/>
              </a:rPr>
              <a:t>Others answer one part of the question; FindYourDent turns a complaint into a decision and a place Patients can trust</a:t>
            </a:r>
          </a:p>
        </p:txBody>
      </p:sp>
      <p:sp>
        <p:nvSpPr>
          <p:cNvPr id="81" name="Rounded Rectangle 80"/>
          <p:cNvSpPr/>
          <p:nvPr/>
        </p:nvSpPr>
        <p:spPr>
          <a:xfrm>
            <a:off x="265176" y="1737360"/>
            <a:ext cx="2724912" cy="2395728"/>
          </a:xfrm>
          <a:prstGeom prst="roundRect">
            <a:avLst>
              <a:gd name="adj" fmla="val 5000"/>
            </a:avLst>
          </a:prstGeom>
          <a:solidFill>
            <a:srgbClr val="F3F6F6"/>
          </a:solidFill>
          <a:ln>
            <a:noFill/>
          </a:ln>
        </p:spPr>
        <p:txBody>
          <a:bodyPr rtlCol="0" anchor="ctr"/>
          <a:lstStyle/>
          <a:p/>
        </p:txBody>
      </p:sp>
      <p:sp>
        <p:nvSpPr>
          <p:cNvPr id="82" name="Rounded Rectangle 81"/>
          <p:cNvSpPr/>
          <p:nvPr/>
        </p:nvSpPr>
        <p:spPr>
          <a:xfrm>
            <a:off x="3136392" y="1737360"/>
            <a:ext cx="2724912" cy="2395728"/>
          </a:xfrm>
          <a:prstGeom prst="roundRect">
            <a:avLst>
              <a:gd name="adj" fmla="val 5000"/>
            </a:avLst>
          </a:prstGeom>
          <a:solidFill>
            <a:srgbClr val="F3F6F6"/>
          </a:solidFill>
          <a:ln>
            <a:noFill/>
          </a:ln>
        </p:spPr>
        <p:txBody>
          <a:bodyPr rtlCol="0" anchor="ctr"/>
          <a:lstStyle/>
          <a:p/>
        </p:txBody>
      </p:sp>
      <p:sp>
        <p:nvSpPr>
          <p:cNvPr id="83" name="Rounded Rectangle 82"/>
          <p:cNvSpPr/>
          <p:nvPr/>
        </p:nvSpPr>
        <p:spPr>
          <a:xfrm>
            <a:off x="6007608" y="1737360"/>
            <a:ext cx="2724912" cy="2395728"/>
          </a:xfrm>
          <a:prstGeom prst="roundRect">
            <a:avLst>
              <a:gd name="adj" fmla="val 5000"/>
            </a:avLst>
          </a:prstGeom>
          <a:solidFill>
            <a:srgbClr val="F3F6F6"/>
          </a:solidFill>
          <a:ln>
            <a:noFill/>
          </a:ln>
        </p:spPr>
        <p:txBody>
          <a:bodyPr rtlCol="0" anchor="ctr"/>
          <a:lstStyle/>
          <a:p/>
        </p:txBody>
      </p:sp>
      <p:sp>
        <p:nvSpPr>
          <p:cNvPr id="84" name="TextBox 83"/>
          <p:cNvSpPr txBox="1"/>
          <p:nvPr/>
        </p:nvSpPr>
        <p:spPr>
          <a:xfrm>
            <a:off x="402335" y="1847088"/>
            <a:ext cx="2450592" cy="384048"/>
          </a:xfrm>
          <a:prstGeom prst="rect">
            <a:avLst/>
          </a:prstGeom>
          <a:noFill/>
        </p:spPr>
        <p:txBody>
          <a:bodyPr wrap="square" lIns="0" rIns="0" tIns="0" bIns="0" anchor="t">
            <a:spAutoFit/>
          </a:bodyPr>
          <a:lstStyle/>
          <a:p>
            <a:pPr algn="l">
              <a:spcAft>
                <a:spcPts val="0"/>
              </a:spcAft>
            </a:pPr>
            <a:r>
              <a:rPr sz="1050" b="1" i="0">
                <a:solidFill>
                  <a:srgbClr val="0B6E6A"/>
                </a:solidFill>
                <a:latin typeface="Google Sans Flex"/>
              </a:rPr>
              <a:t>How different is it from any of the other existing ideas?</a:t>
            </a:r>
          </a:p>
        </p:txBody>
      </p:sp>
      <p:sp>
        <p:nvSpPr>
          <p:cNvPr id="85" name="TextBox 84"/>
          <p:cNvSpPr txBox="1"/>
          <p:nvPr/>
        </p:nvSpPr>
        <p:spPr>
          <a:xfrm>
            <a:off x="3273552" y="1847088"/>
            <a:ext cx="2450592" cy="384048"/>
          </a:xfrm>
          <a:prstGeom prst="rect">
            <a:avLst/>
          </a:prstGeom>
          <a:noFill/>
        </p:spPr>
        <p:txBody>
          <a:bodyPr wrap="square" lIns="0" rIns="0" tIns="0" bIns="0" anchor="t">
            <a:spAutoFit/>
          </a:bodyPr>
          <a:lstStyle/>
          <a:p>
            <a:pPr algn="l">
              <a:spcAft>
                <a:spcPts val="0"/>
              </a:spcAft>
            </a:pPr>
            <a:r>
              <a:rPr sz="1050" b="1" i="0">
                <a:solidFill>
                  <a:srgbClr val="0B6E6A"/>
                </a:solidFill>
                <a:latin typeface="Google Sans Flex"/>
              </a:rPr>
              <a:t>How will it be able to solve the problem?</a:t>
            </a:r>
          </a:p>
        </p:txBody>
      </p:sp>
      <p:sp>
        <p:nvSpPr>
          <p:cNvPr id="86" name="TextBox 85"/>
          <p:cNvSpPr txBox="1"/>
          <p:nvPr/>
        </p:nvSpPr>
        <p:spPr>
          <a:xfrm>
            <a:off x="6144768" y="1847088"/>
            <a:ext cx="2450592" cy="384048"/>
          </a:xfrm>
          <a:prstGeom prst="rect">
            <a:avLst/>
          </a:prstGeom>
          <a:noFill/>
        </p:spPr>
        <p:txBody>
          <a:bodyPr wrap="square" lIns="0" rIns="0" tIns="0" bIns="0" anchor="t">
            <a:spAutoFit/>
          </a:bodyPr>
          <a:lstStyle/>
          <a:p>
            <a:pPr algn="l">
              <a:spcAft>
                <a:spcPts val="0"/>
              </a:spcAft>
            </a:pPr>
            <a:r>
              <a:rPr sz="1050" b="1" i="0">
                <a:solidFill>
                  <a:srgbClr val="0B6E6A"/>
                </a:solidFill>
                <a:latin typeface="Google Sans Flex"/>
              </a:rPr>
              <a:t>USP of the proposed solution</a:t>
            </a:r>
          </a:p>
        </p:txBody>
      </p:sp>
      <p:sp>
        <p:nvSpPr>
          <p:cNvPr id="87" name="TextBox 86"/>
          <p:cNvSpPr txBox="1"/>
          <p:nvPr/>
        </p:nvSpPr>
        <p:spPr>
          <a:xfrm>
            <a:off x="402335" y="2249424"/>
            <a:ext cx="2450592" cy="603504"/>
          </a:xfrm>
          <a:prstGeom prst="rect">
            <a:avLst/>
          </a:prstGeom>
          <a:noFill/>
        </p:spPr>
        <p:txBody>
          <a:bodyPr wrap="square" lIns="0" rIns="0" tIns="0" bIns="0" anchor="t">
            <a:spAutoFit/>
          </a:bodyPr>
          <a:lstStyle/>
          <a:p>
            <a:pPr algn="l">
              <a:lnSpc>
                <a:spcPct val="100000"/>
              </a:lnSpc>
              <a:spcAft>
                <a:spcPts val="0"/>
              </a:spcAft>
            </a:pPr>
            <a:r>
              <a:rPr sz="1000" b="1" i="0">
                <a:solidFill>
                  <a:srgbClr val="172427"/>
                </a:solidFill>
                <a:latin typeface="Google Sans Flex"/>
              </a:rPr>
              <a:t>Alodokter</a:t>
            </a:r>
          </a:p>
          <a:p>
            <a:pPr algn="l">
              <a:lnSpc>
                <a:spcPct val="100000"/>
              </a:lnSpc>
              <a:spcAft>
                <a:spcPts val="0"/>
              </a:spcAft>
            </a:pPr>
            <a:r>
              <a:rPr sz="900" b="0" i="0">
                <a:solidFill>
                  <a:srgbClr val="5B6B70"/>
                </a:solidFill>
                <a:latin typeface="Google Sans Flex"/>
              </a:rPr>
              <a:t>Health articles, doctor chat and booking. Not a structured dental decision with cost and BPJS for this complaint.</a:t>
            </a:r>
          </a:p>
        </p:txBody>
      </p:sp>
      <p:sp>
        <p:nvSpPr>
          <p:cNvPr id="88" name="TextBox 87"/>
          <p:cNvSpPr txBox="1"/>
          <p:nvPr/>
        </p:nvSpPr>
        <p:spPr>
          <a:xfrm>
            <a:off x="402335" y="2871216"/>
            <a:ext cx="2450592" cy="603504"/>
          </a:xfrm>
          <a:prstGeom prst="rect">
            <a:avLst/>
          </a:prstGeom>
          <a:noFill/>
        </p:spPr>
        <p:txBody>
          <a:bodyPr wrap="square" lIns="0" rIns="0" tIns="0" bIns="0" anchor="t">
            <a:spAutoFit/>
          </a:bodyPr>
          <a:lstStyle/>
          <a:p>
            <a:pPr algn="l">
              <a:lnSpc>
                <a:spcPct val="100000"/>
              </a:lnSpc>
              <a:spcAft>
                <a:spcPts val="0"/>
              </a:spcAft>
            </a:pPr>
            <a:r>
              <a:rPr sz="1000" b="1" i="0">
                <a:solidFill>
                  <a:srgbClr val="172427"/>
                </a:solidFill>
                <a:latin typeface="Google Sans Flex"/>
              </a:rPr>
              <a:t>Halodoc</a:t>
            </a:r>
          </a:p>
          <a:p>
            <a:pPr algn="l">
              <a:lnSpc>
                <a:spcPct val="100000"/>
              </a:lnSpc>
              <a:spcAft>
                <a:spcPts val="0"/>
              </a:spcAft>
            </a:pPr>
            <a:r>
              <a:rPr sz="900" b="0" i="0">
                <a:solidFill>
                  <a:srgbClr val="5B6B70"/>
                </a:solidFill>
                <a:latin typeface="Google Sans Flex"/>
              </a:rPr>
              <a:t>Paid chat with a doctor and medicine delivery. Does not route the complaint to the right kind of dental Provider.</a:t>
            </a:r>
          </a:p>
        </p:txBody>
      </p:sp>
      <p:sp>
        <p:nvSpPr>
          <p:cNvPr id="89" name="TextBox 88"/>
          <p:cNvSpPr txBox="1"/>
          <p:nvPr/>
        </p:nvSpPr>
        <p:spPr>
          <a:xfrm>
            <a:off x="402335" y="3493008"/>
            <a:ext cx="2450592" cy="603504"/>
          </a:xfrm>
          <a:prstGeom prst="rect">
            <a:avLst/>
          </a:prstGeom>
          <a:noFill/>
        </p:spPr>
        <p:txBody>
          <a:bodyPr wrap="square" lIns="0" rIns="0" tIns="0" bIns="0" anchor="t">
            <a:spAutoFit/>
          </a:bodyPr>
          <a:lstStyle/>
          <a:p>
            <a:pPr algn="l">
              <a:lnSpc>
                <a:spcPct val="100000"/>
              </a:lnSpc>
              <a:spcAft>
                <a:spcPts val="0"/>
              </a:spcAft>
            </a:pPr>
            <a:r>
              <a:rPr sz="1000" b="1" i="0">
                <a:solidFill>
                  <a:srgbClr val="172427"/>
                </a:solidFill>
                <a:latin typeface="Google Sans Flex"/>
              </a:rPr>
              <a:t>Google Maps</a:t>
            </a:r>
          </a:p>
          <a:p>
            <a:pPr algn="l">
              <a:lnSpc>
                <a:spcPct val="100000"/>
              </a:lnSpc>
              <a:spcAft>
                <a:spcPts val="0"/>
              </a:spcAft>
            </a:pPr>
            <a:r>
              <a:rPr sz="900" b="0" i="0">
                <a:solidFill>
                  <a:srgbClr val="5B6B70"/>
                </a:solidFill>
                <a:latin typeface="Google Sans Flex"/>
              </a:rPr>
              <a:t>Finds places with open star ratings. No urgency or cost, and reviews are not checked against a visit.</a:t>
            </a:r>
          </a:p>
        </p:txBody>
      </p:sp>
      <p:sp>
        <p:nvSpPr>
          <p:cNvPr id="90" name="TextBox 89"/>
          <p:cNvSpPr txBox="1"/>
          <p:nvPr/>
        </p:nvSpPr>
        <p:spPr>
          <a:xfrm>
            <a:off x="3273552" y="2286000"/>
            <a:ext cx="2450592" cy="457200"/>
          </a:xfrm>
          <a:prstGeom prst="rect">
            <a:avLst/>
          </a:prstGeom>
          <a:noFill/>
        </p:spPr>
        <p:txBody>
          <a:bodyPr wrap="square" lIns="0" rIns="0" tIns="0" bIns="0" anchor="t">
            <a:spAutoFit/>
          </a:bodyPr>
          <a:lstStyle/>
          <a:p>
            <a:pPr algn="l">
              <a:lnSpc>
                <a:spcPct val="100000"/>
              </a:lnSpc>
              <a:spcAft>
                <a:spcPts val="0"/>
              </a:spcAft>
            </a:pPr>
            <a:r>
              <a:rPr sz="950" b="1" i="0">
                <a:solidFill>
                  <a:srgbClr val="172427"/>
                </a:solidFill>
                <a:latin typeface="Google Sans Flex"/>
              </a:rPr>
              <a:t>Urgency tier</a:t>
            </a:r>
            <a:r>
              <a:rPr sz="950" b="0" i="0">
                <a:solidFill>
                  <a:srgbClr val="172427"/>
                </a:solidFill>
                <a:latin typeface="Google Sans Flex"/>
              </a:rPr>
              <a:t> answers “do I need to go?” for the 57.0% who felt no need.</a:t>
            </a:r>
          </a:p>
        </p:txBody>
      </p:sp>
      <p:sp>
        <p:nvSpPr>
          <p:cNvPr id="91" name="TextBox 90"/>
          <p:cNvSpPr txBox="1"/>
          <p:nvPr/>
        </p:nvSpPr>
        <p:spPr>
          <a:xfrm>
            <a:off x="3273552" y="2761488"/>
            <a:ext cx="2450592" cy="457200"/>
          </a:xfrm>
          <a:prstGeom prst="rect">
            <a:avLst/>
          </a:prstGeom>
          <a:noFill/>
        </p:spPr>
        <p:txBody>
          <a:bodyPr wrap="square" lIns="0" rIns="0" tIns="0" bIns="0" anchor="t">
            <a:spAutoFit/>
          </a:bodyPr>
          <a:lstStyle/>
          <a:p>
            <a:pPr algn="l">
              <a:lnSpc>
                <a:spcPct val="100000"/>
              </a:lnSpc>
              <a:spcAft>
                <a:spcPts val="0"/>
              </a:spcAft>
            </a:pPr>
            <a:r>
              <a:rPr sz="950" b="1" i="0">
                <a:solidFill>
                  <a:srgbClr val="172427"/>
                </a:solidFill>
                <a:latin typeface="Google Sans Flex"/>
              </a:rPr>
              <a:t>Cost range and BPJS door</a:t>
            </a:r>
            <a:r>
              <a:rPr sz="950" b="0" i="0">
                <a:solidFill>
                  <a:srgbClr val="172427"/>
                </a:solidFill>
                <a:latin typeface="Google Sans Flex"/>
              </a:rPr>
              <a:t> before the visit, with why prices vary.</a:t>
            </a:r>
          </a:p>
        </p:txBody>
      </p:sp>
      <p:sp>
        <p:nvSpPr>
          <p:cNvPr id="92" name="TextBox 91"/>
          <p:cNvSpPr txBox="1"/>
          <p:nvPr/>
        </p:nvSpPr>
        <p:spPr>
          <a:xfrm>
            <a:off x="3273552" y="3236976"/>
            <a:ext cx="2450592" cy="457200"/>
          </a:xfrm>
          <a:prstGeom prst="rect">
            <a:avLst/>
          </a:prstGeom>
          <a:noFill/>
        </p:spPr>
        <p:txBody>
          <a:bodyPr wrap="square" lIns="0" rIns="0" tIns="0" bIns="0" anchor="t">
            <a:spAutoFit/>
          </a:bodyPr>
          <a:lstStyle/>
          <a:p>
            <a:pPr algn="l">
              <a:lnSpc>
                <a:spcPct val="100000"/>
              </a:lnSpc>
              <a:spcAft>
                <a:spcPts val="0"/>
              </a:spcAft>
            </a:pPr>
            <a:r>
              <a:rPr sz="950" b="1" i="0">
                <a:solidFill>
                  <a:srgbClr val="172427"/>
                </a:solidFill>
                <a:latin typeface="Google Sans Flex"/>
              </a:rPr>
              <a:t>Red-flag check</a:t>
            </a:r>
            <a:r>
              <a:rPr sz="950" b="0" i="0">
                <a:solidFill>
                  <a:srgbClr val="172427"/>
                </a:solidFill>
                <a:latin typeface="Google Sans Flex"/>
              </a:rPr>
              <a:t> sends emergencies to an IGD before any AI call.</a:t>
            </a:r>
          </a:p>
        </p:txBody>
      </p:sp>
      <p:sp>
        <p:nvSpPr>
          <p:cNvPr id="93" name="TextBox 92"/>
          <p:cNvSpPr txBox="1"/>
          <p:nvPr/>
        </p:nvSpPr>
        <p:spPr>
          <a:xfrm>
            <a:off x="3273552" y="3712464"/>
            <a:ext cx="2450592" cy="457200"/>
          </a:xfrm>
          <a:prstGeom prst="rect">
            <a:avLst/>
          </a:prstGeom>
          <a:noFill/>
        </p:spPr>
        <p:txBody>
          <a:bodyPr wrap="square" lIns="0" rIns="0" tIns="0" bIns="0" anchor="t">
            <a:spAutoFit/>
          </a:bodyPr>
          <a:lstStyle/>
          <a:p>
            <a:pPr algn="l">
              <a:lnSpc>
                <a:spcPct val="100000"/>
              </a:lnSpc>
              <a:spcAft>
                <a:spcPts val="0"/>
              </a:spcAft>
            </a:pPr>
            <a:r>
              <a:rPr sz="950" b="1" i="0">
                <a:solidFill>
                  <a:srgbClr val="172427"/>
                </a:solidFill>
                <a:latin typeface="Google Sans Flex"/>
              </a:rPr>
              <a:t>Shortlist</a:t>
            </a:r>
            <a:r>
              <a:rPr sz="950" b="0" i="0">
                <a:solidFill>
                  <a:srgbClr val="172427"/>
                </a:solidFill>
                <a:latin typeface="Google Sans Flex"/>
              </a:rPr>
              <a:t> of nearby Providers that can treat this complaint.</a:t>
            </a:r>
          </a:p>
        </p:txBody>
      </p:sp>
      <p:sp>
        <p:nvSpPr>
          <p:cNvPr id="94" name="TextBox 93"/>
          <p:cNvSpPr txBox="1"/>
          <p:nvPr/>
        </p:nvSpPr>
        <p:spPr>
          <a:xfrm>
            <a:off x="6144768" y="2240280"/>
            <a:ext cx="2450592" cy="1188720"/>
          </a:xfrm>
          <a:prstGeom prst="rect">
            <a:avLst/>
          </a:prstGeom>
          <a:noFill/>
        </p:spPr>
        <p:txBody>
          <a:bodyPr wrap="square" lIns="0" rIns="0" tIns="0" bIns="0" anchor="t">
            <a:spAutoFit/>
          </a:bodyPr>
          <a:lstStyle/>
          <a:p>
            <a:pPr algn="l">
              <a:lnSpc>
                <a:spcPct val="100000"/>
              </a:lnSpc>
              <a:spcAft>
                <a:spcPts val="0"/>
              </a:spcAft>
            </a:pPr>
            <a:r>
              <a:rPr sz="950" b="0" i="1">
                <a:solidFill>
                  <a:srgbClr val="172427"/>
                </a:solidFill>
                <a:latin typeface="Google Sans Flex"/>
              </a:rPr>
              <a:t>“FindYourDent turns a toothache into a guided decision. A grounded Gemini agent explains urgency, the visit journey, cost and BPJS coverage, then shortlists Providers ranked by Patient Testimonies that FindYourDent owns, each one screened by AI and checked against proof of visit.”</a:t>
            </a:r>
          </a:p>
        </p:txBody>
      </p:sp>
      <p:sp>
        <p:nvSpPr>
          <p:cNvPr id="95" name="Oval 94"/>
          <p:cNvSpPr/>
          <p:nvPr/>
        </p:nvSpPr>
        <p:spPr>
          <a:xfrm>
            <a:off x="6163056" y="3502151"/>
            <a:ext cx="73152" cy="73152"/>
          </a:xfrm>
          <a:prstGeom prst="ellipse">
            <a:avLst/>
          </a:prstGeom>
          <a:solidFill>
            <a:srgbClr val="0B6E6A"/>
          </a:solidFill>
          <a:ln>
            <a:noFill/>
          </a:ln>
        </p:spPr>
        <p:txBody>
          <a:bodyPr rtlCol="0" anchor="ctr"/>
          <a:lstStyle/>
          <a:p/>
        </p:txBody>
      </p:sp>
      <p:sp>
        <p:nvSpPr>
          <p:cNvPr id="96" name="TextBox 95"/>
          <p:cNvSpPr txBox="1"/>
          <p:nvPr/>
        </p:nvSpPr>
        <p:spPr>
          <a:xfrm>
            <a:off x="6318504" y="3438144"/>
            <a:ext cx="2267712" cy="228600"/>
          </a:xfrm>
          <a:prstGeom prst="rect">
            <a:avLst/>
          </a:prstGeom>
          <a:noFill/>
        </p:spPr>
        <p:txBody>
          <a:bodyPr wrap="square" lIns="0" rIns="0" tIns="0" bIns="0" anchor="t">
            <a:spAutoFit/>
          </a:bodyPr>
          <a:lstStyle/>
          <a:p>
            <a:pPr algn="l">
              <a:spcAft>
                <a:spcPts val="0"/>
              </a:spcAft>
            </a:pPr>
            <a:r>
              <a:rPr sz="950" b="1" i="0">
                <a:solidFill>
                  <a:srgbClr val="0B6E6A"/>
                </a:solidFill>
                <a:latin typeface="Google Sans Flex"/>
              </a:rPr>
              <a:t>Testimonies FindYourDent owns</a:t>
            </a:r>
          </a:p>
        </p:txBody>
      </p:sp>
      <p:sp>
        <p:nvSpPr>
          <p:cNvPr id="97" name="Oval 96"/>
          <p:cNvSpPr/>
          <p:nvPr/>
        </p:nvSpPr>
        <p:spPr>
          <a:xfrm>
            <a:off x="6163056" y="3730752"/>
            <a:ext cx="73152" cy="73152"/>
          </a:xfrm>
          <a:prstGeom prst="ellipse">
            <a:avLst/>
          </a:prstGeom>
          <a:solidFill>
            <a:srgbClr val="0B6E6A"/>
          </a:solidFill>
          <a:ln>
            <a:noFill/>
          </a:ln>
        </p:spPr>
        <p:txBody>
          <a:bodyPr rtlCol="0" anchor="ctr"/>
          <a:lstStyle/>
          <a:p/>
        </p:txBody>
      </p:sp>
      <p:sp>
        <p:nvSpPr>
          <p:cNvPr id="98" name="TextBox 97"/>
          <p:cNvSpPr txBox="1"/>
          <p:nvPr/>
        </p:nvSpPr>
        <p:spPr>
          <a:xfrm>
            <a:off x="6318504" y="3666744"/>
            <a:ext cx="2267712" cy="228600"/>
          </a:xfrm>
          <a:prstGeom prst="rect">
            <a:avLst/>
          </a:prstGeom>
          <a:noFill/>
        </p:spPr>
        <p:txBody>
          <a:bodyPr wrap="square" lIns="0" rIns="0" tIns="0" bIns="0" anchor="t">
            <a:spAutoFit/>
          </a:bodyPr>
          <a:lstStyle/>
          <a:p>
            <a:pPr algn="l">
              <a:spcAft>
                <a:spcPts val="0"/>
              </a:spcAft>
            </a:pPr>
            <a:r>
              <a:rPr sz="950" b="1" i="0">
                <a:solidFill>
                  <a:srgbClr val="0B6E6A"/>
                </a:solidFill>
                <a:latin typeface="Google Sans Flex"/>
              </a:rPr>
              <a:t>Checked against proof of visit</a:t>
            </a:r>
          </a:p>
        </p:txBody>
      </p:sp>
      <p:sp>
        <p:nvSpPr>
          <p:cNvPr id="99" name="Oval 98"/>
          <p:cNvSpPr/>
          <p:nvPr/>
        </p:nvSpPr>
        <p:spPr>
          <a:xfrm>
            <a:off x="6163056" y="3959352"/>
            <a:ext cx="73152" cy="73152"/>
          </a:xfrm>
          <a:prstGeom prst="ellipse">
            <a:avLst/>
          </a:prstGeom>
          <a:solidFill>
            <a:srgbClr val="0B6E6A"/>
          </a:solidFill>
          <a:ln>
            <a:noFill/>
          </a:ln>
        </p:spPr>
        <p:txBody>
          <a:bodyPr rtlCol="0" anchor="ctr"/>
          <a:lstStyle/>
          <a:p/>
        </p:txBody>
      </p:sp>
      <p:sp>
        <p:nvSpPr>
          <p:cNvPr id="100" name="TextBox 99"/>
          <p:cNvSpPr txBox="1"/>
          <p:nvPr/>
        </p:nvSpPr>
        <p:spPr>
          <a:xfrm>
            <a:off x="6318504" y="3895344"/>
            <a:ext cx="2267712" cy="228600"/>
          </a:xfrm>
          <a:prstGeom prst="rect">
            <a:avLst/>
          </a:prstGeom>
          <a:noFill/>
        </p:spPr>
        <p:txBody>
          <a:bodyPr wrap="square" lIns="0" rIns="0" tIns="0" bIns="0" anchor="t">
            <a:spAutoFit/>
          </a:bodyPr>
          <a:lstStyle/>
          <a:p>
            <a:pPr algn="l">
              <a:spcAft>
                <a:spcPts val="0"/>
              </a:spcAft>
            </a:pPr>
            <a:r>
              <a:rPr sz="950" b="1" i="0">
                <a:solidFill>
                  <a:srgbClr val="0B6E6A"/>
                </a:solidFill>
                <a:latin typeface="Google Sans Flex"/>
              </a:rPr>
              <a:t>Ranking never paid</a:t>
            </a:r>
          </a:p>
        </p:txBody>
      </p:sp>
      <p:sp>
        <p:nvSpPr>
          <p:cNvPr id="101" name="Rounded Rectangle 100"/>
          <p:cNvSpPr/>
          <p:nvPr/>
        </p:nvSpPr>
        <p:spPr>
          <a:xfrm>
            <a:off x="265176" y="4261104"/>
            <a:ext cx="8613648" cy="384048"/>
          </a:xfrm>
          <a:prstGeom prst="roundRect">
            <a:avLst>
              <a:gd name="adj" fmla="val 12000"/>
            </a:avLst>
          </a:prstGeom>
          <a:solidFill>
            <a:srgbClr val="DCEFEC"/>
          </a:solidFill>
          <a:ln>
            <a:noFill/>
          </a:ln>
        </p:spPr>
        <p:txBody>
          <a:bodyPr rtlCol="0" anchor="ctr" wrap="square" lIns="164592" rIns="164592" tIns="36576" bIns="36576"/>
          <a:lstStyle/>
          <a:p>
            <a:pPr algn="l"/>
            <a:r>
              <a:rPr sz="1100" b="1" i="0">
                <a:solidFill>
                  <a:srgbClr val="0B6E6A"/>
                </a:solidFill>
                <a:latin typeface="Google Sans Flex"/>
              </a:rPr>
              <a:t>So what  </a:t>
            </a:r>
            <a:r>
              <a:rPr sz="1100" b="0" i="0">
                <a:solidFill>
                  <a:srgbClr val="172427"/>
                </a:solidFill>
                <a:latin typeface="Google Sans Flex"/>
              </a:rPr>
              <a:t>The moat is the Testimony data: first-hand, moderated, tied to a visit, and never for sale.</a:t>
            </a:r>
          </a:p>
        </p:txBody>
      </p:sp>
      <p:sp>
        <p:nvSpPr>
          <p:cNvPr id="102" name="Source"/>
          <p:cNvSpPr txBox="1"/>
          <p:nvPr/>
        </p:nvSpPr>
        <p:spPr>
          <a:xfrm>
            <a:off x="265176" y="4690872"/>
            <a:ext cx="8595360" cy="329184"/>
          </a:xfrm>
          <a:prstGeom prst="rect">
            <a:avLst/>
          </a:prstGeom>
          <a:noFill/>
        </p:spPr>
        <p:txBody>
          <a:bodyPr wrap="square" lIns="0" rIns="0" tIns="0" bIns="0" anchor="b">
            <a:spAutoFit/>
          </a:bodyPr>
          <a:lstStyle/>
          <a:p>
            <a:pPr algn="l">
              <a:spcAft>
                <a:spcPts val="0"/>
              </a:spcAft>
            </a:pPr>
            <a:r>
              <a:rPr sz="750" b="0" i="0">
                <a:solidFill>
                  <a:srgbClr val="5B6B70"/>
                </a:solidFill>
                <a:latin typeface="Google Sans Flex"/>
              </a:rPr>
              <a:t>Differentiator: docs/specs/README.md. Competitor scope from public product pages; parity risk analysis in docs/hackathon-plan.md 1.1.</a:t>
            </a: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pic>
        <p:nvPicPr>
          <p:cNvPr id="84" name="Google Shape;84;p17"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85" name="Google Shape;85;p17"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86" name="Google Shape;86;p17"/>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7" name="Google Shape;87;p17"/>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List of features offered by the solution</a:t>
            </a:r>
            <a:endParaRPr sz="1600">
              <a:latin typeface="Google Sans Flex Medium"/>
              <a:ea typeface="Google Sans Flex Medium"/>
              <a:cs typeface="Google Sans Flex Medium"/>
              <a:sym typeface="Google Sans Flex Medium"/>
            </a:endParaRPr>
          </a:p>
        </p:txBody>
      </p:sp>
      <p:sp>
        <p:nvSpPr>
          <p:cNvPr id="88" name="Action title"/>
          <p:cNvSpPr txBox="1"/>
          <p:nvPr/>
        </p:nvSpPr>
        <p:spPr>
          <a:xfrm>
            <a:off x="265176" y="1024128"/>
            <a:ext cx="8595360" cy="566928"/>
          </a:xfrm>
          <a:prstGeom prst="rect">
            <a:avLst/>
          </a:prstGeom>
          <a:noFill/>
        </p:spPr>
        <p:txBody>
          <a:bodyPr wrap="square" lIns="0" rIns="0" tIns="0" bIns="0" anchor="t">
            <a:spAutoFit/>
          </a:bodyPr>
          <a:lstStyle/>
          <a:p>
            <a:pPr algn="l">
              <a:lnSpc>
                <a:spcPct val="100000"/>
              </a:lnSpc>
              <a:spcAft>
                <a:spcPts val="0"/>
              </a:spcAft>
            </a:pPr>
            <a:r>
              <a:rPr sz="1900" b="1" i="0">
                <a:solidFill>
                  <a:srgbClr val="172427"/>
                </a:solidFill>
                <a:latin typeface="Google Sans Flex"/>
              </a:rPr>
              <a:t>Eight features cover the Patient journey end to end, and the Provider side starts with a claimed page</a:t>
            </a:r>
          </a:p>
        </p:txBody>
      </p:sp>
      <p:sp>
        <p:nvSpPr>
          <p:cNvPr id="89" name="Rounded Rectangle 88"/>
          <p:cNvSpPr/>
          <p:nvPr/>
        </p:nvSpPr>
        <p:spPr>
          <a:xfrm>
            <a:off x="265176" y="1737360"/>
            <a:ext cx="2011680" cy="1188720"/>
          </a:xfrm>
          <a:prstGeom prst="roundRect">
            <a:avLst>
              <a:gd name="adj" fmla="val 6000"/>
            </a:avLst>
          </a:prstGeom>
          <a:solidFill>
            <a:srgbClr val="F3F6F6"/>
          </a:solidFill>
          <a:ln>
            <a:noFill/>
          </a:ln>
        </p:spPr>
        <p:txBody>
          <a:bodyPr rtlCol="0" anchor="ctr"/>
          <a:lstStyle/>
          <a:p/>
        </p:txBody>
      </p:sp>
      <p:sp>
        <p:nvSpPr>
          <p:cNvPr id="90" name="Oval 89"/>
          <p:cNvSpPr/>
          <p:nvPr/>
        </p:nvSpPr>
        <p:spPr>
          <a:xfrm>
            <a:off x="393192" y="1865376"/>
            <a:ext cx="256032" cy="256032"/>
          </a:xfrm>
          <a:prstGeom prst="ellipse">
            <a:avLst/>
          </a:prstGeom>
          <a:solidFill>
            <a:srgbClr val="0B6E6A"/>
          </a:solidFill>
          <a:ln>
            <a:noFill/>
          </a:ln>
        </p:spPr>
        <p:txBody>
          <a:bodyPr rtlCol="0" anchor="ctr" wrap="square" lIns="0" rIns="0" tIns="36576" bIns="36576"/>
          <a:lstStyle/>
          <a:p>
            <a:pPr algn="ctr"/>
            <a:r>
              <a:rPr sz="900" b="1" i="0">
                <a:solidFill>
                  <a:srgbClr val="FFFFFF"/>
                </a:solidFill>
                <a:latin typeface="Google Sans Flex"/>
              </a:rPr>
              <a:t>1</a:t>
            </a:r>
          </a:p>
        </p:txBody>
      </p:sp>
      <p:sp>
        <p:nvSpPr>
          <p:cNvPr id="91" name="TextBox 90"/>
          <p:cNvSpPr txBox="1"/>
          <p:nvPr/>
        </p:nvSpPr>
        <p:spPr>
          <a:xfrm>
            <a:off x="740664" y="1883664"/>
            <a:ext cx="1444752" cy="274320"/>
          </a:xfrm>
          <a:prstGeom prst="rect">
            <a:avLst/>
          </a:prstGeom>
          <a:noFill/>
        </p:spPr>
        <p:txBody>
          <a:bodyPr wrap="square" lIns="0" rIns="0" tIns="0" bIns="0" anchor="t">
            <a:spAutoFit/>
          </a:bodyPr>
          <a:lstStyle/>
          <a:p>
            <a:pPr algn="l">
              <a:spcAft>
                <a:spcPts val="0"/>
              </a:spcAft>
            </a:pPr>
            <a:r>
              <a:rPr sz="1050" b="1" i="0">
                <a:solidFill>
                  <a:srgbClr val="172427"/>
                </a:solidFill>
                <a:latin typeface="Google Sans Flex"/>
              </a:rPr>
              <a:t>Guidance card</a:t>
            </a:r>
          </a:p>
        </p:txBody>
      </p:sp>
      <p:sp>
        <p:nvSpPr>
          <p:cNvPr id="92" name="TextBox 91"/>
          <p:cNvSpPr txBox="1"/>
          <p:nvPr/>
        </p:nvSpPr>
        <p:spPr>
          <a:xfrm>
            <a:off x="393192" y="2212848"/>
            <a:ext cx="1755648" cy="749808"/>
          </a:xfrm>
          <a:prstGeom prst="rect">
            <a:avLst/>
          </a:prstGeom>
          <a:noFill/>
        </p:spPr>
        <p:txBody>
          <a:bodyPr wrap="square" lIns="0" rIns="0" tIns="0" bIns="0" anchor="t">
            <a:spAutoFit/>
          </a:bodyPr>
          <a:lstStyle/>
          <a:p>
            <a:pPr algn="l">
              <a:lnSpc>
                <a:spcPct val="100000"/>
              </a:lnSpc>
              <a:spcAft>
                <a:spcPts val="0"/>
              </a:spcAft>
            </a:pPr>
            <a:r>
              <a:rPr sz="900" b="0" i="0">
                <a:solidFill>
                  <a:srgbClr val="5B6B70"/>
                </a:solidFill>
                <a:latin typeface="Google Sans Flex"/>
              </a:rPr>
              <a:t>Urgency, likely category, visit journey, procedures, cost estimate, BPJS and sources.</a:t>
            </a:r>
          </a:p>
        </p:txBody>
      </p:sp>
      <p:sp>
        <p:nvSpPr>
          <p:cNvPr id="93" name="Rounded Rectangle 92"/>
          <p:cNvSpPr/>
          <p:nvPr/>
        </p:nvSpPr>
        <p:spPr>
          <a:xfrm>
            <a:off x="2466136" y="1737360"/>
            <a:ext cx="2011680" cy="1188720"/>
          </a:xfrm>
          <a:prstGeom prst="roundRect">
            <a:avLst>
              <a:gd name="adj" fmla="val 6000"/>
            </a:avLst>
          </a:prstGeom>
          <a:solidFill>
            <a:srgbClr val="F3F6F6"/>
          </a:solidFill>
          <a:ln>
            <a:noFill/>
          </a:ln>
        </p:spPr>
        <p:txBody>
          <a:bodyPr rtlCol="0" anchor="ctr"/>
          <a:lstStyle/>
          <a:p/>
        </p:txBody>
      </p:sp>
      <p:sp>
        <p:nvSpPr>
          <p:cNvPr id="94" name="Oval 93"/>
          <p:cNvSpPr/>
          <p:nvPr/>
        </p:nvSpPr>
        <p:spPr>
          <a:xfrm>
            <a:off x="2594152" y="1865376"/>
            <a:ext cx="256032" cy="256032"/>
          </a:xfrm>
          <a:prstGeom prst="ellipse">
            <a:avLst/>
          </a:prstGeom>
          <a:solidFill>
            <a:srgbClr val="0B6E6A"/>
          </a:solidFill>
          <a:ln>
            <a:noFill/>
          </a:ln>
        </p:spPr>
        <p:txBody>
          <a:bodyPr rtlCol="0" anchor="ctr" wrap="square" lIns="0" rIns="0" tIns="36576" bIns="36576"/>
          <a:lstStyle/>
          <a:p>
            <a:pPr algn="ctr"/>
            <a:r>
              <a:rPr sz="900" b="1" i="0">
                <a:solidFill>
                  <a:srgbClr val="FFFFFF"/>
                </a:solidFill>
                <a:latin typeface="Google Sans Flex"/>
              </a:rPr>
              <a:t>2</a:t>
            </a:r>
          </a:p>
        </p:txBody>
      </p:sp>
      <p:sp>
        <p:nvSpPr>
          <p:cNvPr id="95" name="TextBox 94"/>
          <p:cNvSpPr txBox="1"/>
          <p:nvPr/>
        </p:nvSpPr>
        <p:spPr>
          <a:xfrm>
            <a:off x="2941624" y="1883664"/>
            <a:ext cx="1444752" cy="274320"/>
          </a:xfrm>
          <a:prstGeom prst="rect">
            <a:avLst/>
          </a:prstGeom>
          <a:noFill/>
        </p:spPr>
        <p:txBody>
          <a:bodyPr wrap="square" lIns="0" rIns="0" tIns="0" bIns="0" anchor="t">
            <a:spAutoFit/>
          </a:bodyPr>
          <a:lstStyle/>
          <a:p>
            <a:pPr algn="l">
              <a:spcAft>
                <a:spcPts val="0"/>
              </a:spcAft>
            </a:pPr>
            <a:r>
              <a:rPr sz="1050" b="1" i="0">
                <a:solidFill>
                  <a:srgbClr val="172427"/>
                </a:solidFill>
                <a:latin typeface="Google Sans Flex"/>
              </a:rPr>
              <a:t>Emergency Escalation</a:t>
            </a:r>
          </a:p>
        </p:txBody>
      </p:sp>
      <p:sp>
        <p:nvSpPr>
          <p:cNvPr id="96" name="TextBox 95"/>
          <p:cNvSpPr txBox="1"/>
          <p:nvPr/>
        </p:nvSpPr>
        <p:spPr>
          <a:xfrm>
            <a:off x="2594152" y="2212848"/>
            <a:ext cx="1755648" cy="749808"/>
          </a:xfrm>
          <a:prstGeom prst="rect">
            <a:avLst/>
          </a:prstGeom>
          <a:noFill/>
        </p:spPr>
        <p:txBody>
          <a:bodyPr wrap="square" lIns="0" rIns="0" tIns="0" bIns="0" anchor="t">
            <a:spAutoFit/>
          </a:bodyPr>
          <a:lstStyle/>
          <a:p>
            <a:pPr algn="l">
              <a:lnSpc>
                <a:spcPct val="100000"/>
              </a:lnSpc>
              <a:spcAft>
                <a:spcPts val="0"/>
              </a:spcAft>
            </a:pPr>
            <a:r>
              <a:rPr sz="900" b="0" i="0">
                <a:solidFill>
                  <a:srgbClr val="5B6B70"/>
                </a:solidFill>
                <a:latin typeface="Google Sans Flex"/>
              </a:rPr>
              <a:t>Deterministic red-flag check before Gemini; red “Ke IGD sekarang” card and the nearest IGD.</a:t>
            </a:r>
          </a:p>
        </p:txBody>
      </p:sp>
      <p:sp>
        <p:nvSpPr>
          <p:cNvPr id="97" name="Rounded Rectangle 96"/>
          <p:cNvSpPr/>
          <p:nvPr/>
        </p:nvSpPr>
        <p:spPr>
          <a:xfrm>
            <a:off x="4667097" y="1737360"/>
            <a:ext cx="2011680" cy="1188720"/>
          </a:xfrm>
          <a:prstGeom prst="roundRect">
            <a:avLst>
              <a:gd name="adj" fmla="val 6000"/>
            </a:avLst>
          </a:prstGeom>
          <a:solidFill>
            <a:srgbClr val="F3F6F6"/>
          </a:solidFill>
          <a:ln>
            <a:noFill/>
          </a:ln>
        </p:spPr>
        <p:txBody>
          <a:bodyPr rtlCol="0" anchor="ctr"/>
          <a:lstStyle/>
          <a:p/>
        </p:txBody>
      </p:sp>
      <p:sp>
        <p:nvSpPr>
          <p:cNvPr id="98" name="Oval 97"/>
          <p:cNvSpPr/>
          <p:nvPr/>
        </p:nvSpPr>
        <p:spPr>
          <a:xfrm>
            <a:off x="4795113" y="1865376"/>
            <a:ext cx="256032" cy="256032"/>
          </a:xfrm>
          <a:prstGeom prst="ellipse">
            <a:avLst/>
          </a:prstGeom>
          <a:solidFill>
            <a:srgbClr val="0B6E6A"/>
          </a:solidFill>
          <a:ln>
            <a:noFill/>
          </a:ln>
        </p:spPr>
        <p:txBody>
          <a:bodyPr rtlCol="0" anchor="ctr" wrap="square" lIns="0" rIns="0" tIns="36576" bIns="36576"/>
          <a:lstStyle/>
          <a:p>
            <a:pPr algn="ctr"/>
            <a:r>
              <a:rPr sz="900" b="1" i="0">
                <a:solidFill>
                  <a:srgbClr val="FFFFFF"/>
                </a:solidFill>
                <a:latin typeface="Google Sans Flex"/>
              </a:rPr>
              <a:t>3</a:t>
            </a:r>
          </a:p>
        </p:txBody>
      </p:sp>
      <p:sp>
        <p:nvSpPr>
          <p:cNvPr id="99" name="TextBox 98"/>
          <p:cNvSpPr txBox="1"/>
          <p:nvPr/>
        </p:nvSpPr>
        <p:spPr>
          <a:xfrm>
            <a:off x="5142585" y="1883664"/>
            <a:ext cx="1444752" cy="274320"/>
          </a:xfrm>
          <a:prstGeom prst="rect">
            <a:avLst/>
          </a:prstGeom>
          <a:noFill/>
        </p:spPr>
        <p:txBody>
          <a:bodyPr wrap="square" lIns="0" rIns="0" tIns="0" bIns="0" anchor="t">
            <a:spAutoFit/>
          </a:bodyPr>
          <a:lstStyle/>
          <a:p>
            <a:pPr algn="l">
              <a:spcAft>
                <a:spcPts val="0"/>
              </a:spcAft>
            </a:pPr>
            <a:r>
              <a:rPr sz="1050" b="1" i="0">
                <a:solidFill>
                  <a:srgbClr val="172427"/>
                </a:solidFill>
                <a:latin typeface="Google Sans Flex"/>
              </a:rPr>
              <a:t>Voice input</a:t>
            </a:r>
          </a:p>
        </p:txBody>
      </p:sp>
      <p:sp>
        <p:nvSpPr>
          <p:cNvPr id="100" name="TextBox 99"/>
          <p:cNvSpPr txBox="1"/>
          <p:nvPr/>
        </p:nvSpPr>
        <p:spPr>
          <a:xfrm>
            <a:off x="4795113" y="2212848"/>
            <a:ext cx="1755648" cy="749808"/>
          </a:xfrm>
          <a:prstGeom prst="rect">
            <a:avLst/>
          </a:prstGeom>
          <a:noFill/>
        </p:spPr>
        <p:txBody>
          <a:bodyPr wrap="square" lIns="0" rIns="0" tIns="0" bIns="0" anchor="t">
            <a:spAutoFit/>
          </a:bodyPr>
          <a:lstStyle/>
          <a:p>
            <a:pPr algn="l">
              <a:lnSpc>
                <a:spcPct val="100000"/>
              </a:lnSpc>
              <a:spcAft>
                <a:spcPts val="0"/>
              </a:spcAft>
            </a:pPr>
            <a:r>
              <a:rPr sz="900" b="0" i="0">
                <a:solidFill>
                  <a:srgbClr val="5B6B70"/>
                </a:solidFill>
                <a:latin typeface="Google Sans Flex"/>
              </a:rPr>
              <a:t>Speak the complaint for up to a minute, in Indonesian, a regional language or English.</a:t>
            </a:r>
          </a:p>
        </p:txBody>
      </p:sp>
      <p:sp>
        <p:nvSpPr>
          <p:cNvPr id="101" name="Rounded Rectangle 100"/>
          <p:cNvSpPr/>
          <p:nvPr/>
        </p:nvSpPr>
        <p:spPr>
          <a:xfrm>
            <a:off x="6868058" y="1737360"/>
            <a:ext cx="2011680" cy="1188720"/>
          </a:xfrm>
          <a:prstGeom prst="roundRect">
            <a:avLst>
              <a:gd name="adj" fmla="val 6000"/>
            </a:avLst>
          </a:prstGeom>
          <a:solidFill>
            <a:srgbClr val="F3F6F6"/>
          </a:solidFill>
          <a:ln>
            <a:noFill/>
          </a:ln>
        </p:spPr>
        <p:txBody>
          <a:bodyPr rtlCol="0" anchor="ctr"/>
          <a:lstStyle/>
          <a:p/>
        </p:txBody>
      </p:sp>
      <p:sp>
        <p:nvSpPr>
          <p:cNvPr id="102" name="Oval 101"/>
          <p:cNvSpPr/>
          <p:nvPr/>
        </p:nvSpPr>
        <p:spPr>
          <a:xfrm>
            <a:off x="6996074" y="1865376"/>
            <a:ext cx="256032" cy="256032"/>
          </a:xfrm>
          <a:prstGeom prst="ellipse">
            <a:avLst/>
          </a:prstGeom>
          <a:solidFill>
            <a:srgbClr val="0B6E6A"/>
          </a:solidFill>
          <a:ln>
            <a:noFill/>
          </a:ln>
        </p:spPr>
        <p:txBody>
          <a:bodyPr rtlCol="0" anchor="ctr" wrap="square" lIns="0" rIns="0" tIns="36576" bIns="36576"/>
          <a:lstStyle/>
          <a:p>
            <a:pPr algn="ctr"/>
            <a:r>
              <a:rPr sz="900" b="1" i="0">
                <a:solidFill>
                  <a:srgbClr val="FFFFFF"/>
                </a:solidFill>
                <a:latin typeface="Google Sans Flex"/>
              </a:rPr>
              <a:t>4</a:t>
            </a:r>
          </a:p>
        </p:txBody>
      </p:sp>
      <p:sp>
        <p:nvSpPr>
          <p:cNvPr id="103" name="TextBox 102"/>
          <p:cNvSpPr txBox="1"/>
          <p:nvPr/>
        </p:nvSpPr>
        <p:spPr>
          <a:xfrm>
            <a:off x="7343546" y="1883664"/>
            <a:ext cx="1444752" cy="274320"/>
          </a:xfrm>
          <a:prstGeom prst="rect">
            <a:avLst/>
          </a:prstGeom>
          <a:noFill/>
        </p:spPr>
        <p:txBody>
          <a:bodyPr wrap="square" lIns="0" rIns="0" tIns="0" bIns="0" anchor="t">
            <a:spAutoFit/>
          </a:bodyPr>
          <a:lstStyle/>
          <a:p>
            <a:pPr algn="l">
              <a:spcAft>
                <a:spcPts val="0"/>
              </a:spcAft>
            </a:pPr>
            <a:r>
              <a:rPr sz="1050" b="1" i="0">
                <a:solidFill>
                  <a:srgbClr val="172427"/>
                </a:solidFill>
                <a:latin typeface="Google Sans Flex"/>
              </a:rPr>
              <a:t>Shortlist</a:t>
            </a:r>
          </a:p>
        </p:txBody>
      </p:sp>
      <p:sp>
        <p:nvSpPr>
          <p:cNvPr id="104" name="TextBox 103"/>
          <p:cNvSpPr txBox="1"/>
          <p:nvPr/>
        </p:nvSpPr>
        <p:spPr>
          <a:xfrm>
            <a:off x="6996074" y="2212848"/>
            <a:ext cx="1755648" cy="749808"/>
          </a:xfrm>
          <a:prstGeom prst="rect">
            <a:avLst/>
          </a:prstGeom>
          <a:noFill/>
        </p:spPr>
        <p:txBody>
          <a:bodyPr wrap="square" lIns="0" rIns="0" tIns="0" bIns="0" anchor="t">
            <a:spAutoFit/>
          </a:bodyPr>
          <a:lstStyle/>
          <a:p>
            <a:pPr algn="l">
              <a:lnSpc>
                <a:spcPct val="100000"/>
              </a:lnSpc>
              <a:spcAft>
                <a:spcPts val="0"/>
              </a:spcAft>
            </a:pPr>
            <a:r>
              <a:rPr sz="900" b="0" i="0">
                <a:solidFill>
                  <a:srgbClr val="5B6B70"/>
                </a:solidFill>
                <a:latin typeface="Google Sans Flex"/>
              </a:rPr>
              <a:t>Nearby Providers that can treat the complaint, with reasons, Testimonies and price signals.</a:t>
            </a:r>
          </a:p>
        </p:txBody>
      </p:sp>
      <p:sp>
        <p:nvSpPr>
          <p:cNvPr id="105" name="Rounded Rectangle 104"/>
          <p:cNvSpPr/>
          <p:nvPr/>
        </p:nvSpPr>
        <p:spPr>
          <a:xfrm>
            <a:off x="265176" y="3054096"/>
            <a:ext cx="2011680" cy="1188720"/>
          </a:xfrm>
          <a:prstGeom prst="roundRect">
            <a:avLst>
              <a:gd name="adj" fmla="val 6000"/>
            </a:avLst>
          </a:prstGeom>
          <a:solidFill>
            <a:srgbClr val="F3F6F6"/>
          </a:solidFill>
          <a:ln>
            <a:noFill/>
          </a:ln>
        </p:spPr>
        <p:txBody>
          <a:bodyPr rtlCol="0" anchor="ctr"/>
          <a:lstStyle/>
          <a:p/>
        </p:txBody>
      </p:sp>
      <p:sp>
        <p:nvSpPr>
          <p:cNvPr id="106" name="Oval 105"/>
          <p:cNvSpPr/>
          <p:nvPr/>
        </p:nvSpPr>
        <p:spPr>
          <a:xfrm>
            <a:off x="393192" y="3182112"/>
            <a:ext cx="256032" cy="256032"/>
          </a:xfrm>
          <a:prstGeom prst="ellipse">
            <a:avLst/>
          </a:prstGeom>
          <a:solidFill>
            <a:srgbClr val="0B6E6A"/>
          </a:solidFill>
          <a:ln>
            <a:noFill/>
          </a:ln>
        </p:spPr>
        <p:txBody>
          <a:bodyPr rtlCol="0" anchor="ctr" wrap="square" lIns="0" rIns="0" tIns="36576" bIns="36576"/>
          <a:lstStyle/>
          <a:p>
            <a:pPr algn="ctr"/>
            <a:r>
              <a:rPr sz="900" b="1" i="0">
                <a:solidFill>
                  <a:srgbClr val="FFFFFF"/>
                </a:solidFill>
                <a:latin typeface="Google Sans Flex"/>
              </a:rPr>
              <a:t>5</a:t>
            </a:r>
          </a:p>
        </p:txBody>
      </p:sp>
      <p:sp>
        <p:nvSpPr>
          <p:cNvPr id="107" name="TextBox 106"/>
          <p:cNvSpPr txBox="1"/>
          <p:nvPr/>
        </p:nvSpPr>
        <p:spPr>
          <a:xfrm>
            <a:off x="740664" y="3200400"/>
            <a:ext cx="1444752" cy="274320"/>
          </a:xfrm>
          <a:prstGeom prst="rect">
            <a:avLst/>
          </a:prstGeom>
          <a:noFill/>
        </p:spPr>
        <p:txBody>
          <a:bodyPr wrap="square" lIns="0" rIns="0" tIns="0" bIns="0" anchor="t">
            <a:spAutoFit/>
          </a:bodyPr>
          <a:lstStyle/>
          <a:p>
            <a:pPr algn="l">
              <a:spcAft>
                <a:spcPts val="0"/>
              </a:spcAft>
            </a:pPr>
            <a:r>
              <a:rPr sz="1050" b="1" i="0">
                <a:solidFill>
                  <a:srgbClr val="172427"/>
                </a:solidFill>
                <a:latin typeface="Google Sans Flex"/>
              </a:rPr>
              <a:t>Provider page</a:t>
            </a:r>
          </a:p>
        </p:txBody>
      </p:sp>
      <p:sp>
        <p:nvSpPr>
          <p:cNvPr id="108" name="TextBox 107"/>
          <p:cNvSpPr txBox="1"/>
          <p:nvPr/>
        </p:nvSpPr>
        <p:spPr>
          <a:xfrm>
            <a:off x="393192" y="3529584"/>
            <a:ext cx="1755648" cy="749808"/>
          </a:xfrm>
          <a:prstGeom prst="rect">
            <a:avLst/>
          </a:prstGeom>
          <a:noFill/>
        </p:spPr>
        <p:txBody>
          <a:bodyPr wrap="square" lIns="0" rIns="0" tIns="0" bIns="0" anchor="t">
            <a:spAutoFit/>
          </a:bodyPr>
          <a:lstStyle/>
          <a:p>
            <a:pPr algn="l">
              <a:lnSpc>
                <a:spcPct val="100000"/>
              </a:lnSpc>
              <a:spcAft>
                <a:spcPts val="0"/>
              </a:spcAft>
            </a:pPr>
            <a:r>
              <a:rPr sz="900" b="0" i="0">
                <a:solidFill>
                  <a:srgbClr val="5B6B70"/>
                </a:solidFill>
                <a:latin typeface="Google Sans Flex"/>
              </a:rPr>
              <a:t>Facts, Testimonies and ratings, WhatsApp and phone; Google rating loads on tap.</a:t>
            </a:r>
          </a:p>
        </p:txBody>
      </p:sp>
      <p:sp>
        <p:nvSpPr>
          <p:cNvPr id="109" name="Rounded Rectangle 108"/>
          <p:cNvSpPr/>
          <p:nvPr/>
        </p:nvSpPr>
        <p:spPr>
          <a:xfrm>
            <a:off x="2466136" y="3054096"/>
            <a:ext cx="2011680" cy="1188720"/>
          </a:xfrm>
          <a:prstGeom prst="roundRect">
            <a:avLst>
              <a:gd name="adj" fmla="val 6000"/>
            </a:avLst>
          </a:prstGeom>
          <a:solidFill>
            <a:srgbClr val="F3F6F6"/>
          </a:solidFill>
          <a:ln>
            <a:noFill/>
          </a:ln>
        </p:spPr>
        <p:txBody>
          <a:bodyPr rtlCol="0" anchor="ctr"/>
          <a:lstStyle/>
          <a:p/>
        </p:txBody>
      </p:sp>
      <p:sp>
        <p:nvSpPr>
          <p:cNvPr id="110" name="Oval 109"/>
          <p:cNvSpPr/>
          <p:nvPr/>
        </p:nvSpPr>
        <p:spPr>
          <a:xfrm>
            <a:off x="2594152" y="3182112"/>
            <a:ext cx="256032" cy="256032"/>
          </a:xfrm>
          <a:prstGeom prst="ellipse">
            <a:avLst/>
          </a:prstGeom>
          <a:solidFill>
            <a:srgbClr val="0B6E6A"/>
          </a:solidFill>
          <a:ln>
            <a:noFill/>
          </a:ln>
        </p:spPr>
        <p:txBody>
          <a:bodyPr rtlCol="0" anchor="ctr" wrap="square" lIns="0" rIns="0" tIns="36576" bIns="36576"/>
          <a:lstStyle/>
          <a:p>
            <a:pPr algn="ctr"/>
            <a:r>
              <a:rPr sz="900" b="1" i="0">
                <a:solidFill>
                  <a:srgbClr val="FFFFFF"/>
                </a:solidFill>
                <a:latin typeface="Google Sans Flex"/>
              </a:rPr>
              <a:t>6</a:t>
            </a:r>
          </a:p>
        </p:txBody>
      </p:sp>
      <p:sp>
        <p:nvSpPr>
          <p:cNvPr id="111" name="TextBox 110"/>
          <p:cNvSpPr txBox="1"/>
          <p:nvPr/>
        </p:nvSpPr>
        <p:spPr>
          <a:xfrm>
            <a:off x="2941624" y="3200400"/>
            <a:ext cx="1444752" cy="274320"/>
          </a:xfrm>
          <a:prstGeom prst="rect">
            <a:avLst/>
          </a:prstGeom>
          <a:noFill/>
        </p:spPr>
        <p:txBody>
          <a:bodyPr wrap="square" lIns="0" rIns="0" tIns="0" bIns="0" anchor="t">
            <a:spAutoFit/>
          </a:bodyPr>
          <a:lstStyle/>
          <a:p>
            <a:pPr algn="l">
              <a:spcAft>
                <a:spcPts val="0"/>
              </a:spcAft>
            </a:pPr>
            <a:r>
              <a:rPr sz="1050" b="1" i="0">
                <a:solidFill>
                  <a:srgbClr val="172427"/>
                </a:solidFill>
                <a:latin typeface="Google Sans Flex"/>
              </a:rPr>
              <a:t>Moderation</a:t>
            </a:r>
          </a:p>
        </p:txBody>
      </p:sp>
      <p:sp>
        <p:nvSpPr>
          <p:cNvPr id="112" name="TextBox 111"/>
          <p:cNvSpPr txBox="1"/>
          <p:nvPr/>
        </p:nvSpPr>
        <p:spPr>
          <a:xfrm>
            <a:off x="2594152" y="3529584"/>
            <a:ext cx="1755648" cy="749808"/>
          </a:xfrm>
          <a:prstGeom prst="rect">
            <a:avLst/>
          </a:prstGeom>
          <a:noFill/>
        </p:spPr>
        <p:txBody>
          <a:bodyPr wrap="square" lIns="0" rIns="0" tIns="0" bIns="0" anchor="t">
            <a:spAutoFit/>
          </a:bodyPr>
          <a:lstStyle/>
          <a:p>
            <a:pPr algn="l">
              <a:lnSpc>
                <a:spcPct val="100000"/>
              </a:lnSpc>
              <a:spcAft>
                <a:spcPts val="0"/>
              </a:spcAft>
            </a:pPr>
            <a:r>
              <a:rPr sz="900" b="0" i="0">
                <a:solidFill>
                  <a:srgbClr val="5B6B70"/>
                </a:solidFill>
                <a:latin typeface="Google Sans Flex"/>
              </a:rPr>
              <a:t>Gemini checks fixed rules; fix-before-submit for phone numbers. Humans remove, AI never deletes.</a:t>
            </a:r>
          </a:p>
        </p:txBody>
      </p:sp>
      <p:sp>
        <p:nvSpPr>
          <p:cNvPr id="113" name="Rounded Rectangle 112"/>
          <p:cNvSpPr/>
          <p:nvPr/>
        </p:nvSpPr>
        <p:spPr>
          <a:xfrm>
            <a:off x="4667097" y="3054096"/>
            <a:ext cx="2011680" cy="1188720"/>
          </a:xfrm>
          <a:prstGeom prst="roundRect">
            <a:avLst>
              <a:gd name="adj" fmla="val 6000"/>
            </a:avLst>
          </a:prstGeom>
          <a:solidFill>
            <a:srgbClr val="F3F6F6"/>
          </a:solidFill>
          <a:ln>
            <a:noFill/>
          </a:ln>
        </p:spPr>
        <p:txBody>
          <a:bodyPr rtlCol="0" anchor="ctr"/>
          <a:lstStyle/>
          <a:p/>
        </p:txBody>
      </p:sp>
      <p:sp>
        <p:nvSpPr>
          <p:cNvPr id="114" name="Oval 113"/>
          <p:cNvSpPr/>
          <p:nvPr/>
        </p:nvSpPr>
        <p:spPr>
          <a:xfrm>
            <a:off x="4795113" y="3182112"/>
            <a:ext cx="256032" cy="256032"/>
          </a:xfrm>
          <a:prstGeom prst="ellipse">
            <a:avLst/>
          </a:prstGeom>
          <a:solidFill>
            <a:srgbClr val="0B6E6A"/>
          </a:solidFill>
          <a:ln>
            <a:noFill/>
          </a:ln>
        </p:spPr>
        <p:txBody>
          <a:bodyPr rtlCol="0" anchor="ctr" wrap="square" lIns="0" rIns="0" tIns="36576" bIns="36576"/>
          <a:lstStyle/>
          <a:p>
            <a:pPr algn="ctr"/>
            <a:r>
              <a:rPr sz="900" b="1" i="0">
                <a:solidFill>
                  <a:srgbClr val="FFFFFF"/>
                </a:solidFill>
                <a:latin typeface="Google Sans Flex"/>
              </a:rPr>
              <a:t>7</a:t>
            </a:r>
          </a:p>
        </p:txBody>
      </p:sp>
      <p:sp>
        <p:nvSpPr>
          <p:cNvPr id="115" name="TextBox 114"/>
          <p:cNvSpPr txBox="1"/>
          <p:nvPr/>
        </p:nvSpPr>
        <p:spPr>
          <a:xfrm>
            <a:off x="5142585" y="3200400"/>
            <a:ext cx="1444752" cy="274320"/>
          </a:xfrm>
          <a:prstGeom prst="rect">
            <a:avLst/>
          </a:prstGeom>
          <a:noFill/>
        </p:spPr>
        <p:txBody>
          <a:bodyPr wrap="square" lIns="0" rIns="0" tIns="0" bIns="0" anchor="t">
            <a:spAutoFit/>
          </a:bodyPr>
          <a:lstStyle/>
          <a:p>
            <a:pPr algn="l">
              <a:spcAft>
                <a:spcPts val="0"/>
              </a:spcAft>
            </a:pPr>
            <a:r>
              <a:rPr sz="1050" b="1" i="0">
                <a:solidFill>
                  <a:srgbClr val="172427"/>
                </a:solidFill>
                <a:latin typeface="Google Sans Flex"/>
              </a:rPr>
              <a:t>Kunjungan terbukti</a:t>
            </a:r>
          </a:p>
        </p:txBody>
      </p:sp>
      <p:sp>
        <p:nvSpPr>
          <p:cNvPr id="116" name="TextBox 115"/>
          <p:cNvSpPr txBox="1"/>
          <p:nvPr/>
        </p:nvSpPr>
        <p:spPr>
          <a:xfrm>
            <a:off x="4795113" y="3529584"/>
            <a:ext cx="1755648" cy="749808"/>
          </a:xfrm>
          <a:prstGeom prst="rect">
            <a:avLst/>
          </a:prstGeom>
          <a:noFill/>
        </p:spPr>
        <p:txBody>
          <a:bodyPr wrap="square" lIns="0" rIns="0" tIns="0" bIns="0" anchor="t">
            <a:spAutoFit/>
          </a:bodyPr>
          <a:lstStyle/>
          <a:p>
            <a:pPr algn="l">
              <a:lnSpc>
                <a:spcPct val="100000"/>
              </a:lnSpc>
              <a:spcAft>
                <a:spcPts val="0"/>
              </a:spcAft>
            </a:pPr>
            <a:r>
              <a:rPr sz="900" b="0" i="0">
                <a:solidFill>
                  <a:srgbClr val="5B6B70"/>
                </a:solidFill>
                <a:latin typeface="Google Sans Flex"/>
              </a:rPr>
              <a:t>A proof of visit marks a Testimony as a proven visit, the defence against buzzers.</a:t>
            </a:r>
          </a:p>
        </p:txBody>
      </p:sp>
      <p:sp>
        <p:nvSpPr>
          <p:cNvPr id="117" name="Rounded Rectangle 116"/>
          <p:cNvSpPr/>
          <p:nvPr/>
        </p:nvSpPr>
        <p:spPr>
          <a:xfrm>
            <a:off x="6868058" y="3054096"/>
            <a:ext cx="2011680" cy="1188720"/>
          </a:xfrm>
          <a:prstGeom prst="roundRect">
            <a:avLst>
              <a:gd name="adj" fmla="val 6000"/>
            </a:avLst>
          </a:prstGeom>
          <a:solidFill>
            <a:srgbClr val="F3F6F6"/>
          </a:solidFill>
          <a:ln>
            <a:noFill/>
          </a:ln>
        </p:spPr>
        <p:txBody>
          <a:bodyPr rtlCol="0" anchor="ctr"/>
          <a:lstStyle/>
          <a:p/>
        </p:txBody>
      </p:sp>
      <p:sp>
        <p:nvSpPr>
          <p:cNvPr id="118" name="Oval 117"/>
          <p:cNvSpPr/>
          <p:nvPr/>
        </p:nvSpPr>
        <p:spPr>
          <a:xfrm>
            <a:off x="6996074" y="3182112"/>
            <a:ext cx="256032" cy="256032"/>
          </a:xfrm>
          <a:prstGeom prst="ellipse">
            <a:avLst/>
          </a:prstGeom>
          <a:solidFill>
            <a:srgbClr val="0B6E6A"/>
          </a:solidFill>
          <a:ln>
            <a:noFill/>
          </a:ln>
        </p:spPr>
        <p:txBody>
          <a:bodyPr rtlCol="0" anchor="ctr" wrap="square" lIns="0" rIns="0" tIns="36576" bIns="36576"/>
          <a:lstStyle/>
          <a:p>
            <a:pPr algn="ctr"/>
            <a:r>
              <a:rPr sz="900" b="1" i="0">
                <a:solidFill>
                  <a:srgbClr val="FFFFFF"/>
                </a:solidFill>
                <a:latin typeface="Google Sans Flex"/>
              </a:rPr>
              <a:t>8</a:t>
            </a:r>
          </a:p>
        </p:txBody>
      </p:sp>
      <p:sp>
        <p:nvSpPr>
          <p:cNvPr id="119" name="TextBox 118"/>
          <p:cNvSpPr txBox="1"/>
          <p:nvPr/>
        </p:nvSpPr>
        <p:spPr>
          <a:xfrm>
            <a:off x="7343546" y="3200400"/>
            <a:ext cx="1444752" cy="274320"/>
          </a:xfrm>
          <a:prstGeom prst="rect">
            <a:avLst/>
          </a:prstGeom>
          <a:noFill/>
        </p:spPr>
        <p:txBody>
          <a:bodyPr wrap="square" lIns="0" rIns="0" tIns="0" bIns="0" anchor="t">
            <a:spAutoFit/>
          </a:bodyPr>
          <a:lstStyle/>
          <a:p>
            <a:pPr algn="l">
              <a:spcAft>
                <a:spcPts val="0"/>
              </a:spcAft>
            </a:pPr>
            <a:r>
              <a:rPr sz="1050" b="1" i="0">
                <a:solidFill>
                  <a:srgbClr val="172427"/>
                </a:solidFill>
                <a:latin typeface="Google Sans Flex"/>
              </a:rPr>
              <a:t>Claim and Price List</a:t>
            </a:r>
          </a:p>
        </p:txBody>
      </p:sp>
      <p:sp>
        <p:nvSpPr>
          <p:cNvPr id="120" name="TextBox 119"/>
          <p:cNvSpPr txBox="1"/>
          <p:nvPr/>
        </p:nvSpPr>
        <p:spPr>
          <a:xfrm>
            <a:off x="6996074" y="3529584"/>
            <a:ext cx="1755648" cy="749808"/>
          </a:xfrm>
          <a:prstGeom prst="rect">
            <a:avLst/>
          </a:prstGeom>
          <a:noFill/>
        </p:spPr>
        <p:txBody>
          <a:bodyPr wrap="square" lIns="0" rIns="0" tIns="0" bIns="0" anchor="t">
            <a:spAutoFit/>
          </a:bodyPr>
          <a:lstStyle/>
          <a:p>
            <a:pPr algn="l">
              <a:lnSpc>
                <a:spcPct val="100000"/>
              </a:lnSpc>
              <a:spcAft>
                <a:spcPts val="0"/>
              </a:spcAft>
            </a:pPr>
            <a:r>
              <a:rPr sz="900" b="0" i="0">
                <a:solidFill>
                  <a:srgbClr val="5B6B70"/>
                </a:solidFill>
                <a:latin typeface="Google Sans Flex"/>
              </a:rPr>
              <a:t>Owner verifies with a SIP; Gemini reads the price list into rows the owner confirms.</a:t>
            </a:r>
          </a:p>
        </p:txBody>
      </p:sp>
      <p:sp>
        <p:nvSpPr>
          <p:cNvPr id="121" name="TextBox 120"/>
          <p:cNvSpPr txBox="1"/>
          <p:nvPr/>
        </p:nvSpPr>
        <p:spPr>
          <a:xfrm>
            <a:off x="265176" y="4407408"/>
            <a:ext cx="8595360" cy="228600"/>
          </a:xfrm>
          <a:prstGeom prst="rect">
            <a:avLst/>
          </a:prstGeom>
          <a:noFill/>
        </p:spPr>
        <p:txBody>
          <a:bodyPr wrap="square" lIns="0" rIns="0" tIns="0" bIns="0" anchor="t">
            <a:spAutoFit/>
          </a:bodyPr>
          <a:lstStyle/>
          <a:p>
            <a:pPr algn="l">
              <a:spcAft>
                <a:spcPts val="0"/>
              </a:spcAft>
            </a:pPr>
            <a:r>
              <a:rPr sz="950" b="1" i="0">
                <a:solidFill>
                  <a:srgbClr val="0B6E6A"/>
                </a:solidFill>
                <a:latin typeface="Google Sans Flex"/>
              </a:rPr>
              <a:t>Also live: </a:t>
            </a:r>
            <a:r>
              <a:rPr sz="950" b="0" i="0">
                <a:solidFill>
                  <a:srgbClr val="172427"/>
                </a:solidFill>
                <a:latin typeface="Google Sans Flex"/>
              </a:rPr>
              <a:t>shareable Guidance link without the complaint · Indonesian and English · live impact counter · directory by kota/kabupaten · sign-in only at “Kirim”</a:t>
            </a:r>
          </a:p>
        </p:txBody>
      </p:sp>
      <p:sp>
        <p:nvSpPr>
          <p:cNvPr id="122" name="Source"/>
          <p:cNvSpPr txBox="1"/>
          <p:nvPr/>
        </p:nvSpPr>
        <p:spPr>
          <a:xfrm>
            <a:off x="265176" y="4690872"/>
            <a:ext cx="8595360" cy="329184"/>
          </a:xfrm>
          <a:prstGeom prst="rect">
            <a:avLst/>
          </a:prstGeom>
          <a:noFill/>
        </p:spPr>
        <p:txBody>
          <a:bodyPr wrap="square" lIns="0" rIns="0" tIns="0" bIns="0" anchor="b">
            <a:spAutoFit/>
          </a:bodyPr>
          <a:lstStyle/>
          <a:p>
            <a:pPr algn="l">
              <a:spcAft>
                <a:spcPts val="0"/>
              </a:spcAft>
            </a:pPr>
            <a:r>
              <a:rPr sz="750" b="0" i="0">
                <a:solidFill>
                  <a:srgbClr val="5B6B70"/>
                </a:solidFill>
                <a:latin typeface="Google Sans Flex"/>
              </a:rPr>
              <a:t>Specs 01 to 05 and 09, docs/specs/. Every feature listed is in the deployed build at findyourdent.com.</a:t>
            </a: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pic>
        <p:nvPicPr>
          <p:cNvPr id="92" name="Google Shape;92;p18"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93" name="Google Shape;93;p18"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94" name="Google Shape;94;p18"/>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5" name="Google Shape;95;p18"/>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Process flow diagram or Use-case diagram</a:t>
            </a:r>
            <a:endParaRPr sz="1600">
              <a:latin typeface="Google Sans Flex Medium"/>
              <a:ea typeface="Google Sans Flex Medium"/>
              <a:cs typeface="Google Sans Flex Medium"/>
              <a:sym typeface="Google Sans Flex Medium"/>
            </a:endParaRPr>
          </a:p>
        </p:txBody>
      </p:sp>
      <p:sp>
        <p:nvSpPr>
          <p:cNvPr id="96" name="Action title"/>
          <p:cNvSpPr txBox="1"/>
          <p:nvPr/>
        </p:nvSpPr>
        <p:spPr>
          <a:xfrm>
            <a:off x="265176" y="1024128"/>
            <a:ext cx="8595360" cy="566928"/>
          </a:xfrm>
          <a:prstGeom prst="rect">
            <a:avLst/>
          </a:prstGeom>
          <a:noFill/>
        </p:spPr>
        <p:txBody>
          <a:bodyPr wrap="square" lIns="0" rIns="0" tIns="0" bIns="0" anchor="t">
            <a:spAutoFit/>
          </a:bodyPr>
          <a:lstStyle/>
          <a:p>
            <a:pPr algn="l">
              <a:lnSpc>
                <a:spcPct val="100000"/>
              </a:lnSpc>
              <a:spcAft>
                <a:spcPts val="0"/>
              </a:spcAft>
            </a:pPr>
            <a:r>
              <a:rPr sz="1900" b="1" i="0">
                <a:solidFill>
                  <a:srgbClr val="172427"/>
                </a:solidFill>
                <a:latin typeface="Google Sans Flex"/>
              </a:rPr>
              <a:t>Safety runs first: a deterministic red-flag check decides before Gemini sees the complaint</a:t>
            </a:r>
          </a:p>
        </p:txBody>
      </p:sp>
      <p:sp>
        <p:nvSpPr>
          <p:cNvPr id="97" name="TextBox 96"/>
          <p:cNvSpPr txBox="1"/>
          <p:nvPr/>
        </p:nvSpPr>
        <p:spPr>
          <a:xfrm>
            <a:off x="265176" y="1783080"/>
            <a:ext cx="822960" cy="548640"/>
          </a:xfrm>
          <a:prstGeom prst="rect">
            <a:avLst/>
          </a:prstGeom>
          <a:noFill/>
        </p:spPr>
        <p:txBody>
          <a:bodyPr wrap="square" lIns="0" rIns="0" tIns="0" bIns="0" anchor="ctr">
            <a:spAutoFit/>
          </a:bodyPr>
          <a:lstStyle/>
          <a:p>
            <a:pPr algn="l">
              <a:spcAft>
                <a:spcPts val="0"/>
              </a:spcAft>
            </a:pPr>
            <a:r>
              <a:rPr sz="950" b="1" i="0">
                <a:solidFill>
                  <a:srgbClr val="0B6E6A"/>
                </a:solidFill>
                <a:latin typeface="Google Sans Flex"/>
              </a:rPr>
              <a:t>Guidance</a:t>
            </a:r>
          </a:p>
        </p:txBody>
      </p:sp>
      <p:sp>
        <p:nvSpPr>
          <p:cNvPr id="98" name="Rounded Rectangle 97"/>
          <p:cNvSpPr/>
          <p:nvPr/>
        </p:nvSpPr>
        <p:spPr>
          <a:xfrm>
            <a:off x="1143000" y="1783080"/>
            <a:ext cx="1344168" cy="548640"/>
          </a:xfrm>
          <a:prstGeom prst="roundRect">
            <a:avLst>
              <a:gd name="adj" fmla="val 10000"/>
            </a:avLst>
          </a:prstGeom>
          <a:solidFill>
            <a:srgbClr val="F3F6F6"/>
          </a:solidFill>
          <a:ln>
            <a:noFill/>
          </a:ln>
        </p:spPr>
        <p:txBody>
          <a:bodyPr rtlCol="0" anchor="ctr" wrap="square" lIns="73152" rIns="73152" tIns="36576" bIns="36576"/>
          <a:lstStyle/>
          <a:p>
            <a:pPr algn="ctr"/>
            <a:r>
              <a:rPr sz="850" b="0" i="0">
                <a:solidFill>
                  <a:srgbClr val="172427"/>
                </a:solidFill>
                <a:latin typeface="Google Sans Flex"/>
              </a:rPr>
              <a:t>Complaint, typed or spoken</a:t>
            </a:r>
          </a:p>
        </p:txBody>
      </p:sp>
      <p:sp>
        <p:nvSpPr>
          <p:cNvPr id="99" name="Rounded Rectangle 98"/>
          <p:cNvSpPr/>
          <p:nvPr/>
        </p:nvSpPr>
        <p:spPr>
          <a:xfrm>
            <a:off x="2706624" y="1783080"/>
            <a:ext cx="1344168" cy="548640"/>
          </a:xfrm>
          <a:prstGeom prst="roundRect">
            <a:avLst>
              <a:gd name="adj" fmla="val 10000"/>
            </a:avLst>
          </a:prstGeom>
          <a:solidFill>
            <a:srgbClr val="FDF3D8"/>
          </a:solidFill>
          <a:ln>
            <a:noFill/>
          </a:ln>
        </p:spPr>
        <p:txBody>
          <a:bodyPr rtlCol="0" anchor="ctr" wrap="square" lIns="73152" rIns="73152" tIns="36576" bIns="36576"/>
          <a:lstStyle/>
          <a:p>
            <a:pPr algn="ctr"/>
            <a:r>
              <a:rPr sz="850" b="1" i="0">
                <a:solidFill>
                  <a:srgbClr val="172427"/>
                </a:solidFill>
                <a:latin typeface="Google Sans Flex"/>
              </a:rPr>
              <a:t>Red-flag check (deterministic)</a:t>
            </a:r>
          </a:p>
        </p:txBody>
      </p:sp>
      <p:cxnSp>
        <p:nvCxnSpPr>
          <p:cNvPr id="100" name="Connector 99"/>
          <p:cNvCxnSpPr/>
          <p:nvPr/>
        </p:nvCxnSpPr>
        <p:spPr>
          <a:xfrm>
            <a:off x="2505456" y="2057400"/>
            <a:ext cx="182880" cy="0"/>
          </a:xfrm>
          <a:prstGeom prst="line">
            <a:avLst/>
          </a:prstGeom>
          <a:ln w="12700">
            <a:solidFill>
              <a:srgbClr val="5B6B7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1" name="Rounded Rectangle 100"/>
          <p:cNvSpPr/>
          <p:nvPr/>
        </p:nvSpPr>
        <p:spPr>
          <a:xfrm>
            <a:off x="4270248" y="1783080"/>
            <a:ext cx="1344168" cy="548640"/>
          </a:xfrm>
          <a:prstGeom prst="roundRect">
            <a:avLst>
              <a:gd name="adj" fmla="val 10000"/>
            </a:avLst>
          </a:prstGeom>
          <a:solidFill>
            <a:srgbClr val="DCEFEC"/>
          </a:solidFill>
          <a:ln w="9525">
            <a:solidFill>
              <a:srgbClr val="0B6E6A"/>
            </a:solidFill>
          </a:ln>
        </p:spPr>
        <p:txBody>
          <a:bodyPr rtlCol="0" anchor="ctr" wrap="square" lIns="73152" rIns="73152" tIns="36576" bIns="36576"/>
          <a:lstStyle/>
          <a:p>
            <a:pPr algn="ctr"/>
            <a:r>
              <a:rPr sz="850" b="1" i="0">
                <a:solidFill>
                  <a:srgbClr val="172427"/>
                </a:solidFill>
                <a:latin typeface="Google Sans Flex"/>
              </a:rPr>
              <a:t>Gemini Guidance: validated JSON</a:t>
            </a:r>
          </a:p>
        </p:txBody>
      </p:sp>
      <p:cxnSp>
        <p:nvCxnSpPr>
          <p:cNvPr id="102" name="Connector 101"/>
          <p:cNvCxnSpPr/>
          <p:nvPr/>
        </p:nvCxnSpPr>
        <p:spPr>
          <a:xfrm>
            <a:off x="4069079" y="2057400"/>
            <a:ext cx="182881" cy="0"/>
          </a:xfrm>
          <a:prstGeom prst="line">
            <a:avLst/>
          </a:prstGeom>
          <a:ln w="12700">
            <a:solidFill>
              <a:srgbClr val="5B6B7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3" name="Rounded Rectangle 102"/>
          <p:cNvSpPr/>
          <p:nvPr/>
        </p:nvSpPr>
        <p:spPr>
          <a:xfrm>
            <a:off x="5833872" y="1783080"/>
            <a:ext cx="1344168" cy="548640"/>
          </a:xfrm>
          <a:prstGeom prst="roundRect">
            <a:avLst>
              <a:gd name="adj" fmla="val 10000"/>
            </a:avLst>
          </a:prstGeom>
          <a:solidFill>
            <a:srgbClr val="F3F6F6"/>
          </a:solidFill>
          <a:ln>
            <a:noFill/>
          </a:ln>
        </p:spPr>
        <p:txBody>
          <a:bodyPr rtlCol="0" anchor="ctr" wrap="square" lIns="73152" rIns="73152" tIns="36576" bIns="36576"/>
          <a:lstStyle/>
          <a:p>
            <a:pPr algn="ctr"/>
            <a:r>
              <a:rPr sz="850" b="0" i="0">
                <a:solidFill>
                  <a:srgbClr val="172427"/>
                </a:solidFill>
                <a:latin typeface="Google Sans Flex"/>
              </a:rPr>
              <a:t>Guidance card + knowledge files</a:t>
            </a:r>
          </a:p>
        </p:txBody>
      </p:sp>
      <p:cxnSp>
        <p:nvCxnSpPr>
          <p:cNvPr id="104" name="Connector 103"/>
          <p:cNvCxnSpPr/>
          <p:nvPr/>
        </p:nvCxnSpPr>
        <p:spPr>
          <a:xfrm>
            <a:off x="5632703" y="2057400"/>
            <a:ext cx="182881" cy="0"/>
          </a:xfrm>
          <a:prstGeom prst="line">
            <a:avLst/>
          </a:prstGeom>
          <a:ln w="12700">
            <a:solidFill>
              <a:srgbClr val="5B6B7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5" name="Rounded Rectangle 104"/>
          <p:cNvSpPr/>
          <p:nvPr/>
        </p:nvSpPr>
        <p:spPr>
          <a:xfrm>
            <a:off x="7397496" y="1783080"/>
            <a:ext cx="1344168" cy="548640"/>
          </a:xfrm>
          <a:prstGeom prst="roundRect">
            <a:avLst>
              <a:gd name="adj" fmla="val 10000"/>
            </a:avLst>
          </a:prstGeom>
          <a:solidFill>
            <a:srgbClr val="F3F6F6"/>
          </a:solidFill>
          <a:ln>
            <a:noFill/>
          </a:ln>
        </p:spPr>
        <p:txBody>
          <a:bodyPr rtlCol="0" anchor="ctr" wrap="square" lIns="73152" rIns="73152" tIns="36576" bIns="36576"/>
          <a:lstStyle/>
          <a:p>
            <a:pPr algn="ctr"/>
            <a:r>
              <a:rPr sz="850" b="0" i="0">
                <a:solidFill>
                  <a:srgbClr val="172427"/>
                </a:solidFill>
                <a:latin typeface="Google Sans Flex"/>
              </a:rPr>
              <a:t>Shortlist and Provider page</a:t>
            </a:r>
          </a:p>
        </p:txBody>
      </p:sp>
      <p:cxnSp>
        <p:nvCxnSpPr>
          <p:cNvPr id="106" name="Connector 105"/>
          <p:cNvCxnSpPr/>
          <p:nvPr/>
        </p:nvCxnSpPr>
        <p:spPr>
          <a:xfrm>
            <a:off x="7196327" y="2057400"/>
            <a:ext cx="182881" cy="0"/>
          </a:xfrm>
          <a:prstGeom prst="line">
            <a:avLst/>
          </a:prstGeom>
          <a:ln w="12700">
            <a:solidFill>
              <a:srgbClr val="5B6B7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7" name="TextBox 106"/>
          <p:cNvSpPr txBox="1"/>
          <p:nvPr/>
        </p:nvSpPr>
        <p:spPr>
          <a:xfrm>
            <a:off x="265176" y="3127248"/>
            <a:ext cx="822960" cy="548640"/>
          </a:xfrm>
          <a:prstGeom prst="rect">
            <a:avLst/>
          </a:prstGeom>
          <a:noFill/>
        </p:spPr>
        <p:txBody>
          <a:bodyPr wrap="square" lIns="0" rIns="0" tIns="0" bIns="0" anchor="ctr">
            <a:spAutoFit/>
          </a:bodyPr>
          <a:lstStyle/>
          <a:p>
            <a:pPr algn="l">
              <a:spcAft>
                <a:spcPts val="0"/>
              </a:spcAft>
            </a:pPr>
            <a:r>
              <a:rPr sz="950" b="1" i="0">
                <a:solidFill>
                  <a:srgbClr val="0B6E6A"/>
                </a:solidFill>
                <a:latin typeface="Google Sans Flex"/>
              </a:rPr>
              <a:t>Testimony</a:t>
            </a:r>
          </a:p>
        </p:txBody>
      </p:sp>
      <p:sp>
        <p:nvSpPr>
          <p:cNvPr id="108" name="Rounded Rectangle 107"/>
          <p:cNvSpPr/>
          <p:nvPr/>
        </p:nvSpPr>
        <p:spPr>
          <a:xfrm>
            <a:off x="1143000" y="3127248"/>
            <a:ext cx="1344168" cy="548640"/>
          </a:xfrm>
          <a:prstGeom prst="roundRect">
            <a:avLst>
              <a:gd name="adj" fmla="val 10000"/>
            </a:avLst>
          </a:prstGeom>
          <a:solidFill>
            <a:srgbClr val="F3F6F6"/>
          </a:solidFill>
          <a:ln>
            <a:noFill/>
          </a:ln>
        </p:spPr>
        <p:txBody>
          <a:bodyPr rtlCol="0" anchor="ctr" wrap="square" lIns="73152" rIns="73152" tIns="36576" bIns="36576"/>
          <a:lstStyle/>
          <a:p>
            <a:pPr algn="ctr"/>
            <a:r>
              <a:rPr sz="850" b="0" i="0">
                <a:solidFill>
                  <a:srgbClr val="172427"/>
                </a:solidFill>
                <a:latin typeface="Google Sans Flex"/>
              </a:rPr>
              <a:t>Visit the Provider</a:t>
            </a:r>
          </a:p>
        </p:txBody>
      </p:sp>
      <p:sp>
        <p:nvSpPr>
          <p:cNvPr id="109" name="Rounded Rectangle 108"/>
          <p:cNvSpPr/>
          <p:nvPr/>
        </p:nvSpPr>
        <p:spPr>
          <a:xfrm>
            <a:off x="2706624" y="3127248"/>
            <a:ext cx="1344168" cy="548640"/>
          </a:xfrm>
          <a:prstGeom prst="roundRect">
            <a:avLst>
              <a:gd name="adj" fmla="val 10000"/>
            </a:avLst>
          </a:prstGeom>
          <a:solidFill>
            <a:srgbClr val="F3F6F6"/>
          </a:solidFill>
          <a:ln>
            <a:noFill/>
          </a:ln>
        </p:spPr>
        <p:txBody>
          <a:bodyPr rtlCol="0" anchor="ctr" wrap="square" lIns="73152" rIns="73152" tIns="36576" bIns="36576"/>
          <a:lstStyle/>
          <a:p>
            <a:pPr algn="ctr"/>
            <a:r>
              <a:rPr sz="850" b="0" i="0">
                <a:solidFill>
                  <a:srgbClr val="172427"/>
                </a:solidFill>
                <a:latin typeface="Google Sans Flex"/>
              </a:rPr>
              <a:t>Write a Testimony, sign in at Kirim</a:t>
            </a:r>
          </a:p>
        </p:txBody>
      </p:sp>
      <p:cxnSp>
        <p:nvCxnSpPr>
          <p:cNvPr id="110" name="Connector 109"/>
          <p:cNvCxnSpPr/>
          <p:nvPr/>
        </p:nvCxnSpPr>
        <p:spPr>
          <a:xfrm>
            <a:off x="2505456" y="3401568"/>
            <a:ext cx="182880" cy="0"/>
          </a:xfrm>
          <a:prstGeom prst="line">
            <a:avLst/>
          </a:prstGeom>
          <a:ln w="12700">
            <a:solidFill>
              <a:srgbClr val="5B6B7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1" name="Rounded Rectangle 110"/>
          <p:cNvSpPr/>
          <p:nvPr/>
        </p:nvSpPr>
        <p:spPr>
          <a:xfrm>
            <a:off x="4270248" y="3127248"/>
            <a:ext cx="1344168" cy="548640"/>
          </a:xfrm>
          <a:prstGeom prst="roundRect">
            <a:avLst>
              <a:gd name="adj" fmla="val 10000"/>
            </a:avLst>
          </a:prstGeom>
          <a:solidFill>
            <a:srgbClr val="DCEFEC"/>
          </a:solidFill>
          <a:ln w="9525">
            <a:solidFill>
              <a:srgbClr val="0B6E6A"/>
            </a:solidFill>
          </a:ln>
        </p:spPr>
        <p:txBody>
          <a:bodyPr rtlCol="0" anchor="ctr" wrap="square" lIns="73152" rIns="73152" tIns="36576" bIns="36576"/>
          <a:lstStyle/>
          <a:p>
            <a:pPr algn="ctr"/>
            <a:r>
              <a:rPr sz="850" b="1" i="0">
                <a:solidFill>
                  <a:srgbClr val="172427"/>
                </a:solidFill>
                <a:latin typeface="Google Sans Flex"/>
              </a:rPr>
              <a:t>Gemini Moderation: which rules fired</a:t>
            </a:r>
          </a:p>
        </p:txBody>
      </p:sp>
      <p:cxnSp>
        <p:nvCxnSpPr>
          <p:cNvPr id="112" name="Connector 111"/>
          <p:cNvCxnSpPr/>
          <p:nvPr/>
        </p:nvCxnSpPr>
        <p:spPr>
          <a:xfrm>
            <a:off x="4069079" y="3401568"/>
            <a:ext cx="182881" cy="0"/>
          </a:xfrm>
          <a:prstGeom prst="line">
            <a:avLst/>
          </a:prstGeom>
          <a:ln w="12700">
            <a:solidFill>
              <a:srgbClr val="5B6B7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3" name="Rounded Rectangle 112"/>
          <p:cNvSpPr/>
          <p:nvPr/>
        </p:nvSpPr>
        <p:spPr>
          <a:xfrm>
            <a:off x="5833872" y="3127248"/>
            <a:ext cx="1344168" cy="548640"/>
          </a:xfrm>
          <a:prstGeom prst="roundRect">
            <a:avLst>
              <a:gd name="adj" fmla="val 10000"/>
            </a:avLst>
          </a:prstGeom>
          <a:solidFill>
            <a:srgbClr val="F3F6F6"/>
          </a:solidFill>
          <a:ln>
            <a:noFill/>
          </a:ln>
        </p:spPr>
        <p:txBody>
          <a:bodyPr rtlCol="0" anchor="ctr" wrap="square" lIns="73152" rIns="73152" tIns="36576" bIns="36576"/>
          <a:lstStyle/>
          <a:p>
            <a:pPr algn="ctr"/>
            <a:r>
              <a:rPr sz="850" b="0" i="0">
                <a:solidFill>
                  <a:srgbClr val="172427"/>
                </a:solidFill>
                <a:latin typeface="Google Sans Flex"/>
              </a:rPr>
              <a:t>Code decides: publish, fix or hold</a:t>
            </a:r>
          </a:p>
        </p:txBody>
      </p:sp>
      <p:cxnSp>
        <p:nvCxnSpPr>
          <p:cNvPr id="114" name="Connector 113"/>
          <p:cNvCxnSpPr/>
          <p:nvPr/>
        </p:nvCxnSpPr>
        <p:spPr>
          <a:xfrm>
            <a:off x="5632703" y="3401568"/>
            <a:ext cx="182881" cy="0"/>
          </a:xfrm>
          <a:prstGeom prst="line">
            <a:avLst/>
          </a:prstGeom>
          <a:ln w="12700">
            <a:solidFill>
              <a:srgbClr val="5B6B7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5" name="Rounded Rectangle 114"/>
          <p:cNvSpPr/>
          <p:nvPr/>
        </p:nvSpPr>
        <p:spPr>
          <a:xfrm>
            <a:off x="7397496" y="3127248"/>
            <a:ext cx="1344168" cy="548640"/>
          </a:xfrm>
          <a:prstGeom prst="roundRect">
            <a:avLst>
              <a:gd name="adj" fmla="val 10000"/>
            </a:avLst>
          </a:prstGeom>
          <a:solidFill>
            <a:srgbClr val="F3F6F6"/>
          </a:solidFill>
          <a:ln>
            <a:noFill/>
          </a:ln>
        </p:spPr>
        <p:txBody>
          <a:bodyPr rtlCol="0" anchor="ctr" wrap="square" lIns="73152" rIns="73152" tIns="36576" bIns="36576"/>
          <a:lstStyle/>
          <a:p>
            <a:pPr algn="ctr"/>
            <a:r>
              <a:rPr sz="850" b="0" i="0">
                <a:solidFill>
                  <a:srgbClr val="172427"/>
                </a:solidFill>
                <a:latin typeface="Google Sans Flex"/>
              </a:rPr>
              <a:t>Admin queue: humans can remove</a:t>
            </a:r>
          </a:p>
        </p:txBody>
      </p:sp>
      <p:cxnSp>
        <p:nvCxnSpPr>
          <p:cNvPr id="116" name="Connector 115"/>
          <p:cNvCxnSpPr/>
          <p:nvPr/>
        </p:nvCxnSpPr>
        <p:spPr>
          <a:xfrm>
            <a:off x="7196327" y="3401568"/>
            <a:ext cx="182881" cy="0"/>
          </a:xfrm>
          <a:prstGeom prst="line">
            <a:avLst/>
          </a:prstGeom>
          <a:ln w="12700">
            <a:solidFill>
              <a:srgbClr val="5B6B7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7" name="TextBox 116"/>
          <p:cNvSpPr txBox="1"/>
          <p:nvPr/>
        </p:nvSpPr>
        <p:spPr>
          <a:xfrm>
            <a:off x="265176" y="3950208"/>
            <a:ext cx="822960" cy="548640"/>
          </a:xfrm>
          <a:prstGeom prst="rect">
            <a:avLst/>
          </a:prstGeom>
          <a:noFill/>
        </p:spPr>
        <p:txBody>
          <a:bodyPr wrap="square" lIns="0" rIns="0" tIns="0" bIns="0" anchor="ctr">
            <a:spAutoFit/>
          </a:bodyPr>
          <a:lstStyle/>
          <a:p>
            <a:pPr algn="l">
              <a:spcAft>
                <a:spcPts val="0"/>
              </a:spcAft>
            </a:pPr>
            <a:r>
              <a:rPr sz="950" b="1" i="0">
                <a:solidFill>
                  <a:srgbClr val="0B6E6A"/>
                </a:solidFill>
                <a:latin typeface="Google Sans Flex"/>
              </a:rPr>
              <a:t>Provider</a:t>
            </a:r>
          </a:p>
        </p:txBody>
      </p:sp>
      <p:sp>
        <p:nvSpPr>
          <p:cNvPr id="118" name="Rounded Rectangle 117"/>
          <p:cNvSpPr/>
          <p:nvPr/>
        </p:nvSpPr>
        <p:spPr>
          <a:xfrm>
            <a:off x="1143000" y="3950208"/>
            <a:ext cx="1344168" cy="548640"/>
          </a:xfrm>
          <a:prstGeom prst="roundRect">
            <a:avLst>
              <a:gd name="adj" fmla="val 10000"/>
            </a:avLst>
          </a:prstGeom>
          <a:solidFill>
            <a:srgbClr val="F3F6F6"/>
          </a:solidFill>
          <a:ln>
            <a:noFill/>
          </a:ln>
        </p:spPr>
        <p:txBody>
          <a:bodyPr rtlCol="0" anchor="ctr" wrap="square" lIns="73152" rIns="73152" tIns="36576" bIns="36576"/>
          <a:lstStyle/>
          <a:p>
            <a:pPr algn="ctr"/>
            <a:r>
              <a:rPr sz="850" b="0" i="0">
                <a:solidFill>
                  <a:srgbClr val="172427"/>
                </a:solidFill>
                <a:latin typeface="Google Sans Flex"/>
              </a:rPr>
              <a:t>Claim the page: SIP + phone check</a:t>
            </a:r>
          </a:p>
        </p:txBody>
      </p:sp>
      <p:sp>
        <p:nvSpPr>
          <p:cNvPr id="119" name="Rounded Rectangle 118"/>
          <p:cNvSpPr/>
          <p:nvPr/>
        </p:nvSpPr>
        <p:spPr>
          <a:xfrm>
            <a:off x="2706624" y="3950208"/>
            <a:ext cx="1344168" cy="548640"/>
          </a:xfrm>
          <a:prstGeom prst="roundRect">
            <a:avLst>
              <a:gd name="adj" fmla="val 10000"/>
            </a:avLst>
          </a:prstGeom>
          <a:solidFill>
            <a:srgbClr val="F3F6F6"/>
          </a:solidFill>
          <a:ln>
            <a:noFill/>
          </a:ln>
        </p:spPr>
        <p:txBody>
          <a:bodyPr rtlCol="0" anchor="ctr" wrap="square" lIns="73152" rIns="73152" tIns="36576" bIns="36576"/>
          <a:lstStyle/>
          <a:p>
            <a:pPr algn="ctr"/>
            <a:r>
              <a:rPr sz="850" b="0" i="0">
                <a:solidFill>
                  <a:srgbClr val="172427"/>
                </a:solidFill>
                <a:latin typeface="Google Sans Flex"/>
              </a:rPr>
              <a:t>Upload price list (PDF or photo)</a:t>
            </a:r>
          </a:p>
        </p:txBody>
      </p:sp>
      <p:cxnSp>
        <p:nvCxnSpPr>
          <p:cNvPr id="120" name="Connector 119"/>
          <p:cNvCxnSpPr/>
          <p:nvPr/>
        </p:nvCxnSpPr>
        <p:spPr>
          <a:xfrm>
            <a:off x="2505456" y="4224528"/>
            <a:ext cx="182880" cy="0"/>
          </a:xfrm>
          <a:prstGeom prst="line">
            <a:avLst/>
          </a:prstGeom>
          <a:ln w="12700">
            <a:solidFill>
              <a:srgbClr val="5B6B7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1" name="Rounded Rectangle 120"/>
          <p:cNvSpPr/>
          <p:nvPr/>
        </p:nvSpPr>
        <p:spPr>
          <a:xfrm>
            <a:off x="4270248" y="3950208"/>
            <a:ext cx="1344168" cy="548640"/>
          </a:xfrm>
          <a:prstGeom prst="roundRect">
            <a:avLst>
              <a:gd name="adj" fmla="val 10000"/>
            </a:avLst>
          </a:prstGeom>
          <a:solidFill>
            <a:srgbClr val="DCEFEC"/>
          </a:solidFill>
          <a:ln w="9525">
            <a:solidFill>
              <a:srgbClr val="0B6E6A"/>
            </a:solidFill>
          </a:ln>
        </p:spPr>
        <p:txBody>
          <a:bodyPr rtlCol="0" anchor="ctr" wrap="square" lIns="73152" rIns="73152" tIns="36576" bIns="36576"/>
          <a:lstStyle/>
          <a:p>
            <a:pPr algn="ctr"/>
            <a:r>
              <a:rPr sz="850" b="1" i="0">
                <a:solidFill>
                  <a:srgbClr val="172427"/>
                </a:solidFill>
                <a:latin typeface="Google Sans Flex"/>
              </a:rPr>
              <a:t>Gemini extracts rows</a:t>
            </a:r>
          </a:p>
        </p:txBody>
      </p:sp>
      <p:cxnSp>
        <p:nvCxnSpPr>
          <p:cNvPr id="122" name="Connector 121"/>
          <p:cNvCxnSpPr/>
          <p:nvPr/>
        </p:nvCxnSpPr>
        <p:spPr>
          <a:xfrm>
            <a:off x="4069079" y="4224528"/>
            <a:ext cx="182881" cy="0"/>
          </a:xfrm>
          <a:prstGeom prst="line">
            <a:avLst/>
          </a:prstGeom>
          <a:ln w="12700">
            <a:solidFill>
              <a:srgbClr val="5B6B7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3" name="Rounded Rectangle 122"/>
          <p:cNvSpPr/>
          <p:nvPr/>
        </p:nvSpPr>
        <p:spPr>
          <a:xfrm>
            <a:off x="5833872" y="3950208"/>
            <a:ext cx="1344168" cy="548640"/>
          </a:xfrm>
          <a:prstGeom prst="roundRect">
            <a:avLst>
              <a:gd name="adj" fmla="val 10000"/>
            </a:avLst>
          </a:prstGeom>
          <a:solidFill>
            <a:srgbClr val="F3F6F6"/>
          </a:solidFill>
          <a:ln>
            <a:noFill/>
          </a:ln>
        </p:spPr>
        <p:txBody>
          <a:bodyPr rtlCol="0" anchor="ctr" wrap="square" lIns="73152" rIns="73152" tIns="36576" bIns="36576"/>
          <a:lstStyle/>
          <a:p>
            <a:pPr algn="ctr"/>
            <a:r>
              <a:rPr sz="850" b="0" i="0">
                <a:solidFill>
                  <a:srgbClr val="172427"/>
                </a:solidFill>
                <a:latin typeface="Google Sans Flex"/>
              </a:rPr>
              <a:t>Owner checks and confirms</a:t>
            </a:r>
          </a:p>
        </p:txBody>
      </p:sp>
      <p:cxnSp>
        <p:nvCxnSpPr>
          <p:cNvPr id="124" name="Connector 123"/>
          <p:cNvCxnSpPr/>
          <p:nvPr/>
        </p:nvCxnSpPr>
        <p:spPr>
          <a:xfrm>
            <a:off x="5632703" y="4224528"/>
            <a:ext cx="182881" cy="0"/>
          </a:xfrm>
          <a:prstGeom prst="line">
            <a:avLst/>
          </a:prstGeom>
          <a:ln w="12700">
            <a:solidFill>
              <a:srgbClr val="5B6B7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5" name="Rounded Rectangle 124"/>
          <p:cNvSpPr/>
          <p:nvPr/>
        </p:nvSpPr>
        <p:spPr>
          <a:xfrm>
            <a:off x="7397496" y="3950208"/>
            <a:ext cx="1344168" cy="548640"/>
          </a:xfrm>
          <a:prstGeom prst="roundRect">
            <a:avLst>
              <a:gd name="adj" fmla="val 10000"/>
            </a:avLst>
          </a:prstGeom>
          <a:solidFill>
            <a:srgbClr val="F3F6F6"/>
          </a:solidFill>
          <a:ln>
            <a:noFill/>
          </a:ln>
        </p:spPr>
        <p:txBody>
          <a:bodyPr rtlCol="0" anchor="ctr" wrap="square" lIns="73152" rIns="73152" tIns="36576" bIns="36576"/>
          <a:lstStyle/>
          <a:p>
            <a:pPr algn="ctr"/>
            <a:r>
              <a:rPr sz="850" b="0" i="0">
                <a:solidFill>
                  <a:srgbClr val="172427"/>
                </a:solidFill>
                <a:latin typeface="Google Sans Flex"/>
              </a:rPr>
              <a:t>Dated prices on page and Shortlist</a:t>
            </a:r>
          </a:p>
        </p:txBody>
      </p:sp>
      <p:cxnSp>
        <p:nvCxnSpPr>
          <p:cNvPr id="126" name="Connector 125"/>
          <p:cNvCxnSpPr/>
          <p:nvPr/>
        </p:nvCxnSpPr>
        <p:spPr>
          <a:xfrm>
            <a:off x="7196327" y="4224528"/>
            <a:ext cx="182881" cy="0"/>
          </a:xfrm>
          <a:prstGeom prst="line">
            <a:avLst/>
          </a:prstGeom>
          <a:ln w="12700">
            <a:solidFill>
              <a:srgbClr val="5B6B7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7" name="Rounded Rectangle 126"/>
          <p:cNvSpPr/>
          <p:nvPr/>
        </p:nvSpPr>
        <p:spPr>
          <a:xfrm>
            <a:off x="2432304" y="2615184"/>
            <a:ext cx="1892807" cy="365760"/>
          </a:xfrm>
          <a:prstGeom prst="roundRect">
            <a:avLst>
              <a:gd name="adj" fmla="val 15000"/>
            </a:avLst>
          </a:prstGeom>
          <a:solidFill>
            <a:srgbClr val="FDECEA"/>
          </a:solidFill>
          <a:ln w="9525">
            <a:solidFill>
              <a:srgbClr val="B42318"/>
            </a:solidFill>
          </a:ln>
        </p:spPr>
        <p:txBody>
          <a:bodyPr rtlCol="0" anchor="ctr" wrap="square" lIns="73152" rIns="73152" tIns="36576" bIns="36576"/>
          <a:lstStyle/>
          <a:p>
            <a:pPr algn="ctr"/>
            <a:r>
              <a:rPr sz="850" b="1" i="0">
                <a:solidFill>
                  <a:srgbClr val="B42318"/>
                </a:solidFill>
                <a:latin typeface="Google Sans Flex"/>
              </a:rPr>
              <a:t>Red flag: </a:t>
            </a:r>
            <a:r>
              <a:rPr sz="850" b="0" i="0">
                <a:solidFill>
                  <a:srgbClr val="B42318"/>
                </a:solidFill>
                <a:latin typeface="Google Sans Flex"/>
              </a:rPr>
              <a:t>“Ke IGD sekarang” + nearest IGD</a:t>
            </a:r>
          </a:p>
        </p:txBody>
      </p:sp>
      <p:cxnSp>
        <p:nvCxnSpPr>
          <p:cNvPr id="128" name="Connector 127"/>
          <p:cNvCxnSpPr/>
          <p:nvPr/>
        </p:nvCxnSpPr>
        <p:spPr>
          <a:xfrm>
            <a:off x="3378708" y="2340863"/>
            <a:ext cx="0" cy="265177"/>
          </a:xfrm>
          <a:prstGeom prst="line">
            <a:avLst/>
          </a:prstGeom>
          <a:ln w="12700">
            <a:solidFill>
              <a:srgbClr val="B4231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9" name="TextBox 128"/>
          <p:cNvSpPr txBox="1"/>
          <p:nvPr/>
        </p:nvSpPr>
        <p:spPr>
          <a:xfrm>
            <a:off x="3433572" y="2377440"/>
            <a:ext cx="822960" cy="182880"/>
          </a:xfrm>
          <a:prstGeom prst="rect">
            <a:avLst/>
          </a:prstGeom>
          <a:noFill/>
        </p:spPr>
        <p:txBody>
          <a:bodyPr wrap="square" lIns="0" rIns="0" tIns="0" bIns="0" anchor="t">
            <a:spAutoFit/>
          </a:bodyPr>
          <a:lstStyle/>
          <a:p>
            <a:pPr algn="l">
              <a:spcAft>
                <a:spcPts val="0"/>
              </a:spcAft>
            </a:pPr>
            <a:r>
              <a:rPr sz="800" b="1" i="0">
                <a:solidFill>
                  <a:srgbClr val="B42318"/>
                </a:solidFill>
                <a:latin typeface="Google Sans Flex"/>
              </a:rPr>
              <a:t>yes</a:t>
            </a:r>
          </a:p>
        </p:txBody>
      </p:sp>
      <p:sp>
        <p:nvSpPr>
          <p:cNvPr id="130" name="TextBox 129"/>
          <p:cNvSpPr txBox="1"/>
          <p:nvPr/>
        </p:nvSpPr>
        <p:spPr>
          <a:xfrm>
            <a:off x="4069079" y="1837943"/>
            <a:ext cx="228600" cy="182880"/>
          </a:xfrm>
          <a:prstGeom prst="rect">
            <a:avLst/>
          </a:prstGeom>
          <a:noFill/>
        </p:spPr>
        <p:txBody>
          <a:bodyPr wrap="square" lIns="0" rIns="0" tIns="0" bIns="0" anchor="t">
            <a:spAutoFit/>
          </a:bodyPr>
          <a:lstStyle/>
          <a:p>
            <a:pPr algn="l">
              <a:spcAft>
                <a:spcPts val="0"/>
              </a:spcAft>
            </a:pPr>
            <a:r>
              <a:rPr sz="800" b="1" i="0">
                <a:solidFill>
                  <a:srgbClr val="5B6B70"/>
                </a:solidFill>
                <a:latin typeface="Google Sans Flex"/>
              </a:rPr>
              <a:t>no</a:t>
            </a:r>
          </a:p>
        </p:txBody>
      </p:sp>
      <p:sp>
        <p:nvSpPr>
          <p:cNvPr id="131" name="Rounded Rectangle 130"/>
          <p:cNvSpPr/>
          <p:nvPr/>
        </p:nvSpPr>
        <p:spPr>
          <a:xfrm>
            <a:off x="5120640" y="2761488"/>
            <a:ext cx="164592" cy="128016"/>
          </a:xfrm>
          <a:prstGeom prst="roundRect">
            <a:avLst>
              <a:gd name="adj" fmla="val 20000"/>
            </a:avLst>
          </a:prstGeom>
          <a:solidFill>
            <a:srgbClr val="DCEFEC"/>
          </a:solidFill>
          <a:ln w="9525">
            <a:solidFill>
              <a:srgbClr val="0B6E6A"/>
            </a:solidFill>
          </a:ln>
        </p:spPr>
        <p:txBody>
          <a:bodyPr rtlCol="0" anchor="ctr"/>
          <a:lstStyle/>
          <a:p/>
        </p:txBody>
      </p:sp>
      <p:sp>
        <p:nvSpPr>
          <p:cNvPr id="132" name="TextBox 131"/>
          <p:cNvSpPr txBox="1"/>
          <p:nvPr/>
        </p:nvSpPr>
        <p:spPr>
          <a:xfrm>
            <a:off x="5349240" y="2724912"/>
            <a:ext cx="1188720" cy="201168"/>
          </a:xfrm>
          <a:prstGeom prst="rect">
            <a:avLst/>
          </a:prstGeom>
          <a:noFill/>
        </p:spPr>
        <p:txBody>
          <a:bodyPr wrap="square" lIns="0" rIns="0" tIns="0" bIns="0" anchor="t">
            <a:spAutoFit/>
          </a:bodyPr>
          <a:lstStyle/>
          <a:p>
            <a:pPr algn="l">
              <a:spcAft>
                <a:spcPts val="0"/>
              </a:spcAft>
            </a:pPr>
            <a:r>
              <a:rPr sz="800" b="0" i="0">
                <a:solidFill>
                  <a:srgbClr val="5B6B70"/>
                </a:solidFill>
                <a:latin typeface="Google Sans Flex"/>
              </a:rPr>
              <a:t>Gemini call</a:t>
            </a:r>
          </a:p>
        </p:txBody>
      </p:sp>
      <p:sp>
        <p:nvSpPr>
          <p:cNvPr id="133" name="Rounded Rectangle 132"/>
          <p:cNvSpPr/>
          <p:nvPr/>
        </p:nvSpPr>
        <p:spPr>
          <a:xfrm>
            <a:off x="6583679" y="2761488"/>
            <a:ext cx="164592" cy="128016"/>
          </a:xfrm>
          <a:prstGeom prst="roundRect">
            <a:avLst>
              <a:gd name="adj" fmla="val 20000"/>
            </a:avLst>
          </a:prstGeom>
          <a:solidFill>
            <a:srgbClr val="FDF3D8"/>
          </a:solidFill>
          <a:ln>
            <a:noFill/>
          </a:ln>
        </p:spPr>
        <p:txBody>
          <a:bodyPr rtlCol="0" anchor="ctr"/>
          <a:lstStyle/>
          <a:p/>
        </p:txBody>
      </p:sp>
      <p:sp>
        <p:nvSpPr>
          <p:cNvPr id="134" name="TextBox 133"/>
          <p:cNvSpPr txBox="1"/>
          <p:nvPr/>
        </p:nvSpPr>
        <p:spPr>
          <a:xfrm>
            <a:off x="6812279" y="2724912"/>
            <a:ext cx="1188720" cy="201168"/>
          </a:xfrm>
          <a:prstGeom prst="rect">
            <a:avLst/>
          </a:prstGeom>
          <a:noFill/>
        </p:spPr>
        <p:txBody>
          <a:bodyPr wrap="square" lIns="0" rIns="0" tIns="0" bIns="0" anchor="t">
            <a:spAutoFit/>
          </a:bodyPr>
          <a:lstStyle/>
          <a:p>
            <a:pPr algn="l">
              <a:spcAft>
                <a:spcPts val="0"/>
              </a:spcAft>
            </a:pPr>
            <a:r>
              <a:rPr sz="800" b="0" i="0">
                <a:solidFill>
                  <a:srgbClr val="5B6B70"/>
                </a:solidFill>
                <a:latin typeface="Google Sans Flex"/>
              </a:rPr>
              <a:t>Deterministic code</a:t>
            </a:r>
          </a:p>
        </p:txBody>
      </p:sp>
      <p:sp>
        <p:nvSpPr>
          <p:cNvPr id="135" name="Source"/>
          <p:cNvSpPr txBox="1"/>
          <p:nvPr/>
        </p:nvSpPr>
        <p:spPr>
          <a:xfrm>
            <a:off x="265176" y="4690872"/>
            <a:ext cx="8595360" cy="329184"/>
          </a:xfrm>
          <a:prstGeom prst="rect">
            <a:avLst/>
          </a:prstGeom>
          <a:noFill/>
        </p:spPr>
        <p:txBody>
          <a:bodyPr wrap="square" lIns="0" rIns="0" tIns="0" bIns="0" anchor="b">
            <a:spAutoFit/>
          </a:bodyPr>
          <a:lstStyle/>
          <a:p>
            <a:pPr algn="l">
              <a:spcAft>
                <a:spcPts val="0"/>
              </a:spcAft>
            </a:pPr>
            <a:r>
              <a:rPr sz="750" b="0" i="0">
                <a:solidFill>
                  <a:srgbClr val="5B6B70"/>
                </a:solidFill>
                <a:latin typeface="Google Sans Flex"/>
              </a:rPr>
              <a:t>Specs 01, 03 and 05 in docs/specs/; ADR-0004 (AI publishes, humans remove). The model can raise urgency but never lower it below a red flag.</a:t>
            </a: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pic>
        <p:nvPicPr>
          <p:cNvPr id="100" name="Google Shape;100;p19"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01" name="Google Shape;101;p19"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02" name="Google Shape;102;p19"/>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3" name="Google Shape;103;p19"/>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Wireframes/Mock diagrams of the proposed solution</a:t>
            </a:r>
            <a:endParaRPr sz="1600">
              <a:latin typeface="Google Sans Flex Medium"/>
              <a:ea typeface="Google Sans Flex Medium"/>
              <a:cs typeface="Google Sans Flex Medium"/>
              <a:sym typeface="Google Sans Flex Medium"/>
            </a:endParaRPr>
          </a:p>
        </p:txBody>
      </p:sp>
      <p:sp>
        <p:nvSpPr>
          <p:cNvPr id="104" name="Action title"/>
          <p:cNvSpPr txBox="1"/>
          <p:nvPr/>
        </p:nvSpPr>
        <p:spPr>
          <a:xfrm>
            <a:off x="265176" y="1024128"/>
            <a:ext cx="8595360" cy="566928"/>
          </a:xfrm>
          <a:prstGeom prst="rect">
            <a:avLst/>
          </a:prstGeom>
          <a:noFill/>
        </p:spPr>
        <p:txBody>
          <a:bodyPr wrap="square" lIns="0" rIns="0" tIns="0" bIns="0" anchor="t">
            <a:spAutoFit/>
          </a:bodyPr>
          <a:lstStyle/>
          <a:p>
            <a:pPr algn="l">
              <a:lnSpc>
                <a:spcPct val="100000"/>
              </a:lnSpc>
              <a:spcAft>
                <a:spcPts val="0"/>
              </a:spcAft>
            </a:pPr>
            <a:r>
              <a:rPr sz="1900" b="1" i="0">
                <a:solidFill>
                  <a:srgbClr val="172427"/>
                </a:solidFill>
                <a:latin typeface="Google Sans Flex"/>
              </a:rPr>
              <a:t>Mobile-first: one screen asks, one answers, one shows where to go</a:t>
            </a:r>
          </a:p>
        </p:txBody>
      </p:sp>
      <p:sp>
        <p:nvSpPr>
          <p:cNvPr id="105" name="Rounded Rectangle 104"/>
          <p:cNvSpPr/>
          <p:nvPr/>
        </p:nvSpPr>
        <p:spPr>
          <a:xfrm>
            <a:off x="685800" y="1691639"/>
            <a:ext cx="1417320" cy="2578608"/>
          </a:xfrm>
          <a:prstGeom prst="roundRect">
            <a:avLst>
              <a:gd name="adj" fmla="val 12000"/>
            </a:avLst>
          </a:prstGeom>
          <a:solidFill>
            <a:srgbClr val="FFFFFF"/>
          </a:solidFill>
          <a:ln w="15875">
            <a:solidFill>
              <a:srgbClr val="5B6B70"/>
            </a:solidFill>
          </a:ln>
        </p:spPr>
        <p:txBody>
          <a:bodyPr rtlCol="0" anchor="ctr"/>
          <a:lstStyle/>
          <a:p/>
        </p:txBody>
      </p:sp>
      <p:sp>
        <p:nvSpPr>
          <p:cNvPr id="106" name="Rounded Rectangle 105"/>
          <p:cNvSpPr/>
          <p:nvPr/>
        </p:nvSpPr>
        <p:spPr>
          <a:xfrm>
            <a:off x="1188720" y="1764792"/>
            <a:ext cx="411479" cy="45720"/>
          </a:xfrm>
          <a:prstGeom prst="roundRect">
            <a:avLst>
              <a:gd name="adj" fmla="val 50000"/>
            </a:avLst>
          </a:prstGeom>
          <a:solidFill>
            <a:srgbClr val="D5DDDF"/>
          </a:solidFill>
          <a:ln>
            <a:noFill/>
          </a:ln>
        </p:spPr>
        <p:txBody>
          <a:bodyPr rtlCol="0" anchor="ctr"/>
          <a:lstStyle/>
          <a:p/>
        </p:txBody>
      </p:sp>
      <p:sp>
        <p:nvSpPr>
          <p:cNvPr id="107" name="Rounded Rectangle 106"/>
          <p:cNvSpPr/>
          <p:nvPr/>
        </p:nvSpPr>
        <p:spPr>
          <a:xfrm>
            <a:off x="795528" y="1938527"/>
            <a:ext cx="548640" cy="64008"/>
          </a:xfrm>
          <a:prstGeom prst="roundRect">
            <a:avLst>
              <a:gd name="adj" fmla="val 50000"/>
            </a:avLst>
          </a:prstGeom>
          <a:solidFill>
            <a:srgbClr val="0B6E6A"/>
          </a:solidFill>
          <a:ln>
            <a:noFill/>
          </a:ln>
        </p:spPr>
        <p:txBody>
          <a:bodyPr rtlCol="0" anchor="ctr"/>
          <a:lstStyle/>
          <a:p/>
        </p:txBody>
      </p:sp>
      <p:sp>
        <p:nvSpPr>
          <p:cNvPr id="108" name="Rounded Rectangle 107"/>
          <p:cNvSpPr/>
          <p:nvPr/>
        </p:nvSpPr>
        <p:spPr>
          <a:xfrm>
            <a:off x="795528" y="2167127"/>
            <a:ext cx="1197864" cy="109728"/>
          </a:xfrm>
          <a:prstGeom prst="roundRect">
            <a:avLst>
              <a:gd name="adj" fmla="val 50000"/>
            </a:avLst>
          </a:prstGeom>
          <a:solidFill>
            <a:srgbClr val="172427"/>
          </a:solidFill>
          <a:ln>
            <a:noFill/>
          </a:ln>
        </p:spPr>
        <p:txBody>
          <a:bodyPr rtlCol="0" anchor="ctr"/>
          <a:lstStyle/>
          <a:p/>
        </p:txBody>
      </p:sp>
      <p:sp>
        <p:nvSpPr>
          <p:cNvPr id="109" name="Rounded Rectangle 108"/>
          <p:cNvSpPr/>
          <p:nvPr/>
        </p:nvSpPr>
        <p:spPr>
          <a:xfrm>
            <a:off x="795528" y="2331720"/>
            <a:ext cx="838504" cy="109728"/>
          </a:xfrm>
          <a:prstGeom prst="roundRect">
            <a:avLst>
              <a:gd name="adj" fmla="val 50000"/>
            </a:avLst>
          </a:prstGeom>
          <a:solidFill>
            <a:srgbClr val="172427"/>
          </a:solidFill>
          <a:ln>
            <a:noFill/>
          </a:ln>
        </p:spPr>
        <p:txBody>
          <a:bodyPr rtlCol="0" anchor="ctr"/>
          <a:lstStyle/>
          <a:p/>
        </p:txBody>
      </p:sp>
      <p:sp>
        <p:nvSpPr>
          <p:cNvPr id="110" name="Rounded Rectangle 109"/>
          <p:cNvSpPr/>
          <p:nvPr/>
        </p:nvSpPr>
        <p:spPr>
          <a:xfrm>
            <a:off x="795528" y="2551176"/>
            <a:ext cx="1137970" cy="64008"/>
          </a:xfrm>
          <a:prstGeom prst="roundRect">
            <a:avLst>
              <a:gd name="adj" fmla="val 50000"/>
            </a:avLst>
          </a:prstGeom>
          <a:solidFill>
            <a:srgbClr val="D5DDDF"/>
          </a:solidFill>
          <a:ln>
            <a:noFill/>
          </a:ln>
        </p:spPr>
        <p:txBody>
          <a:bodyPr rtlCol="0" anchor="ctr"/>
          <a:lstStyle/>
          <a:p/>
        </p:txBody>
      </p:sp>
      <p:sp>
        <p:nvSpPr>
          <p:cNvPr id="111" name="Rounded Rectangle 110"/>
          <p:cNvSpPr/>
          <p:nvPr/>
        </p:nvSpPr>
        <p:spPr>
          <a:xfrm>
            <a:off x="795528" y="2660904"/>
            <a:ext cx="1018184" cy="64008"/>
          </a:xfrm>
          <a:prstGeom prst="roundRect">
            <a:avLst>
              <a:gd name="adj" fmla="val 50000"/>
            </a:avLst>
          </a:prstGeom>
          <a:solidFill>
            <a:srgbClr val="D5DDDF"/>
          </a:solidFill>
          <a:ln>
            <a:noFill/>
          </a:ln>
        </p:spPr>
        <p:txBody>
          <a:bodyPr rtlCol="0" anchor="ctr"/>
          <a:lstStyle/>
          <a:p/>
        </p:txBody>
      </p:sp>
      <p:sp>
        <p:nvSpPr>
          <p:cNvPr id="112" name="Rounded Rectangle 111"/>
          <p:cNvSpPr/>
          <p:nvPr/>
        </p:nvSpPr>
        <p:spPr>
          <a:xfrm>
            <a:off x="795528" y="2770632"/>
            <a:ext cx="898398" cy="64008"/>
          </a:xfrm>
          <a:prstGeom prst="roundRect">
            <a:avLst>
              <a:gd name="adj" fmla="val 50000"/>
            </a:avLst>
          </a:prstGeom>
          <a:solidFill>
            <a:srgbClr val="D5DDDF"/>
          </a:solidFill>
          <a:ln>
            <a:noFill/>
          </a:ln>
        </p:spPr>
        <p:txBody>
          <a:bodyPr rtlCol="0" anchor="ctr"/>
          <a:lstStyle/>
          <a:p/>
        </p:txBody>
      </p:sp>
      <p:sp>
        <p:nvSpPr>
          <p:cNvPr id="113" name="Rounded Rectangle 112"/>
          <p:cNvSpPr/>
          <p:nvPr/>
        </p:nvSpPr>
        <p:spPr>
          <a:xfrm>
            <a:off x="795528" y="2944368"/>
            <a:ext cx="1197864" cy="566928"/>
          </a:xfrm>
          <a:prstGeom prst="roundRect">
            <a:avLst>
              <a:gd name="adj" fmla="val 8000"/>
            </a:avLst>
          </a:prstGeom>
          <a:solidFill>
            <a:srgbClr val="FFFFFF"/>
          </a:solidFill>
          <a:ln w="9525">
            <a:solidFill>
              <a:srgbClr val="D5DDDF"/>
            </a:solidFill>
          </a:ln>
        </p:spPr>
        <p:txBody>
          <a:bodyPr rtlCol="0" anchor="ctr"/>
          <a:lstStyle/>
          <a:p/>
        </p:txBody>
      </p:sp>
      <p:sp>
        <p:nvSpPr>
          <p:cNvPr id="114" name="TextBox 113"/>
          <p:cNvSpPr txBox="1"/>
          <p:nvPr/>
        </p:nvSpPr>
        <p:spPr>
          <a:xfrm>
            <a:off x="850392" y="2990087"/>
            <a:ext cx="1106424" cy="274320"/>
          </a:xfrm>
          <a:prstGeom prst="rect">
            <a:avLst/>
          </a:prstGeom>
          <a:noFill/>
        </p:spPr>
        <p:txBody>
          <a:bodyPr wrap="square" lIns="0" rIns="0" tIns="0" bIns="0" anchor="t">
            <a:spAutoFit/>
          </a:bodyPr>
          <a:lstStyle/>
          <a:p>
            <a:pPr algn="l">
              <a:spcAft>
                <a:spcPts val="0"/>
              </a:spcAft>
            </a:pPr>
            <a:r>
              <a:rPr sz="650" b="0" i="0">
                <a:solidFill>
                  <a:srgbClr val="5B6B70"/>
                </a:solidFill>
                <a:latin typeface="Google Sans Flex"/>
              </a:rPr>
              <a:t>Ceritakan keluhan gigi Anda</a:t>
            </a:r>
          </a:p>
        </p:txBody>
      </p:sp>
      <p:sp>
        <p:nvSpPr>
          <p:cNvPr id="115" name="Rounded Rectangle 114"/>
          <p:cNvSpPr/>
          <p:nvPr/>
        </p:nvSpPr>
        <p:spPr>
          <a:xfrm>
            <a:off x="795528" y="3611879"/>
            <a:ext cx="1197864" cy="219456"/>
          </a:xfrm>
          <a:prstGeom prst="roundRect">
            <a:avLst>
              <a:gd name="adj" fmla="val 30000"/>
            </a:avLst>
          </a:prstGeom>
          <a:solidFill>
            <a:srgbClr val="0B6E6A"/>
          </a:solidFill>
          <a:ln>
            <a:noFill/>
          </a:ln>
        </p:spPr>
        <p:txBody>
          <a:bodyPr rtlCol="0" anchor="ctr" wrap="square" lIns="73152" rIns="73152" tIns="36576" bIns="36576"/>
          <a:lstStyle/>
          <a:p>
            <a:pPr algn="ctr"/>
            <a:r>
              <a:rPr sz="700" b="1" i="0">
                <a:solidFill>
                  <a:srgbClr val="FFFFFF"/>
                </a:solidFill>
                <a:latin typeface="Google Sans Flex"/>
              </a:rPr>
              <a:t>Lihat panduan</a:t>
            </a:r>
          </a:p>
        </p:txBody>
      </p:sp>
      <p:sp>
        <p:nvSpPr>
          <p:cNvPr id="116" name="Rounded Rectangle 115"/>
          <p:cNvSpPr/>
          <p:nvPr/>
        </p:nvSpPr>
        <p:spPr>
          <a:xfrm>
            <a:off x="795528" y="3886200"/>
            <a:ext cx="1197864" cy="219456"/>
          </a:xfrm>
          <a:prstGeom prst="roundRect">
            <a:avLst>
              <a:gd name="adj" fmla="val 30000"/>
            </a:avLst>
          </a:prstGeom>
          <a:solidFill>
            <a:srgbClr val="FFFFFF"/>
          </a:solidFill>
          <a:ln w="9525">
            <a:solidFill>
              <a:srgbClr val="0B6E6A"/>
            </a:solidFill>
          </a:ln>
        </p:spPr>
        <p:txBody>
          <a:bodyPr rtlCol="0" anchor="ctr" wrap="square" lIns="73152" rIns="73152" tIns="36576" bIns="36576"/>
          <a:lstStyle/>
          <a:p>
            <a:pPr algn="ctr"/>
            <a:r>
              <a:rPr sz="700" b="1" i="0">
                <a:solidFill>
                  <a:srgbClr val="0B6E6A"/>
                </a:solidFill>
                <a:latin typeface="Google Sans Flex"/>
              </a:rPr>
              <a:t>Rekam pesan suara</a:t>
            </a:r>
          </a:p>
        </p:txBody>
      </p:sp>
      <p:sp>
        <p:nvSpPr>
          <p:cNvPr id="117" name="Rounded Rectangle 116"/>
          <p:cNvSpPr/>
          <p:nvPr/>
        </p:nvSpPr>
        <p:spPr>
          <a:xfrm>
            <a:off x="3611880" y="1691639"/>
            <a:ext cx="1417320" cy="2578608"/>
          </a:xfrm>
          <a:prstGeom prst="roundRect">
            <a:avLst>
              <a:gd name="adj" fmla="val 12000"/>
            </a:avLst>
          </a:prstGeom>
          <a:solidFill>
            <a:srgbClr val="FFFFFF"/>
          </a:solidFill>
          <a:ln w="15875">
            <a:solidFill>
              <a:srgbClr val="5B6B70"/>
            </a:solidFill>
          </a:ln>
        </p:spPr>
        <p:txBody>
          <a:bodyPr rtlCol="0" anchor="ctr"/>
          <a:lstStyle/>
          <a:p/>
        </p:txBody>
      </p:sp>
      <p:sp>
        <p:nvSpPr>
          <p:cNvPr id="118" name="Rounded Rectangle 117"/>
          <p:cNvSpPr/>
          <p:nvPr/>
        </p:nvSpPr>
        <p:spPr>
          <a:xfrm>
            <a:off x="4114800" y="1764792"/>
            <a:ext cx="411479" cy="45720"/>
          </a:xfrm>
          <a:prstGeom prst="roundRect">
            <a:avLst>
              <a:gd name="adj" fmla="val 50000"/>
            </a:avLst>
          </a:prstGeom>
          <a:solidFill>
            <a:srgbClr val="D5DDDF"/>
          </a:solidFill>
          <a:ln>
            <a:noFill/>
          </a:ln>
        </p:spPr>
        <p:txBody>
          <a:bodyPr rtlCol="0" anchor="ctr"/>
          <a:lstStyle/>
          <a:p/>
        </p:txBody>
      </p:sp>
      <p:sp>
        <p:nvSpPr>
          <p:cNvPr id="119" name="Rounded Rectangle 118"/>
          <p:cNvSpPr/>
          <p:nvPr/>
        </p:nvSpPr>
        <p:spPr>
          <a:xfrm>
            <a:off x="3721608" y="1938527"/>
            <a:ext cx="898398" cy="91440"/>
          </a:xfrm>
          <a:prstGeom prst="roundRect">
            <a:avLst>
              <a:gd name="adj" fmla="val 50000"/>
            </a:avLst>
          </a:prstGeom>
          <a:solidFill>
            <a:srgbClr val="172427"/>
          </a:solidFill>
          <a:ln>
            <a:noFill/>
          </a:ln>
        </p:spPr>
        <p:txBody>
          <a:bodyPr rtlCol="0" anchor="ctr"/>
          <a:lstStyle/>
          <a:p/>
        </p:txBody>
      </p:sp>
      <p:sp>
        <p:nvSpPr>
          <p:cNvPr id="120" name="Rounded Rectangle 119"/>
          <p:cNvSpPr/>
          <p:nvPr/>
        </p:nvSpPr>
        <p:spPr>
          <a:xfrm>
            <a:off x="3721608" y="2121408"/>
            <a:ext cx="1197864" cy="347472"/>
          </a:xfrm>
          <a:prstGeom prst="roundRect">
            <a:avLst>
              <a:gd name="adj" fmla="val 10000"/>
            </a:avLst>
          </a:prstGeom>
          <a:solidFill>
            <a:srgbClr val="FDF3D8"/>
          </a:solidFill>
          <a:ln>
            <a:noFill/>
          </a:ln>
        </p:spPr>
        <p:txBody>
          <a:bodyPr rtlCol="0" anchor="ctr" wrap="square" lIns="73152" rIns="73152" tIns="36576" bIns="36576"/>
          <a:lstStyle/>
          <a:p>
            <a:pPr algn="l"/>
            <a:r>
              <a:rPr sz="700" b="1" i="0">
                <a:solidFill>
                  <a:srgbClr val="172427"/>
                </a:solidFill>
                <a:latin typeface="Google Sans Flex"/>
              </a:rPr>
              <a:t>Segera: 1 to 3 days</a:t>
            </a:r>
          </a:p>
        </p:txBody>
      </p:sp>
      <p:sp>
        <p:nvSpPr>
          <p:cNvPr id="121" name="Rounded Rectangle 120"/>
          <p:cNvSpPr/>
          <p:nvPr/>
        </p:nvSpPr>
        <p:spPr>
          <a:xfrm>
            <a:off x="3730752" y="2532887"/>
            <a:ext cx="262890" cy="45720"/>
          </a:xfrm>
          <a:prstGeom prst="roundRect">
            <a:avLst>
              <a:gd name="adj" fmla="val 50000"/>
            </a:avLst>
          </a:prstGeom>
          <a:solidFill>
            <a:srgbClr val="D5DDDF"/>
          </a:solidFill>
          <a:ln>
            <a:noFill/>
          </a:ln>
        </p:spPr>
        <p:txBody>
          <a:bodyPr rtlCol="0" anchor="ctr"/>
          <a:lstStyle/>
          <a:p/>
        </p:txBody>
      </p:sp>
      <p:sp>
        <p:nvSpPr>
          <p:cNvPr id="122" name="Rounded Rectangle 121"/>
          <p:cNvSpPr/>
          <p:nvPr/>
        </p:nvSpPr>
        <p:spPr>
          <a:xfrm>
            <a:off x="4030218" y="2532887"/>
            <a:ext cx="262890" cy="45720"/>
          </a:xfrm>
          <a:prstGeom prst="roundRect">
            <a:avLst>
              <a:gd name="adj" fmla="val 50000"/>
            </a:avLst>
          </a:prstGeom>
          <a:solidFill>
            <a:srgbClr val="D5DDDF"/>
          </a:solidFill>
          <a:ln>
            <a:noFill/>
          </a:ln>
        </p:spPr>
        <p:txBody>
          <a:bodyPr rtlCol="0" anchor="ctr"/>
          <a:lstStyle/>
          <a:p/>
        </p:txBody>
      </p:sp>
      <p:sp>
        <p:nvSpPr>
          <p:cNvPr id="123" name="Rounded Rectangle 122"/>
          <p:cNvSpPr/>
          <p:nvPr/>
        </p:nvSpPr>
        <p:spPr>
          <a:xfrm>
            <a:off x="4329684" y="2532887"/>
            <a:ext cx="262890" cy="45720"/>
          </a:xfrm>
          <a:prstGeom prst="roundRect">
            <a:avLst>
              <a:gd name="adj" fmla="val 50000"/>
            </a:avLst>
          </a:prstGeom>
          <a:solidFill>
            <a:srgbClr val="D98E04"/>
          </a:solidFill>
          <a:ln>
            <a:noFill/>
          </a:ln>
        </p:spPr>
        <p:txBody>
          <a:bodyPr rtlCol="0" anchor="ctr"/>
          <a:lstStyle/>
          <a:p/>
        </p:txBody>
      </p:sp>
      <p:sp>
        <p:nvSpPr>
          <p:cNvPr id="124" name="Rounded Rectangle 123"/>
          <p:cNvSpPr/>
          <p:nvPr/>
        </p:nvSpPr>
        <p:spPr>
          <a:xfrm>
            <a:off x="4629150" y="2532887"/>
            <a:ext cx="262890" cy="45720"/>
          </a:xfrm>
          <a:prstGeom prst="roundRect">
            <a:avLst>
              <a:gd name="adj" fmla="val 50000"/>
            </a:avLst>
          </a:prstGeom>
          <a:solidFill>
            <a:srgbClr val="D5DDDF"/>
          </a:solidFill>
          <a:ln>
            <a:noFill/>
          </a:ln>
        </p:spPr>
        <p:txBody>
          <a:bodyPr rtlCol="0" anchor="ctr"/>
          <a:lstStyle/>
          <a:p/>
        </p:txBody>
      </p:sp>
      <p:sp>
        <p:nvSpPr>
          <p:cNvPr id="125" name="TextBox 124"/>
          <p:cNvSpPr txBox="1"/>
          <p:nvPr/>
        </p:nvSpPr>
        <p:spPr>
          <a:xfrm>
            <a:off x="3721608" y="2642615"/>
            <a:ext cx="1197864" cy="164592"/>
          </a:xfrm>
          <a:prstGeom prst="rect">
            <a:avLst/>
          </a:prstGeom>
          <a:noFill/>
        </p:spPr>
        <p:txBody>
          <a:bodyPr wrap="square" lIns="0" rIns="0" tIns="0" bIns="0" anchor="t">
            <a:spAutoFit/>
          </a:bodyPr>
          <a:lstStyle/>
          <a:p>
            <a:pPr algn="l">
              <a:spcAft>
                <a:spcPts val="0"/>
              </a:spcAft>
            </a:pPr>
            <a:r>
              <a:rPr sz="650" b="1" i="0">
                <a:solidFill>
                  <a:srgbClr val="0B6E6A"/>
                </a:solidFill>
                <a:latin typeface="Google Sans Flex"/>
              </a:rPr>
              <a:t>Likely problem</a:t>
            </a:r>
          </a:p>
        </p:txBody>
      </p:sp>
      <p:sp>
        <p:nvSpPr>
          <p:cNvPr id="126" name="Rounded Rectangle 125"/>
          <p:cNvSpPr/>
          <p:nvPr/>
        </p:nvSpPr>
        <p:spPr>
          <a:xfrm>
            <a:off x="3721608" y="2825496"/>
            <a:ext cx="1078077" cy="64008"/>
          </a:xfrm>
          <a:prstGeom prst="roundRect">
            <a:avLst>
              <a:gd name="adj" fmla="val 50000"/>
            </a:avLst>
          </a:prstGeom>
          <a:solidFill>
            <a:srgbClr val="D5DDDF"/>
          </a:solidFill>
          <a:ln>
            <a:noFill/>
          </a:ln>
        </p:spPr>
        <p:txBody>
          <a:bodyPr rtlCol="0" anchor="ctr"/>
          <a:lstStyle/>
          <a:p/>
        </p:txBody>
      </p:sp>
      <p:sp>
        <p:nvSpPr>
          <p:cNvPr id="127" name="Rounded Rectangle 126"/>
          <p:cNvSpPr/>
          <p:nvPr/>
        </p:nvSpPr>
        <p:spPr>
          <a:xfrm>
            <a:off x="3721608" y="2935224"/>
            <a:ext cx="838504" cy="64008"/>
          </a:xfrm>
          <a:prstGeom prst="roundRect">
            <a:avLst>
              <a:gd name="adj" fmla="val 50000"/>
            </a:avLst>
          </a:prstGeom>
          <a:solidFill>
            <a:srgbClr val="D5DDDF"/>
          </a:solidFill>
          <a:ln>
            <a:noFill/>
          </a:ln>
        </p:spPr>
        <p:txBody>
          <a:bodyPr rtlCol="0" anchor="ctr"/>
          <a:lstStyle/>
          <a:p/>
        </p:txBody>
      </p:sp>
      <p:sp>
        <p:nvSpPr>
          <p:cNvPr id="128" name="TextBox 127"/>
          <p:cNvSpPr txBox="1"/>
          <p:nvPr/>
        </p:nvSpPr>
        <p:spPr>
          <a:xfrm>
            <a:off x="3721608" y="3063239"/>
            <a:ext cx="1197864" cy="164592"/>
          </a:xfrm>
          <a:prstGeom prst="rect">
            <a:avLst/>
          </a:prstGeom>
          <a:noFill/>
        </p:spPr>
        <p:txBody>
          <a:bodyPr wrap="square" lIns="0" rIns="0" tIns="0" bIns="0" anchor="t">
            <a:spAutoFit/>
          </a:bodyPr>
          <a:lstStyle/>
          <a:p>
            <a:pPr algn="l">
              <a:spcAft>
                <a:spcPts val="0"/>
              </a:spcAft>
            </a:pPr>
            <a:r>
              <a:rPr sz="650" b="1" i="0">
                <a:solidFill>
                  <a:srgbClr val="0B6E6A"/>
                </a:solidFill>
                <a:latin typeface="Google Sans Flex"/>
              </a:rPr>
              <a:t>Cost estimate</a:t>
            </a:r>
          </a:p>
        </p:txBody>
      </p:sp>
      <p:sp>
        <p:nvSpPr>
          <p:cNvPr id="129" name="Rounded Rectangle 128"/>
          <p:cNvSpPr/>
          <p:nvPr/>
        </p:nvSpPr>
        <p:spPr>
          <a:xfrm>
            <a:off x="3721608" y="3246120"/>
            <a:ext cx="1197864" cy="219456"/>
          </a:xfrm>
          <a:prstGeom prst="roundRect">
            <a:avLst>
              <a:gd name="adj" fmla="val 10000"/>
            </a:avLst>
          </a:prstGeom>
          <a:solidFill>
            <a:srgbClr val="F3F6F6"/>
          </a:solidFill>
          <a:ln>
            <a:noFill/>
          </a:ln>
        </p:spPr>
        <p:txBody>
          <a:bodyPr rtlCol="0" anchor="ctr"/>
          <a:lstStyle/>
          <a:p/>
        </p:txBody>
      </p:sp>
      <p:sp>
        <p:nvSpPr>
          <p:cNvPr id="130" name="Rounded Rectangle 129"/>
          <p:cNvSpPr/>
          <p:nvPr/>
        </p:nvSpPr>
        <p:spPr>
          <a:xfrm>
            <a:off x="3721608" y="3520439"/>
            <a:ext cx="1197864" cy="219456"/>
          </a:xfrm>
          <a:prstGeom prst="roundRect">
            <a:avLst>
              <a:gd name="adj" fmla="val 10000"/>
            </a:avLst>
          </a:prstGeom>
          <a:solidFill>
            <a:srgbClr val="F3F6F6"/>
          </a:solidFill>
          <a:ln>
            <a:noFill/>
          </a:ln>
        </p:spPr>
        <p:txBody>
          <a:bodyPr rtlCol="0" anchor="ctr"/>
          <a:lstStyle/>
          <a:p/>
        </p:txBody>
      </p:sp>
      <p:sp>
        <p:nvSpPr>
          <p:cNvPr id="131" name="TextBox 130"/>
          <p:cNvSpPr txBox="1"/>
          <p:nvPr/>
        </p:nvSpPr>
        <p:spPr>
          <a:xfrm>
            <a:off x="3721608" y="3794760"/>
            <a:ext cx="1197864" cy="164592"/>
          </a:xfrm>
          <a:prstGeom prst="rect">
            <a:avLst/>
          </a:prstGeom>
          <a:noFill/>
        </p:spPr>
        <p:txBody>
          <a:bodyPr wrap="square" lIns="0" rIns="0" tIns="0" bIns="0" anchor="t">
            <a:spAutoFit/>
          </a:bodyPr>
          <a:lstStyle/>
          <a:p>
            <a:pPr algn="l">
              <a:spcAft>
                <a:spcPts val="0"/>
              </a:spcAft>
            </a:pPr>
            <a:r>
              <a:rPr sz="650" b="1" i="0">
                <a:solidFill>
                  <a:srgbClr val="0B6E6A"/>
                </a:solidFill>
                <a:latin typeface="Google Sans Flex"/>
              </a:rPr>
              <a:t>BPJS Kesehatan</a:t>
            </a:r>
          </a:p>
        </p:txBody>
      </p:sp>
      <p:sp>
        <p:nvSpPr>
          <p:cNvPr id="132" name="Rounded Rectangle 131"/>
          <p:cNvSpPr/>
          <p:nvPr/>
        </p:nvSpPr>
        <p:spPr>
          <a:xfrm>
            <a:off x="3721608" y="3968496"/>
            <a:ext cx="1197864" cy="256032"/>
          </a:xfrm>
          <a:prstGeom prst="roundRect">
            <a:avLst>
              <a:gd name="adj" fmla="val 10000"/>
            </a:avLst>
          </a:prstGeom>
          <a:solidFill>
            <a:srgbClr val="E6F0FA"/>
          </a:solidFill>
          <a:ln>
            <a:noFill/>
          </a:ln>
        </p:spPr>
        <p:txBody>
          <a:bodyPr rtlCol="0" anchor="ctr"/>
          <a:lstStyle/>
          <a:p/>
        </p:txBody>
      </p:sp>
      <p:sp>
        <p:nvSpPr>
          <p:cNvPr id="133" name="Rounded Rectangle 132"/>
          <p:cNvSpPr/>
          <p:nvPr/>
        </p:nvSpPr>
        <p:spPr>
          <a:xfrm>
            <a:off x="6537960" y="1691639"/>
            <a:ext cx="1417320" cy="2578608"/>
          </a:xfrm>
          <a:prstGeom prst="roundRect">
            <a:avLst>
              <a:gd name="adj" fmla="val 12000"/>
            </a:avLst>
          </a:prstGeom>
          <a:solidFill>
            <a:srgbClr val="FFFFFF"/>
          </a:solidFill>
          <a:ln w="15875">
            <a:solidFill>
              <a:srgbClr val="5B6B70"/>
            </a:solidFill>
          </a:ln>
        </p:spPr>
        <p:txBody>
          <a:bodyPr rtlCol="0" anchor="ctr"/>
          <a:lstStyle/>
          <a:p/>
        </p:txBody>
      </p:sp>
      <p:sp>
        <p:nvSpPr>
          <p:cNvPr id="134" name="Rounded Rectangle 133"/>
          <p:cNvSpPr/>
          <p:nvPr/>
        </p:nvSpPr>
        <p:spPr>
          <a:xfrm>
            <a:off x="7040880" y="1764792"/>
            <a:ext cx="411479" cy="45720"/>
          </a:xfrm>
          <a:prstGeom prst="roundRect">
            <a:avLst>
              <a:gd name="adj" fmla="val 50000"/>
            </a:avLst>
          </a:prstGeom>
          <a:solidFill>
            <a:srgbClr val="D5DDDF"/>
          </a:solidFill>
          <a:ln>
            <a:noFill/>
          </a:ln>
        </p:spPr>
        <p:txBody>
          <a:bodyPr rtlCol="0" anchor="ctr"/>
          <a:lstStyle/>
          <a:p/>
        </p:txBody>
      </p:sp>
      <p:sp>
        <p:nvSpPr>
          <p:cNvPr id="135" name="Rounded Rectangle 134"/>
          <p:cNvSpPr/>
          <p:nvPr/>
        </p:nvSpPr>
        <p:spPr>
          <a:xfrm>
            <a:off x="6647688" y="1938527"/>
            <a:ext cx="958291" cy="91440"/>
          </a:xfrm>
          <a:prstGeom prst="roundRect">
            <a:avLst>
              <a:gd name="adj" fmla="val 50000"/>
            </a:avLst>
          </a:prstGeom>
          <a:solidFill>
            <a:srgbClr val="172427"/>
          </a:solidFill>
          <a:ln>
            <a:noFill/>
          </a:ln>
        </p:spPr>
        <p:txBody>
          <a:bodyPr rtlCol="0" anchor="ctr"/>
          <a:lstStyle/>
          <a:p/>
        </p:txBody>
      </p:sp>
      <p:sp>
        <p:nvSpPr>
          <p:cNvPr id="136" name="Rounded Rectangle 135"/>
          <p:cNvSpPr/>
          <p:nvPr/>
        </p:nvSpPr>
        <p:spPr>
          <a:xfrm>
            <a:off x="6647688" y="2148839"/>
            <a:ext cx="1197864" cy="621792"/>
          </a:xfrm>
          <a:prstGeom prst="roundRect">
            <a:avLst>
              <a:gd name="adj" fmla="val 8000"/>
            </a:avLst>
          </a:prstGeom>
          <a:solidFill>
            <a:srgbClr val="F3F6F6"/>
          </a:solidFill>
          <a:ln>
            <a:noFill/>
          </a:ln>
        </p:spPr>
        <p:txBody>
          <a:bodyPr rtlCol="0" anchor="ctr"/>
          <a:lstStyle/>
          <a:p/>
        </p:txBody>
      </p:sp>
      <p:sp>
        <p:nvSpPr>
          <p:cNvPr id="137" name="Rounded Rectangle 136"/>
          <p:cNvSpPr/>
          <p:nvPr/>
        </p:nvSpPr>
        <p:spPr>
          <a:xfrm>
            <a:off x="6711696" y="2221991"/>
            <a:ext cx="718718" cy="73152"/>
          </a:xfrm>
          <a:prstGeom prst="roundRect">
            <a:avLst>
              <a:gd name="adj" fmla="val 50000"/>
            </a:avLst>
          </a:prstGeom>
          <a:solidFill>
            <a:srgbClr val="172427"/>
          </a:solidFill>
          <a:ln>
            <a:noFill/>
          </a:ln>
        </p:spPr>
        <p:txBody>
          <a:bodyPr rtlCol="0" anchor="ctr"/>
          <a:lstStyle/>
          <a:p/>
        </p:txBody>
      </p:sp>
      <p:sp>
        <p:nvSpPr>
          <p:cNvPr id="138" name="Rounded Rectangle 137"/>
          <p:cNvSpPr/>
          <p:nvPr/>
        </p:nvSpPr>
        <p:spPr>
          <a:xfrm>
            <a:off x="6711696" y="2350008"/>
            <a:ext cx="958291" cy="64008"/>
          </a:xfrm>
          <a:prstGeom prst="roundRect">
            <a:avLst>
              <a:gd name="adj" fmla="val 50000"/>
            </a:avLst>
          </a:prstGeom>
          <a:solidFill>
            <a:srgbClr val="D5DDDF"/>
          </a:solidFill>
          <a:ln>
            <a:noFill/>
          </a:ln>
        </p:spPr>
        <p:txBody>
          <a:bodyPr rtlCol="0" anchor="ctr"/>
          <a:lstStyle/>
          <a:p/>
        </p:txBody>
      </p:sp>
      <p:sp>
        <p:nvSpPr>
          <p:cNvPr id="139" name="Rounded Rectangle 138"/>
          <p:cNvSpPr/>
          <p:nvPr/>
        </p:nvSpPr>
        <p:spPr>
          <a:xfrm>
            <a:off x="6711696" y="2514599"/>
            <a:ext cx="457200" cy="164592"/>
          </a:xfrm>
          <a:prstGeom prst="roundRect">
            <a:avLst>
              <a:gd name="adj" fmla="val 30000"/>
            </a:avLst>
          </a:prstGeom>
          <a:solidFill>
            <a:srgbClr val="0B6E6A"/>
          </a:solidFill>
          <a:ln>
            <a:noFill/>
          </a:ln>
        </p:spPr>
        <p:txBody>
          <a:bodyPr rtlCol="0" anchor="ctr" wrap="square" lIns="0" rIns="0" tIns="36576" bIns="36576"/>
          <a:lstStyle/>
          <a:p>
            <a:pPr algn="ctr"/>
            <a:r>
              <a:rPr sz="600" b="1" i="0">
                <a:solidFill>
                  <a:srgbClr val="FFFFFF"/>
                </a:solidFill>
                <a:latin typeface="Google Sans Flex"/>
              </a:rPr>
              <a:t>Lihat</a:t>
            </a:r>
          </a:p>
        </p:txBody>
      </p:sp>
      <p:sp>
        <p:nvSpPr>
          <p:cNvPr id="140" name="Rounded Rectangle 139"/>
          <p:cNvSpPr/>
          <p:nvPr/>
        </p:nvSpPr>
        <p:spPr>
          <a:xfrm>
            <a:off x="7214616" y="2514599"/>
            <a:ext cx="548640" cy="164592"/>
          </a:xfrm>
          <a:prstGeom prst="roundRect">
            <a:avLst>
              <a:gd name="adj" fmla="val 30000"/>
            </a:avLst>
          </a:prstGeom>
          <a:solidFill>
            <a:srgbClr val="FFFFFF"/>
          </a:solidFill>
          <a:ln w="9525">
            <a:solidFill>
              <a:srgbClr val="0B6E6A"/>
            </a:solidFill>
          </a:ln>
        </p:spPr>
        <p:txBody>
          <a:bodyPr rtlCol="0" anchor="ctr" wrap="square" lIns="0" rIns="0" tIns="36576" bIns="36576"/>
          <a:lstStyle/>
          <a:p>
            <a:pPr algn="ctr"/>
            <a:r>
              <a:rPr sz="600" b="1" i="0">
                <a:solidFill>
                  <a:srgbClr val="0B6E6A"/>
                </a:solidFill>
                <a:latin typeface="Google Sans Flex"/>
              </a:rPr>
              <a:t>Maps</a:t>
            </a:r>
          </a:p>
        </p:txBody>
      </p:sp>
      <p:sp>
        <p:nvSpPr>
          <p:cNvPr id="141" name="Rounded Rectangle 140"/>
          <p:cNvSpPr/>
          <p:nvPr/>
        </p:nvSpPr>
        <p:spPr>
          <a:xfrm>
            <a:off x="6647688" y="2843783"/>
            <a:ext cx="1197864" cy="621792"/>
          </a:xfrm>
          <a:prstGeom prst="roundRect">
            <a:avLst>
              <a:gd name="adj" fmla="val 8000"/>
            </a:avLst>
          </a:prstGeom>
          <a:solidFill>
            <a:srgbClr val="F3F6F6"/>
          </a:solidFill>
          <a:ln>
            <a:noFill/>
          </a:ln>
        </p:spPr>
        <p:txBody>
          <a:bodyPr rtlCol="0" anchor="ctr"/>
          <a:lstStyle/>
          <a:p/>
        </p:txBody>
      </p:sp>
      <p:sp>
        <p:nvSpPr>
          <p:cNvPr id="142" name="Rounded Rectangle 141"/>
          <p:cNvSpPr/>
          <p:nvPr/>
        </p:nvSpPr>
        <p:spPr>
          <a:xfrm>
            <a:off x="6711696" y="2916935"/>
            <a:ext cx="718718" cy="73152"/>
          </a:xfrm>
          <a:prstGeom prst="roundRect">
            <a:avLst>
              <a:gd name="adj" fmla="val 50000"/>
            </a:avLst>
          </a:prstGeom>
          <a:solidFill>
            <a:srgbClr val="172427"/>
          </a:solidFill>
          <a:ln>
            <a:noFill/>
          </a:ln>
        </p:spPr>
        <p:txBody>
          <a:bodyPr rtlCol="0" anchor="ctr"/>
          <a:lstStyle/>
          <a:p/>
        </p:txBody>
      </p:sp>
      <p:sp>
        <p:nvSpPr>
          <p:cNvPr id="143" name="Rounded Rectangle 142"/>
          <p:cNvSpPr/>
          <p:nvPr/>
        </p:nvSpPr>
        <p:spPr>
          <a:xfrm>
            <a:off x="6711696" y="3044951"/>
            <a:ext cx="958291" cy="64008"/>
          </a:xfrm>
          <a:prstGeom prst="roundRect">
            <a:avLst>
              <a:gd name="adj" fmla="val 50000"/>
            </a:avLst>
          </a:prstGeom>
          <a:solidFill>
            <a:srgbClr val="D5DDDF"/>
          </a:solidFill>
          <a:ln>
            <a:noFill/>
          </a:ln>
        </p:spPr>
        <p:txBody>
          <a:bodyPr rtlCol="0" anchor="ctr"/>
          <a:lstStyle/>
          <a:p/>
        </p:txBody>
      </p:sp>
      <p:sp>
        <p:nvSpPr>
          <p:cNvPr id="144" name="Rounded Rectangle 143"/>
          <p:cNvSpPr/>
          <p:nvPr/>
        </p:nvSpPr>
        <p:spPr>
          <a:xfrm>
            <a:off x="6711696" y="3209543"/>
            <a:ext cx="457200" cy="164592"/>
          </a:xfrm>
          <a:prstGeom prst="roundRect">
            <a:avLst>
              <a:gd name="adj" fmla="val 30000"/>
            </a:avLst>
          </a:prstGeom>
          <a:solidFill>
            <a:srgbClr val="0B6E6A"/>
          </a:solidFill>
          <a:ln>
            <a:noFill/>
          </a:ln>
        </p:spPr>
        <p:txBody>
          <a:bodyPr rtlCol="0" anchor="ctr" wrap="square" lIns="0" rIns="0" tIns="36576" bIns="36576"/>
          <a:lstStyle/>
          <a:p>
            <a:pPr algn="ctr"/>
            <a:r>
              <a:rPr sz="600" b="1" i="0">
                <a:solidFill>
                  <a:srgbClr val="FFFFFF"/>
                </a:solidFill>
                <a:latin typeface="Google Sans Flex"/>
              </a:rPr>
              <a:t>Lihat</a:t>
            </a:r>
          </a:p>
        </p:txBody>
      </p:sp>
      <p:sp>
        <p:nvSpPr>
          <p:cNvPr id="145" name="Rounded Rectangle 144"/>
          <p:cNvSpPr/>
          <p:nvPr/>
        </p:nvSpPr>
        <p:spPr>
          <a:xfrm>
            <a:off x="7214616" y="3209543"/>
            <a:ext cx="548640" cy="164592"/>
          </a:xfrm>
          <a:prstGeom prst="roundRect">
            <a:avLst>
              <a:gd name="adj" fmla="val 30000"/>
            </a:avLst>
          </a:prstGeom>
          <a:solidFill>
            <a:srgbClr val="FFFFFF"/>
          </a:solidFill>
          <a:ln w="9525">
            <a:solidFill>
              <a:srgbClr val="0B6E6A"/>
            </a:solidFill>
          </a:ln>
        </p:spPr>
        <p:txBody>
          <a:bodyPr rtlCol="0" anchor="ctr" wrap="square" lIns="0" rIns="0" tIns="36576" bIns="36576"/>
          <a:lstStyle/>
          <a:p>
            <a:pPr algn="ctr"/>
            <a:r>
              <a:rPr sz="600" b="1" i="0">
                <a:solidFill>
                  <a:srgbClr val="0B6E6A"/>
                </a:solidFill>
                <a:latin typeface="Google Sans Flex"/>
              </a:rPr>
              <a:t>Maps</a:t>
            </a:r>
          </a:p>
        </p:txBody>
      </p:sp>
      <p:sp>
        <p:nvSpPr>
          <p:cNvPr id="146" name="Rounded Rectangle 145"/>
          <p:cNvSpPr/>
          <p:nvPr/>
        </p:nvSpPr>
        <p:spPr>
          <a:xfrm>
            <a:off x="6647688" y="3538727"/>
            <a:ext cx="1197864" cy="621792"/>
          </a:xfrm>
          <a:prstGeom prst="roundRect">
            <a:avLst>
              <a:gd name="adj" fmla="val 8000"/>
            </a:avLst>
          </a:prstGeom>
          <a:solidFill>
            <a:srgbClr val="F3F6F6"/>
          </a:solidFill>
          <a:ln>
            <a:noFill/>
          </a:ln>
        </p:spPr>
        <p:txBody>
          <a:bodyPr rtlCol="0" anchor="ctr"/>
          <a:lstStyle/>
          <a:p/>
        </p:txBody>
      </p:sp>
      <p:sp>
        <p:nvSpPr>
          <p:cNvPr id="147" name="Rounded Rectangle 146"/>
          <p:cNvSpPr/>
          <p:nvPr/>
        </p:nvSpPr>
        <p:spPr>
          <a:xfrm>
            <a:off x="6711696" y="3611879"/>
            <a:ext cx="718718" cy="73152"/>
          </a:xfrm>
          <a:prstGeom prst="roundRect">
            <a:avLst>
              <a:gd name="adj" fmla="val 50000"/>
            </a:avLst>
          </a:prstGeom>
          <a:solidFill>
            <a:srgbClr val="172427"/>
          </a:solidFill>
          <a:ln>
            <a:noFill/>
          </a:ln>
        </p:spPr>
        <p:txBody>
          <a:bodyPr rtlCol="0" anchor="ctr"/>
          <a:lstStyle/>
          <a:p/>
        </p:txBody>
      </p:sp>
      <p:sp>
        <p:nvSpPr>
          <p:cNvPr id="148" name="Rounded Rectangle 147"/>
          <p:cNvSpPr/>
          <p:nvPr/>
        </p:nvSpPr>
        <p:spPr>
          <a:xfrm>
            <a:off x="6711696" y="3739896"/>
            <a:ext cx="958291" cy="64008"/>
          </a:xfrm>
          <a:prstGeom prst="roundRect">
            <a:avLst>
              <a:gd name="adj" fmla="val 50000"/>
            </a:avLst>
          </a:prstGeom>
          <a:solidFill>
            <a:srgbClr val="D5DDDF"/>
          </a:solidFill>
          <a:ln>
            <a:noFill/>
          </a:ln>
        </p:spPr>
        <p:txBody>
          <a:bodyPr rtlCol="0" anchor="ctr"/>
          <a:lstStyle/>
          <a:p/>
        </p:txBody>
      </p:sp>
      <p:sp>
        <p:nvSpPr>
          <p:cNvPr id="149" name="Rounded Rectangle 148"/>
          <p:cNvSpPr/>
          <p:nvPr/>
        </p:nvSpPr>
        <p:spPr>
          <a:xfrm>
            <a:off x="6711696" y="3904487"/>
            <a:ext cx="457200" cy="164592"/>
          </a:xfrm>
          <a:prstGeom prst="roundRect">
            <a:avLst>
              <a:gd name="adj" fmla="val 30000"/>
            </a:avLst>
          </a:prstGeom>
          <a:solidFill>
            <a:srgbClr val="0B6E6A"/>
          </a:solidFill>
          <a:ln>
            <a:noFill/>
          </a:ln>
        </p:spPr>
        <p:txBody>
          <a:bodyPr rtlCol="0" anchor="ctr" wrap="square" lIns="0" rIns="0" tIns="36576" bIns="36576"/>
          <a:lstStyle/>
          <a:p>
            <a:pPr algn="ctr"/>
            <a:r>
              <a:rPr sz="600" b="1" i="0">
                <a:solidFill>
                  <a:srgbClr val="FFFFFF"/>
                </a:solidFill>
                <a:latin typeface="Google Sans Flex"/>
              </a:rPr>
              <a:t>Lihat</a:t>
            </a:r>
          </a:p>
        </p:txBody>
      </p:sp>
      <p:sp>
        <p:nvSpPr>
          <p:cNvPr id="150" name="Rounded Rectangle 149"/>
          <p:cNvSpPr/>
          <p:nvPr/>
        </p:nvSpPr>
        <p:spPr>
          <a:xfrm>
            <a:off x="7214616" y="3904487"/>
            <a:ext cx="548640" cy="164592"/>
          </a:xfrm>
          <a:prstGeom prst="roundRect">
            <a:avLst>
              <a:gd name="adj" fmla="val 30000"/>
            </a:avLst>
          </a:prstGeom>
          <a:solidFill>
            <a:srgbClr val="FFFFFF"/>
          </a:solidFill>
          <a:ln w="9525">
            <a:solidFill>
              <a:srgbClr val="0B6E6A"/>
            </a:solidFill>
          </a:ln>
        </p:spPr>
        <p:txBody>
          <a:bodyPr rtlCol="0" anchor="ctr" wrap="square" lIns="0" rIns="0" tIns="36576" bIns="36576"/>
          <a:lstStyle/>
          <a:p>
            <a:pPr algn="ctr"/>
            <a:r>
              <a:rPr sz="600" b="1" i="0">
                <a:solidFill>
                  <a:srgbClr val="0B6E6A"/>
                </a:solidFill>
                <a:latin typeface="Google Sans Flex"/>
              </a:rPr>
              <a:t>Maps</a:t>
            </a:r>
          </a:p>
        </p:txBody>
      </p:sp>
      <p:cxnSp>
        <p:nvCxnSpPr>
          <p:cNvPr id="151" name="Connector 150"/>
          <p:cNvCxnSpPr/>
          <p:nvPr/>
        </p:nvCxnSpPr>
        <p:spPr>
          <a:xfrm>
            <a:off x="2194560" y="2971800"/>
            <a:ext cx="1325880" cy="0"/>
          </a:xfrm>
          <a:prstGeom prst="line">
            <a:avLst/>
          </a:prstGeom>
          <a:ln w="19050">
            <a:solidFill>
              <a:srgbClr val="0B6E6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52" name="Connector 151"/>
          <p:cNvCxnSpPr/>
          <p:nvPr/>
        </p:nvCxnSpPr>
        <p:spPr>
          <a:xfrm>
            <a:off x="5120640" y="2971800"/>
            <a:ext cx="1325880" cy="0"/>
          </a:xfrm>
          <a:prstGeom prst="line">
            <a:avLst/>
          </a:prstGeom>
          <a:ln w="19050">
            <a:solidFill>
              <a:srgbClr val="0B6E6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3" name="TextBox 152"/>
          <p:cNvSpPr txBox="1"/>
          <p:nvPr/>
        </p:nvSpPr>
        <p:spPr>
          <a:xfrm>
            <a:off x="411480" y="4279392"/>
            <a:ext cx="1965960" cy="384048"/>
          </a:xfrm>
          <a:prstGeom prst="rect">
            <a:avLst/>
          </a:prstGeom>
          <a:noFill/>
        </p:spPr>
        <p:txBody>
          <a:bodyPr wrap="square" lIns="0" rIns="0" tIns="0" bIns="0" anchor="t">
            <a:spAutoFit/>
          </a:bodyPr>
          <a:lstStyle/>
          <a:p>
            <a:pPr algn="l">
              <a:lnSpc>
                <a:spcPct val="100000"/>
              </a:lnSpc>
              <a:spcAft>
                <a:spcPts val="0"/>
              </a:spcAft>
            </a:pPr>
            <a:r>
              <a:rPr sz="850" b="1" i="0">
                <a:solidFill>
                  <a:srgbClr val="172427"/>
                </a:solidFill>
                <a:latin typeface="Google Sans Flex"/>
              </a:rPr>
              <a:t>Ask. </a:t>
            </a:r>
            <a:r>
              <a:rPr sz="850" b="0" i="0">
                <a:solidFill>
                  <a:srgbClr val="5B6B70"/>
                </a:solidFill>
                <a:latin typeface="Google Sans Flex"/>
              </a:rPr>
              <a:t>Free text or voice; disclaimer and no-storage notice up front.</a:t>
            </a:r>
          </a:p>
        </p:txBody>
      </p:sp>
      <p:sp>
        <p:nvSpPr>
          <p:cNvPr id="154" name="TextBox 153"/>
          <p:cNvSpPr txBox="1"/>
          <p:nvPr/>
        </p:nvSpPr>
        <p:spPr>
          <a:xfrm>
            <a:off x="3337560" y="4279392"/>
            <a:ext cx="1965960" cy="384048"/>
          </a:xfrm>
          <a:prstGeom prst="rect">
            <a:avLst/>
          </a:prstGeom>
          <a:noFill/>
        </p:spPr>
        <p:txBody>
          <a:bodyPr wrap="square" lIns="0" rIns="0" tIns="0" bIns="0" anchor="t">
            <a:spAutoFit/>
          </a:bodyPr>
          <a:lstStyle/>
          <a:p>
            <a:pPr algn="l">
              <a:lnSpc>
                <a:spcPct val="100000"/>
              </a:lnSpc>
              <a:spcAft>
                <a:spcPts val="0"/>
              </a:spcAft>
            </a:pPr>
            <a:r>
              <a:rPr sz="850" b="1" i="0">
                <a:solidFill>
                  <a:srgbClr val="172427"/>
                </a:solidFill>
                <a:latin typeface="Google Sans Flex"/>
              </a:rPr>
              <a:t>Answer. </a:t>
            </a:r>
            <a:r>
              <a:rPr sz="850" b="0" i="0">
                <a:solidFill>
                  <a:srgbClr val="5B6B70"/>
                </a:solidFill>
                <a:latin typeface="Google Sans Flex"/>
              </a:rPr>
              <a:t>Urgency first, then problem, visits, cost and BPJS, with sources.</a:t>
            </a:r>
          </a:p>
        </p:txBody>
      </p:sp>
      <p:sp>
        <p:nvSpPr>
          <p:cNvPr id="155" name="TextBox 154"/>
          <p:cNvSpPr txBox="1"/>
          <p:nvPr/>
        </p:nvSpPr>
        <p:spPr>
          <a:xfrm>
            <a:off x="6263640" y="4279392"/>
            <a:ext cx="1965960" cy="384048"/>
          </a:xfrm>
          <a:prstGeom prst="rect">
            <a:avLst/>
          </a:prstGeom>
          <a:noFill/>
        </p:spPr>
        <p:txBody>
          <a:bodyPr wrap="square" lIns="0" rIns="0" tIns="0" bIns="0" anchor="t">
            <a:spAutoFit/>
          </a:bodyPr>
          <a:lstStyle/>
          <a:p>
            <a:pPr algn="l">
              <a:lnSpc>
                <a:spcPct val="100000"/>
              </a:lnSpc>
              <a:spcAft>
                <a:spcPts val="0"/>
              </a:spcAft>
            </a:pPr>
            <a:r>
              <a:rPr sz="850" b="1" i="0">
                <a:solidFill>
                  <a:srgbClr val="172427"/>
                </a:solidFill>
                <a:latin typeface="Google Sans Flex"/>
              </a:rPr>
              <a:t>Go. </a:t>
            </a:r>
            <a:r>
              <a:rPr sz="850" b="0" i="0">
                <a:solidFill>
                  <a:srgbClr val="5B6B70"/>
                </a:solidFill>
                <a:latin typeface="Google Sans Flex"/>
              </a:rPr>
              <a:t>Shortlist cards end in two actions: the Provider page or Google Maps.</a:t>
            </a:r>
          </a:p>
        </p:txBody>
      </p:sp>
      <p:sp>
        <p:nvSpPr>
          <p:cNvPr id="156" name="Source"/>
          <p:cNvSpPr txBox="1"/>
          <p:nvPr/>
        </p:nvSpPr>
        <p:spPr>
          <a:xfrm>
            <a:off x="265176" y="4690872"/>
            <a:ext cx="8595360" cy="329184"/>
          </a:xfrm>
          <a:prstGeom prst="rect">
            <a:avLst/>
          </a:prstGeom>
          <a:noFill/>
        </p:spPr>
        <p:txBody>
          <a:bodyPr wrap="square" lIns="0" rIns="0" tIns="0" bIns="0" anchor="b">
            <a:spAutoFit/>
          </a:bodyPr>
          <a:lstStyle/>
          <a:p>
            <a:pPr algn="l">
              <a:spcAft>
                <a:spcPts val="0"/>
              </a:spcAft>
            </a:pPr>
            <a:r>
              <a:rPr sz="750" b="0" i="0">
                <a:solidFill>
                  <a:srgbClr val="5B6B70"/>
                </a:solidFill>
                <a:latin typeface="Google Sans Flex"/>
              </a:rPr>
              <a:t>Wireframes redrawn from the mockups in docs/design/mockups/html (Beranda, Panduan, Darurat, Tempat), built mobile-first at 360 px.</a:t>
            </a: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pic>
        <p:nvPicPr>
          <p:cNvPr id="108" name="Google Shape;108;p20"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09" name="Google Shape;109;p20"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10" name="Google Shape;110;p20"/>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1" name="Google Shape;111;p20"/>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Architecture diagram of the proposed solution</a:t>
            </a:r>
            <a:endParaRPr sz="1600">
              <a:latin typeface="Google Sans Flex Medium"/>
              <a:ea typeface="Google Sans Flex Medium"/>
              <a:cs typeface="Google Sans Flex Medium"/>
              <a:sym typeface="Google Sans Flex Medium"/>
            </a:endParaRPr>
          </a:p>
        </p:txBody>
      </p:sp>
      <p:sp>
        <p:nvSpPr>
          <p:cNvPr id="112" name="Action title"/>
          <p:cNvSpPr txBox="1"/>
          <p:nvPr/>
        </p:nvSpPr>
        <p:spPr>
          <a:xfrm>
            <a:off x="265176" y="1024128"/>
            <a:ext cx="8595360" cy="566928"/>
          </a:xfrm>
          <a:prstGeom prst="rect">
            <a:avLst/>
          </a:prstGeom>
          <a:noFill/>
        </p:spPr>
        <p:txBody>
          <a:bodyPr wrap="square" lIns="0" rIns="0" tIns="0" bIns="0" anchor="t">
            <a:spAutoFit/>
          </a:bodyPr>
          <a:lstStyle/>
          <a:p>
            <a:pPr algn="l">
              <a:lnSpc>
                <a:spcPct val="100000"/>
              </a:lnSpc>
              <a:spcAft>
                <a:spcPts val="0"/>
              </a:spcAft>
            </a:pPr>
            <a:r>
              <a:rPr sz="1900" b="1" i="0">
                <a:solidFill>
                  <a:srgbClr val="172427"/>
                </a:solidFill>
                <a:latin typeface="Google Sans Flex"/>
              </a:rPr>
              <a:t>Two Cloud Run services in Jakarta; only the private agent calls Gemini</a:t>
            </a:r>
          </a:p>
        </p:txBody>
      </p:sp>
      <p:sp>
        <p:nvSpPr>
          <p:cNvPr id="113" name="Rounded Rectangle 112"/>
          <p:cNvSpPr/>
          <p:nvPr/>
        </p:nvSpPr>
        <p:spPr>
          <a:xfrm>
            <a:off x="265176" y="2514600"/>
            <a:ext cx="1234440" cy="868680"/>
          </a:xfrm>
          <a:prstGeom prst="roundRect">
            <a:avLst>
              <a:gd name="adj" fmla="val 8000"/>
            </a:avLst>
          </a:prstGeom>
          <a:solidFill>
            <a:srgbClr val="F3F6F6"/>
          </a:solidFill>
          <a:ln>
            <a:noFill/>
          </a:ln>
        </p:spPr>
        <p:txBody>
          <a:bodyPr rtlCol="0" anchor="ctr" wrap="square" lIns="82296" rIns="82296" tIns="36576" bIns="36576"/>
          <a:lstStyle/>
          <a:p>
            <a:pPr algn="l"/>
            <a:r>
              <a:rPr sz="900" b="1" i="0">
                <a:solidFill>
                  <a:srgbClr val="172427"/>
                </a:solidFill>
                <a:latin typeface="Google Sans Flex"/>
              </a:rPr>
              <a:t>Patient or Provider</a:t>
            </a:r>
          </a:p>
          <a:p>
            <a:pPr algn="l"/>
            <a:r>
              <a:rPr sz="750" b="0" i="0">
                <a:solidFill>
                  <a:srgbClr val="5B6B70"/>
                </a:solidFill>
                <a:latin typeface="Google Sans Flex"/>
              </a:rPr>
              <a:t>Phone browser, Indonesian or English</a:t>
            </a:r>
          </a:p>
        </p:txBody>
      </p:sp>
      <p:sp>
        <p:nvSpPr>
          <p:cNvPr id="114" name="Rounded Rectangle 113"/>
          <p:cNvSpPr/>
          <p:nvPr/>
        </p:nvSpPr>
        <p:spPr>
          <a:xfrm>
            <a:off x="1783080" y="1691640"/>
            <a:ext cx="1783080" cy="658368"/>
          </a:xfrm>
          <a:prstGeom prst="roundRect">
            <a:avLst>
              <a:gd name="adj" fmla="val 8000"/>
            </a:avLst>
          </a:prstGeom>
          <a:solidFill>
            <a:srgbClr val="F3F6F6"/>
          </a:solidFill>
          <a:ln>
            <a:noFill/>
          </a:ln>
        </p:spPr>
        <p:txBody>
          <a:bodyPr rtlCol="0" anchor="ctr" wrap="square" lIns="82296" rIns="82296" tIns="36576" bIns="36576"/>
          <a:lstStyle/>
          <a:p>
            <a:pPr algn="l"/>
            <a:r>
              <a:rPr sz="900" b="1" i="0">
                <a:solidFill>
                  <a:srgbClr val="172427"/>
                </a:solidFill>
                <a:latin typeface="Google Sans Flex"/>
              </a:rPr>
              <a:t>Firebase Hosting</a:t>
            </a:r>
          </a:p>
          <a:p>
            <a:pPr algn="l"/>
            <a:r>
              <a:rPr sz="750" b="0" i="0">
                <a:solidFill>
                  <a:srgbClr val="5B6B70"/>
                </a:solidFill>
                <a:latin typeface="Google Sans Flex"/>
              </a:rPr>
              <a:t>findyourdent.com, rewrites every path to fyd-web</a:t>
            </a:r>
          </a:p>
        </p:txBody>
      </p:sp>
      <p:sp>
        <p:nvSpPr>
          <p:cNvPr id="115" name="Rounded Rectangle 114"/>
          <p:cNvSpPr/>
          <p:nvPr/>
        </p:nvSpPr>
        <p:spPr>
          <a:xfrm>
            <a:off x="1783080" y="2487168"/>
            <a:ext cx="1783080" cy="502920"/>
          </a:xfrm>
          <a:prstGeom prst="roundRect">
            <a:avLst>
              <a:gd name="adj" fmla="val 8000"/>
            </a:avLst>
          </a:prstGeom>
          <a:solidFill>
            <a:srgbClr val="F3F6F6"/>
          </a:solidFill>
          <a:ln>
            <a:noFill/>
          </a:ln>
        </p:spPr>
        <p:txBody>
          <a:bodyPr rtlCol="0" anchor="ctr" wrap="square" lIns="82296" rIns="82296" tIns="36576" bIns="36576"/>
          <a:lstStyle/>
          <a:p>
            <a:pPr algn="l"/>
            <a:r>
              <a:rPr sz="900" b="1" i="0">
                <a:solidFill>
                  <a:srgbClr val="172427"/>
                </a:solidFill>
                <a:latin typeface="Google Sans Flex"/>
              </a:rPr>
              <a:t>Firebase Auth</a:t>
            </a:r>
          </a:p>
          <a:p>
            <a:pPr algn="l"/>
            <a:r>
              <a:rPr sz="750" b="0" i="0">
                <a:solidFill>
                  <a:srgbClr val="5B6B70"/>
                </a:solidFill>
                <a:latin typeface="Google Sans Flex"/>
              </a:rPr>
              <a:t>Google sign-in, only at “Kirim”</a:t>
            </a:r>
          </a:p>
        </p:txBody>
      </p:sp>
      <p:sp>
        <p:nvSpPr>
          <p:cNvPr id="116" name="Rounded Rectangle 115"/>
          <p:cNvSpPr/>
          <p:nvPr/>
        </p:nvSpPr>
        <p:spPr>
          <a:xfrm>
            <a:off x="1783080" y="3127248"/>
            <a:ext cx="1783080" cy="566928"/>
          </a:xfrm>
          <a:prstGeom prst="roundRect">
            <a:avLst>
              <a:gd name="adj" fmla="val 8000"/>
            </a:avLst>
          </a:prstGeom>
          <a:solidFill>
            <a:srgbClr val="F3F6F6"/>
          </a:solidFill>
          <a:ln>
            <a:noFill/>
          </a:ln>
        </p:spPr>
        <p:txBody>
          <a:bodyPr rtlCol="0" anchor="ctr" wrap="square" lIns="82296" rIns="82296" tIns="36576" bIns="36576"/>
          <a:lstStyle/>
          <a:p>
            <a:pPr algn="l"/>
            <a:r>
              <a:rPr sz="900" b="1" i="0">
                <a:solidFill>
                  <a:srgbClr val="172427"/>
                </a:solidFill>
                <a:latin typeface="Google Sans Flex"/>
              </a:rPr>
              <a:t>App Check</a:t>
            </a:r>
          </a:p>
          <a:p>
            <a:pPr algn="l"/>
            <a:r>
              <a:rPr sz="750" b="0" i="0">
                <a:solidFill>
                  <a:srgbClr val="5B6B70"/>
                </a:solidFill>
                <a:latin typeface="Google Sans Flex"/>
              </a:rPr>
              <a:t>reCAPTCHA Enterprise guards the web API</a:t>
            </a:r>
          </a:p>
        </p:txBody>
      </p:sp>
      <p:sp>
        <p:nvSpPr>
          <p:cNvPr id="117" name="Rounded Rectangle 116"/>
          <p:cNvSpPr/>
          <p:nvPr/>
        </p:nvSpPr>
        <p:spPr>
          <a:xfrm>
            <a:off x="3794760" y="1572768"/>
            <a:ext cx="2103120" cy="3072384"/>
          </a:xfrm>
          <a:prstGeom prst="roundRect">
            <a:avLst>
              <a:gd name="adj" fmla="val 4000"/>
            </a:avLst>
          </a:prstGeom>
          <a:noFill/>
          <a:ln w="9525">
            <a:solidFill>
              <a:srgbClr val="0B6E6A"/>
            </a:solidFill>
            <a:prstDash val="dash"/>
          </a:ln>
        </p:spPr>
        <p:txBody>
          <a:bodyPr rtlCol="0" anchor="ctr"/>
          <a:lstStyle/>
          <a:p/>
        </p:txBody>
      </p:sp>
      <p:sp>
        <p:nvSpPr>
          <p:cNvPr id="118" name="TextBox 117"/>
          <p:cNvSpPr txBox="1"/>
          <p:nvPr/>
        </p:nvSpPr>
        <p:spPr>
          <a:xfrm>
            <a:off x="3904487" y="1627632"/>
            <a:ext cx="1920240" cy="182880"/>
          </a:xfrm>
          <a:prstGeom prst="rect">
            <a:avLst/>
          </a:prstGeom>
          <a:noFill/>
        </p:spPr>
        <p:txBody>
          <a:bodyPr wrap="square" lIns="0" rIns="0" tIns="0" bIns="0" anchor="t">
            <a:spAutoFit/>
          </a:bodyPr>
          <a:lstStyle/>
          <a:p>
            <a:pPr algn="l">
              <a:spcAft>
                <a:spcPts val="0"/>
              </a:spcAft>
            </a:pPr>
            <a:r>
              <a:rPr sz="750" b="1" i="0">
                <a:solidFill>
                  <a:srgbClr val="0B6E6A"/>
                </a:solidFill>
                <a:latin typeface="Google Sans Flex"/>
              </a:rPr>
              <a:t>asia-southeast2 · Jakarta</a:t>
            </a:r>
          </a:p>
        </p:txBody>
      </p:sp>
      <p:sp>
        <p:nvSpPr>
          <p:cNvPr id="119" name="Rounded Rectangle 118"/>
          <p:cNvSpPr/>
          <p:nvPr/>
        </p:nvSpPr>
        <p:spPr>
          <a:xfrm>
            <a:off x="3904487" y="1847088"/>
            <a:ext cx="1883664" cy="603504"/>
          </a:xfrm>
          <a:prstGeom prst="roundRect">
            <a:avLst>
              <a:gd name="adj" fmla="val 8000"/>
            </a:avLst>
          </a:prstGeom>
          <a:solidFill>
            <a:srgbClr val="DCEFEC"/>
          </a:solidFill>
          <a:ln>
            <a:noFill/>
          </a:ln>
        </p:spPr>
        <p:txBody>
          <a:bodyPr rtlCol="0" anchor="ctr" wrap="square" lIns="82296" rIns="82296" tIns="36576" bIns="36576"/>
          <a:lstStyle/>
          <a:p>
            <a:pPr algn="l"/>
            <a:r>
              <a:rPr sz="900" b="1" i="0">
                <a:solidFill>
                  <a:srgbClr val="172427"/>
                </a:solidFill>
                <a:latin typeface="Google Sans Flex"/>
              </a:rPr>
              <a:t>Cloud Run fyd-web</a:t>
            </a:r>
          </a:p>
          <a:p>
            <a:pPr algn="l"/>
            <a:r>
              <a:rPr sz="750" b="0" i="0">
                <a:solidFill>
                  <a:srgbClr val="5B6B70"/>
                </a:solidFill>
                <a:latin typeface="Google Sans Flex"/>
              </a:rPr>
              <a:t>Public. React Router SSR and web API</a:t>
            </a:r>
          </a:p>
        </p:txBody>
      </p:sp>
      <p:sp>
        <p:nvSpPr>
          <p:cNvPr id="120" name="Rounded Rectangle 119"/>
          <p:cNvSpPr/>
          <p:nvPr/>
        </p:nvSpPr>
        <p:spPr>
          <a:xfrm>
            <a:off x="3904487" y="2615184"/>
            <a:ext cx="1883664" cy="603504"/>
          </a:xfrm>
          <a:prstGeom prst="roundRect">
            <a:avLst>
              <a:gd name="adj" fmla="val 8000"/>
            </a:avLst>
          </a:prstGeom>
          <a:solidFill>
            <a:srgbClr val="DCEFEC"/>
          </a:solidFill>
          <a:ln>
            <a:noFill/>
          </a:ln>
        </p:spPr>
        <p:txBody>
          <a:bodyPr rtlCol="0" anchor="ctr" wrap="square" lIns="82296" rIns="82296" tIns="36576" bIns="36576"/>
          <a:lstStyle/>
          <a:p>
            <a:pPr algn="l"/>
            <a:r>
              <a:rPr sz="900" b="1" i="0">
                <a:solidFill>
                  <a:srgbClr val="172427"/>
                </a:solidFill>
                <a:latin typeface="Google Sans Flex"/>
              </a:rPr>
              <a:t>Cloud Run fyd-agent</a:t>
            </a:r>
          </a:p>
          <a:p>
            <a:pPr algn="l"/>
            <a:r>
              <a:rPr sz="750" b="0" i="0">
                <a:solidFill>
                  <a:srgbClr val="5B6B70"/>
                </a:solidFill>
                <a:latin typeface="Google Sans Flex"/>
              </a:rPr>
              <a:t>Private, ID token only. Google ADK + FastAPI</a:t>
            </a:r>
          </a:p>
        </p:txBody>
      </p:sp>
      <p:sp>
        <p:nvSpPr>
          <p:cNvPr id="121" name="Rounded Rectangle 120"/>
          <p:cNvSpPr/>
          <p:nvPr/>
        </p:nvSpPr>
        <p:spPr>
          <a:xfrm>
            <a:off x="3904487" y="3383280"/>
            <a:ext cx="1883664" cy="621792"/>
          </a:xfrm>
          <a:prstGeom prst="roundRect">
            <a:avLst>
              <a:gd name="adj" fmla="val 8000"/>
            </a:avLst>
          </a:prstGeom>
          <a:solidFill>
            <a:srgbClr val="F3F6F6"/>
          </a:solidFill>
          <a:ln>
            <a:noFill/>
          </a:ln>
        </p:spPr>
        <p:txBody>
          <a:bodyPr rtlCol="0" anchor="ctr" wrap="square" lIns="82296" rIns="82296" tIns="36576" bIns="36576"/>
          <a:lstStyle/>
          <a:p>
            <a:pPr algn="l"/>
            <a:r>
              <a:rPr sz="900" b="1" i="0">
                <a:solidFill>
                  <a:srgbClr val="172427"/>
                </a:solidFill>
                <a:latin typeface="Google Sans Flex"/>
              </a:rPr>
              <a:t>Firestore</a:t>
            </a:r>
          </a:p>
          <a:p>
            <a:pPr algn="l"/>
            <a:r>
              <a:rPr sz="750" b="0" i="0">
                <a:solidFill>
                  <a:srgbClr val="5B6B70"/>
                </a:solidFill>
                <a:latin typeface="Google Sans Flex"/>
              </a:rPr>
              <a:t>Written by fyd-web only. Never a complaint's text</a:t>
            </a:r>
          </a:p>
        </p:txBody>
      </p:sp>
      <p:sp>
        <p:nvSpPr>
          <p:cNvPr id="122" name="Rounded Rectangle 121"/>
          <p:cNvSpPr/>
          <p:nvPr/>
        </p:nvSpPr>
        <p:spPr>
          <a:xfrm>
            <a:off x="3904487" y="4096512"/>
            <a:ext cx="1883664" cy="457200"/>
          </a:xfrm>
          <a:prstGeom prst="roundRect">
            <a:avLst>
              <a:gd name="adj" fmla="val 8000"/>
            </a:avLst>
          </a:prstGeom>
          <a:solidFill>
            <a:srgbClr val="F3F6F6"/>
          </a:solidFill>
          <a:ln>
            <a:noFill/>
          </a:ln>
        </p:spPr>
        <p:txBody>
          <a:bodyPr rtlCol="0" anchor="ctr" wrap="square" lIns="82296" rIns="82296" tIns="36576" bIns="36576"/>
          <a:lstStyle/>
          <a:p>
            <a:pPr algn="l"/>
            <a:r>
              <a:rPr sz="900" b="1" i="0">
                <a:solidFill>
                  <a:srgbClr val="172427"/>
                </a:solidFill>
                <a:latin typeface="Google Sans Flex"/>
              </a:rPr>
              <a:t>Cloud Storage</a:t>
            </a:r>
          </a:p>
          <a:p>
            <a:pPr algn="l"/>
            <a:r>
              <a:rPr sz="750" b="0" i="0">
                <a:solidFill>
                  <a:srgbClr val="5B6B70"/>
                </a:solidFill>
                <a:latin typeface="Google Sans Flex"/>
              </a:rPr>
              <a:t>Proof of visit, price-list uploads</a:t>
            </a:r>
          </a:p>
        </p:txBody>
      </p:sp>
      <p:sp>
        <p:nvSpPr>
          <p:cNvPr id="123" name="Rounded Rectangle 122"/>
          <p:cNvSpPr/>
          <p:nvPr/>
        </p:nvSpPr>
        <p:spPr>
          <a:xfrm>
            <a:off x="6172200" y="1691640"/>
            <a:ext cx="2697480" cy="804672"/>
          </a:xfrm>
          <a:prstGeom prst="roundRect">
            <a:avLst>
              <a:gd name="adj" fmla="val 8000"/>
            </a:avLst>
          </a:prstGeom>
          <a:solidFill>
            <a:srgbClr val="DCEFEC"/>
          </a:solidFill>
          <a:ln w="9525">
            <a:solidFill>
              <a:srgbClr val="0B6E6A"/>
            </a:solidFill>
          </a:ln>
        </p:spPr>
        <p:txBody>
          <a:bodyPr rtlCol="0" anchor="ctr" wrap="square" lIns="82296" rIns="82296" tIns="36576" bIns="36576"/>
          <a:lstStyle/>
          <a:p>
            <a:pPr algn="l"/>
            <a:r>
              <a:rPr sz="900" b="1" i="0">
                <a:solidFill>
                  <a:srgbClr val="0B6E6A"/>
                </a:solidFill>
                <a:latin typeface="Google Sans Flex"/>
              </a:rPr>
              <a:t>Gemini on Vertex AI (global)</a:t>
            </a:r>
          </a:p>
          <a:p>
            <a:pPr algn="l"/>
            <a:r>
              <a:rPr sz="750" b="0" i="0">
                <a:solidFill>
                  <a:srgbClr val="5B6B70"/>
                </a:solidFill>
                <a:latin typeface="Google Sans Flex"/>
              </a:rPr>
              <a:t>3.8 Flash: Guidance and Shortlist reasons. 3.5 Flash-Lite: Moderation and price-list extraction</a:t>
            </a:r>
          </a:p>
        </p:txBody>
      </p:sp>
      <p:sp>
        <p:nvSpPr>
          <p:cNvPr id="124" name="Rounded Rectangle 123"/>
          <p:cNvSpPr/>
          <p:nvPr/>
        </p:nvSpPr>
        <p:spPr>
          <a:xfrm>
            <a:off x="6172200" y="2615184"/>
            <a:ext cx="2697480" cy="502920"/>
          </a:xfrm>
          <a:prstGeom prst="roundRect">
            <a:avLst>
              <a:gd name="adj" fmla="val 8000"/>
            </a:avLst>
          </a:prstGeom>
          <a:solidFill>
            <a:srgbClr val="F3F6F6"/>
          </a:solidFill>
          <a:ln>
            <a:noFill/>
          </a:ln>
        </p:spPr>
        <p:txBody>
          <a:bodyPr rtlCol="0" anchor="ctr" wrap="square" lIns="82296" rIns="82296" tIns="36576" bIns="36576"/>
          <a:lstStyle/>
          <a:p>
            <a:pPr algn="l"/>
            <a:r>
              <a:rPr sz="900" b="1" i="0">
                <a:solidFill>
                  <a:srgbClr val="172427"/>
                </a:solidFill>
                <a:latin typeface="Google Sans Flex"/>
              </a:rPr>
              <a:t>Agent Search</a:t>
            </a:r>
          </a:p>
          <a:p>
            <a:pPr algn="l"/>
            <a:r>
              <a:rPr sz="750" b="0" i="0">
                <a:solidFill>
                  <a:srgbClr val="5B6B70"/>
                </a:solidFill>
                <a:latin typeface="Google Sans Flex"/>
              </a:rPr>
              <a:t>Grounding over guideline and BPJS documents; curated files as fallback</a:t>
            </a:r>
          </a:p>
        </p:txBody>
      </p:sp>
      <p:sp>
        <p:nvSpPr>
          <p:cNvPr id="125" name="Rounded Rectangle 124"/>
          <p:cNvSpPr/>
          <p:nvPr/>
        </p:nvSpPr>
        <p:spPr>
          <a:xfrm>
            <a:off x="6172200" y="3227832"/>
            <a:ext cx="2697480" cy="502920"/>
          </a:xfrm>
          <a:prstGeom prst="roundRect">
            <a:avLst>
              <a:gd name="adj" fmla="val 8000"/>
            </a:avLst>
          </a:prstGeom>
          <a:solidFill>
            <a:srgbClr val="F3F6F6"/>
          </a:solidFill>
          <a:ln>
            <a:noFill/>
          </a:ln>
        </p:spPr>
        <p:txBody>
          <a:bodyPr rtlCol="0" anchor="ctr" wrap="square" lIns="82296" rIns="82296" tIns="36576" bIns="36576"/>
          <a:lstStyle/>
          <a:p>
            <a:pPr algn="l"/>
            <a:r>
              <a:rPr sz="900" b="1" i="0">
                <a:solidFill>
                  <a:srgbClr val="172427"/>
                </a:solidFill>
                <a:latin typeface="Google Sans Flex"/>
              </a:rPr>
              <a:t>Places API (New)</a:t>
            </a:r>
          </a:p>
          <a:p>
            <a:pPr algn="l"/>
            <a:r>
              <a:rPr sz="750" b="0" i="0">
                <a:solidFill>
                  <a:srgbClr val="5B6B70"/>
                </a:solidFill>
                <a:latin typeface="Google Sans Flex"/>
              </a:rPr>
              <a:t>Provider search and details, under daily caps</a:t>
            </a:r>
          </a:p>
        </p:txBody>
      </p:sp>
      <p:sp>
        <p:nvSpPr>
          <p:cNvPr id="126" name="Rounded Rectangle 125"/>
          <p:cNvSpPr/>
          <p:nvPr/>
        </p:nvSpPr>
        <p:spPr>
          <a:xfrm>
            <a:off x="6172200" y="3840480"/>
            <a:ext cx="2697480" cy="713232"/>
          </a:xfrm>
          <a:prstGeom prst="roundRect">
            <a:avLst>
              <a:gd name="adj" fmla="val 8000"/>
            </a:avLst>
          </a:prstGeom>
          <a:solidFill>
            <a:srgbClr val="F3F6F6"/>
          </a:solidFill>
          <a:ln>
            <a:noFill/>
          </a:ln>
        </p:spPr>
        <p:txBody>
          <a:bodyPr rtlCol="0" anchor="ctr" wrap="square" lIns="82296" rIns="82296" tIns="36576" bIns="36576"/>
          <a:lstStyle/>
          <a:p>
            <a:pPr algn="l"/>
            <a:r>
              <a:rPr sz="900" b="1" i="0">
                <a:solidFill>
                  <a:srgbClr val="172427"/>
                </a:solidFill>
                <a:latin typeface="Google Sans Flex"/>
              </a:rPr>
              <a:t>Operations</a:t>
            </a:r>
          </a:p>
          <a:p>
            <a:pPr algn="l"/>
            <a:r>
              <a:rPr sz="750" b="0" i="0">
                <a:solidFill>
                  <a:srgbClr val="5B6B70"/>
                </a:solidFill>
                <a:latin typeface="Google Sans Flex"/>
              </a:rPr>
              <a:t>Secret Manager · Cloud Scheduler + Workflows (warm agent) · Cloud Run Job · Monitoring uptime + alerts · Budget</a:t>
            </a:r>
          </a:p>
        </p:txBody>
      </p:sp>
      <p:cxnSp>
        <p:nvCxnSpPr>
          <p:cNvPr id="127" name="Connector 126"/>
          <p:cNvCxnSpPr/>
          <p:nvPr/>
        </p:nvCxnSpPr>
        <p:spPr>
          <a:xfrm flipV="1">
            <a:off x="1508760" y="2057400"/>
            <a:ext cx="265176" cy="731520"/>
          </a:xfrm>
          <a:prstGeom prst="line">
            <a:avLst/>
          </a:prstGeom>
          <a:ln w="12700">
            <a:solidFill>
              <a:srgbClr val="5B6B7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28" name="Connector 127"/>
          <p:cNvCxnSpPr/>
          <p:nvPr/>
        </p:nvCxnSpPr>
        <p:spPr>
          <a:xfrm>
            <a:off x="3575304" y="2020824"/>
            <a:ext cx="320040" cy="128016"/>
          </a:xfrm>
          <a:prstGeom prst="line">
            <a:avLst/>
          </a:prstGeom>
          <a:ln w="12700">
            <a:solidFill>
              <a:srgbClr val="5B6B7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29" name="Connector 128"/>
          <p:cNvCxnSpPr/>
          <p:nvPr/>
        </p:nvCxnSpPr>
        <p:spPr>
          <a:xfrm>
            <a:off x="4846320" y="2459736"/>
            <a:ext cx="0" cy="146304"/>
          </a:xfrm>
          <a:prstGeom prst="line">
            <a:avLst/>
          </a:prstGeom>
          <a:ln w="12700">
            <a:solidFill>
              <a:srgbClr val="5B6B7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30" name="Connector 129"/>
          <p:cNvCxnSpPr/>
          <p:nvPr/>
        </p:nvCxnSpPr>
        <p:spPr>
          <a:xfrm flipV="1">
            <a:off x="5797296" y="2194560"/>
            <a:ext cx="365760" cy="640080"/>
          </a:xfrm>
          <a:prstGeom prst="line">
            <a:avLst/>
          </a:prstGeom>
          <a:ln w="15875">
            <a:solidFill>
              <a:srgbClr val="0B6E6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31" name="Connector 130"/>
          <p:cNvCxnSpPr/>
          <p:nvPr/>
        </p:nvCxnSpPr>
        <p:spPr>
          <a:xfrm flipV="1">
            <a:off x="5797296" y="2871216"/>
            <a:ext cx="365760" cy="36576"/>
          </a:xfrm>
          <a:prstGeom prst="line">
            <a:avLst/>
          </a:prstGeom>
          <a:ln w="12700">
            <a:solidFill>
              <a:srgbClr val="5B6B7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32" name="Connector 131"/>
          <p:cNvCxnSpPr/>
          <p:nvPr/>
        </p:nvCxnSpPr>
        <p:spPr>
          <a:xfrm>
            <a:off x="5797296" y="2240280"/>
            <a:ext cx="365760" cy="1188720"/>
          </a:xfrm>
          <a:prstGeom prst="line">
            <a:avLst/>
          </a:prstGeom>
          <a:ln w="12700">
            <a:solidFill>
              <a:srgbClr val="5B6B7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3" name="Source"/>
          <p:cNvSpPr txBox="1"/>
          <p:nvPr/>
        </p:nvSpPr>
        <p:spPr>
          <a:xfrm>
            <a:off x="265176" y="4690872"/>
            <a:ext cx="8595360" cy="329184"/>
          </a:xfrm>
          <a:prstGeom prst="rect">
            <a:avLst/>
          </a:prstGeom>
          <a:noFill/>
        </p:spPr>
        <p:txBody>
          <a:bodyPr wrap="square" lIns="0" rIns="0" tIns="0" bIns="0" anchor="b">
            <a:spAutoFit/>
          </a:bodyPr>
          <a:lstStyle/>
          <a:p>
            <a:pPr algn="l">
              <a:spcAft>
                <a:spcPts val="0"/>
              </a:spcAft>
            </a:pPr>
            <a:r>
              <a:rPr sz="750" b="0" i="0">
                <a:solidFill>
                  <a:srgbClr val="5B6B70"/>
                </a:solidFill>
                <a:latin typeface="Google Sans Flex"/>
              </a:rPr>
              <a:t>Deployed build, 18 October 2026: README.md, infra/gcp/README.md, ADR-0003 (Gemini global endpoint), ADR-0008 (Hosting in front of Cloud Run). The browser never calls the agent, Places or Gemini.</a:t>
            </a: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pic>
        <p:nvPicPr>
          <p:cNvPr id="116" name="Google Shape;116;p21"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17" name="Google Shape;117;p21"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18" name="Google Shape;118;p21"/>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9" name="Google Shape;119;p21"/>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Technologies to be used in the solution</a:t>
            </a:r>
            <a:endParaRPr sz="1600">
              <a:latin typeface="Google Sans Flex Medium"/>
              <a:ea typeface="Google Sans Flex Medium"/>
              <a:cs typeface="Google Sans Flex Medium"/>
              <a:sym typeface="Google Sans Flex Medium"/>
            </a:endParaRPr>
          </a:p>
        </p:txBody>
      </p:sp>
      <p:sp>
        <p:nvSpPr>
          <p:cNvPr id="120" name="Action title"/>
          <p:cNvSpPr txBox="1"/>
          <p:nvPr/>
        </p:nvSpPr>
        <p:spPr>
          <a:xfrm>
            <a:off x="265176" y="1024128"/>
            <a:ext cx="8595360" cy="566928"/>
          </a:xfrm>
          <a:prstGeom prst="rect">
            <a:avLst/>
          </a:prstGeom>
          <a:noFill/>
        </p:spPr>
        <p:txBody>
          <a:bodyPr wrap="square" lIns="0" rIns="0" tIns="0" bIns="0" anchor="t">
            <a:spAutoFit/>
          </a:bodyPr>
          <a:lstStyle/>
          <a:p>
            <a:pPr algn="l">
              <a:lnSpc>
                <a:spcPct val="100000"/>
              </a:lnSpc>
              <a:spcAft>
                <a:spcPts val="0"/>
              </a:spcAft>
            </a:pPr>
            <a:r>
              <a:rPr sz="1900" b="1" i="0">
                <a:solidFill>
                  <a:srgbClr val="172427"/>
                </a:solidFill>
                <a:latin typeface="Google Sans Flex"/>
              </a:rPr>
              <a:t>Firebase at the edge, Firestore for data, Cloud Run for compute, Gemini for judgement</a:t>
            </a:r>
          </a:p>
        </p:txBody>
      </p:sp>
      <p:sp>
        <p:nvSpPr>
          <p:cNvPr id="121" name="Rounded Rectangle 120"/>
          <p:cNvSpPr/>
          <p:nvPr/>
        </p:nvSpPr>
        <p:spPr>
          <a:xfrm>
            <a:off x="265176" y="1737360"/>
            <a:ext cx="2011680" cy="1874519"/>
          </a:xfrm>
          <a:prstGeom prst="roundRect">
            <a:avLst>
              <a:gd name="adj" fmla="val 6000"/>
            </a:avLst>
          </a:prstGeom>
          <a:solidFill>
            <a:srgbClr val="F3F6F6"/>
          </a:solidFill>
          <a:ln>
            <a:noFill/>
          </a:ln>
        </p:spPr>
        <p:txBody>
          <a:bodyPr rtlCol="0" anchor="ctr"/>
          <a:lstStyle/>
          <a:p/>
        </p:txBody>
      </p:sp>
      <p:sp>
        <p:nvSpPr>
          <p:cNvPr id="122" name="TextBox 121"/>
          <p:cNvSpPr txBox="1"/>
          <p:nvPr/>
        </p:nvSpPr>
        <p:spPr>
          <a:xfrm>
            <a:off x="402335" y="1874519"/>
            <a:ext cx="1737360" cy="274320"/>
          </a:xfrm>
          <a:prstGeom prst="rect">
            <a:avLst/>
          </a:prstGeom>
          <a:noFill/>
        </p:spPr>
        <p:txBody>
          <a:bodyPr wrap="square" lIns="0" rIns="0" tIns="0" bIns="0" anchor="t">
            <a:spAutoFit/>
          </a:bodyPr>
          <a:lstStyle/>
          <a:p>
            <a:pPr algn="l">
              <a:spcAft>
                <a:spcPts val="0"/>
              </a:spcAft>
            </a:pPr>
            <a:r>
              <a:rPr sz="1400" b="1" i="0">
                <a:solidFill>
                  <a:srgbClr val="0B6E6A"/>
                </a:solidFill>
                <a:latin typeface="Google Sans Flex"/>
              </a:rPr>
              <a:t>Firebase</a:t>
            </a:r>
          </a:p>
        </p:txBody>
      </p:sp>
      <p:sp>
        <p:nvSpPr>
          <p:cNvPr id="123" name="TextBox 122"/>
          <p:cNvSpPr txBox="1"/>
          <p:nvPr/>
        </p:nvSpPr>
        <p:spPr>
          <a:xfrm>
            <a:off x="402335" y="2240280"/>
            <a:ext cx="1737360" cy="1325880"/>
          </a:xfrm>
          <a:prstGeom prst="rect">
            <a:avLst/>
          </a:prstGeom>
          <a:noFill/>
        </p:spPr>
        <p:txBody>
          <a:bodyPr wrap="square" lIns="0" rIns="0" tIns="0" bIns="0" anchor="t">
            <a:spAutoFit/>
          </a:bodyPr>
          <a:lstStyle/>
          <a:p>
            <a:pPr algn="l">
              <a:lnSpc>
                <a:spcPct val="100000"/>
              </a:lnSpc>
              <a:spcAft>
                <a:spcPts val="0"/>
              </a:spcAft>
            </a:pPr>
            <a:r>
              <a:rPr sz="950" b="0" i="0">
                <a:solidFill>
                  <a:srgbClr val="172427"/>
                </a:solidFill>
                <a:latin typeface="Google Sans Flex"/>
              </a:rPr>
              <a:t>Hosting serves findyourdent.com and rewrites to Cloud Run. Auth signs Patients and Providers in with Google. App Check with reCAPTCHA Enterprise guards the web API.</a:t>
            </a:r>
          </a:p>
        </p:txBody>
      </p:sp>
      <p:sp>
        <p:nvSpPr>
          <p:cNvPr id="124" name="Rounded Rectangle 123"/>
          <p:cNvSpPr/>
          <p:nvPr/>
        </p:nvSpPr>
        <p:spPr>
          <a:xfrm>
            <a:off x="2466136" y="1737360"/>
            <a:ext cx="2011680" cy="1874519"/>
          </a:xfrm>
          <a:prstGeom prst="roundRect">
            <a:avLst>
              <a:gd name="adj" fmla="val 6000"/>
            </a:avLst>
          </a:prstGeom>
          <a:solidFill>
            <a:srgbClr val="F3F6F6"/>
          </a:solidFill>
          <a:ln>
            <a:noFill/>
          </a:ln>
        </p:spPr>
        <p:txBody>
          <a:bodyPr rtlCol="0" anchor="ctr"/>
          <a:lstStyle/>
          <a:p/>
        </p:txBody>
      </p:sp>
      <p:sp>
        <p:nvSpPr>
          <p:cNvPr id="125" name="TextBox 124"/>
          <p:cNvSpPr txBox="1"/>
          <p:nvPr/>
        </p:nvSpPr>
        <p:spPr>
          <a:xfrm>
            <a:off x="2603296" y="1874519"/>
            <a:ext cx="1737360" cy="274320"/>
          </a:xfrm>
          <a:prstGeom prst="rect">
            <a:avLst/>
          </a:prstGeom>
          <a:noFill/>
        </p:spPr>
        <p:txBody>
          <a:bodyPr wrap="square" lIns="0" rIns="0" tIns="0" bIns="0" anchor="t">
            <a:spAutoFit/>
          </a:bodyPr>
          <a:lstStyle/>
          <a:p>
            <a:pPr algn="l">
              <a:spcAft>
                <a:spcPts val="0"/>
              </a:spcAft>
            </a:pPr>
            <a:r>
              <a:rPr sz="1400" b="1" i="0">
                <a:solidFill>
                  <a:srgbClr val="0B6E6A"/>
                </a:solidFill>
                <a:latin typeface="Google Sans Flex"/>
              </a:rPr>
              <a:t>Firestore</a:t>
            </a:r>
          </a:p>
        </p:txBody>
      </p:sp>
      <p:sp>
        <p:nvSpPr>
          <p:cNvPr id="126" name="TextBox 125"/>
          <p:cNvSpPr txBox="1"/>
          <p:nvPr/>
        </p:nvSpPr>
        <p:spPr>
          <a:xfrm>
            <a:off x="2603296" y="2240280"/>
            <a:ext cx="1737360" cy="1325880"/>
          </a:xfrm>
          <a:prstGeom prst="rect">
            <a:avLst/>
          </a:prstGeom>
          <a:noFill/>
        </p:spPr>
        <p:txBody>
          <a:bodyPr wrap="square" lIns="0" rIns="0" tIns="0" bIns="0" anchor="t">
            <a:spAutoFit/>
          </a:bodyPr>
          <a:lstStyle/>
          <a:p>
            <a:pPr algn="l">
              <a:lnSpc>
                <a:spcPct val="100000"/>
              </a:lnSpc>
              <a:spcAft>
                <a:spcPts val="0"/>
              </a:spcAft>
            </a:pPr>
            <a:r>
              <a:rPr sz="950" b="0" i="0">
                <a:solidFill>
                  <a:srgbClr val="172427"/>
                </a:solidFill>
                <a:latin typeface="Google Sans Flex"/>
              </a:rPr>
              <a:t>In Jakarta: Providers, Testimonies, Moderation decisions and owner-confirmed price lists. Never a Patient’s complaint text.</a:t>
            </a:r>
          </a:p>
        </p:txBody>
      </p:sp>
      <p:sp>
        <p:nvSpPr>
          <p:cNvPr id="127" name="Rounded Rectangle 126"/>
          <p:cNvSpPr/>
          <p:nvPr/>
        </p:nvSpPr>
        <p:spPr>
          <a:xfrm>
            <a:off x="4667097" y="1737360"/>
            <a:ext cx="2011680" cy="1874519"/>
          </a:xfrm>
          <a:prstGeom prst="roundRect">
            <a:avLst>
              <a:gd name="adj" fmla="val 6000"/>
            </a:avLst>
          </a:prstGeom>
          <a:solidFill>
            <a:srgbClr val="F3F6F6"/>
          </a:solidFill>
          <a:ln>
            <a:noFill/>
          </a:ln>
        </p:spPr>
        <p:txBody>
          <a:bodyPr rtlCol="0" anchor="ctr"/>
          <a:lstStyle/>
          <a:p/>
        </p:txBody>
      </p:sp>
      <p:sp>
        <p:nvSpPr>
          <p:cNvPr id="128" name="TextBox 127"/>
          <p:cNvSpPr txBox="1"/>
          <p:nvPr/>
        </p:nvSpPr>
        <p:spPr>
          <a:xfrm>
            <a:off x="4804257" y="1874519"/>
            <a:ext cx="1737360" cy="274320"/>
          </a:xfrm>
          <a:prstGeom prst="rect">
            <a:avLst/>
          </a:prstGeom>
          <a:noFill/>
        </p:spPr>
        <p:txBody>
          <a:bodyPr wrap="square" lIns="0" rIns="0" tIns="0" bIns="0" anchor="t">
            <a:spAutoFit/>
          </a:bodyPr>
          <a:lstStyle/>
          <a:p>
            <a:pPr algn="l">
              <a:spcAft>
                <a:spcPts val="0"/>
              </a:spcAft>
            </a:pPr>
            <a:r>
              <a:rPr sz="1400" b="1" i="0">
                <a:solidFill>
                  <a:srgbClr val="0B6E6A"/>
                </a:solidFill>
                <a:latin typeface="Google Sans Flex"/>
              </a:rPr>
              <a:t>Cloud Run</a:t>
            </a:r>
          </a:p>
        </p:txBody>
      </p:sp>
      <p:sp>
        <p:nvSpPr>
          <p:cNvPr id="129" name="TextBox 128"/>
          <p:cNvSpPr txBox="1"/>
          <p:nvPr/>
        </p:nvSpPr>
        <p:spPr>
          <a:xfrm>
            <a:off x="4804257" y="2240280"/>
            <a:ext cx="1737360" cy="1325880"/>
          </a:xfrm>
          <a:prstGeom prst="rect">
            <a:avLst/>
          </a:prstGeom>
          <a:noFill/>
        </p:spPr>
        <p:txBody>
          <a:bodyPr wrap="square" lIns="0" rIns="0" tIns="0" bIns="0" anchor="t">
            <a:spAutoFit/>
          </a:bodyPr>
          <a:lstStyle/>
          <a:p>
            <a:pPr algn="l">
              <a:lnSpc>
                <a:spcPct val="100000"/>
              </a:lnSpc>
              <a:spcAft>
                <a:spcPts val="0"/>
              </a:spcAft>
            </a:pPr>
            <a:r>
              <a:rPr sz="950" b="0" i="0">
                <a:solidFill>
                  <a:srgbClr val="172427"/>
                </a:solidFill>
                <a:latin typeface="Google Sans Flex"/>
              </a:rPr>
              <a:t>In Jakarta: the public web service, and a private Google ADK agent service that only the web service can call. One warm agent instance during judging.</a:t>
            </a:r>
          </a:p>
        </p:txBody>
      </p:sp>
      <p:sp>
        <p:nvSpPr>
          <p:cNvPr id="130" name="Rounded Rectangle 129"/>
          <p:cNvSpPr/>
          <p:nvPr/>
        </p:nvSpPr>
        <p:spPr>
          <a:xfrm>
            <a:off x="6868058" y="1737360"/>
            <a:ext cx="2011680" cy="1874519"/>
          </a:xfrm>
          <a:prstGeom prst="roundRect">
            <a:avLst>
              <a:gd name="adj" fmla="val 6000"/>
            </a:avLst>
          </a:prstGeom>
          <a:solidFill>
            <a:srgbClr val="DCEFEC"/>
          </a:solidFill>
          <a:ln>
            <a:noFill/>
          </a:ln>
        </p:spPr>
        <p:txBody>
          <a:bodyPr rtlCol="0" anchor="ctr"/>
          <a:lstStyle/>
          <a:p/>
        </p:txBody>
      </p:sp>
      <p:sp>
        <p:nvSpPr>
          <p:cNvPr id="131" name="TextBox 130"/>
          <p:cNvSpPr txBox="1"/>
          <p:nvPr/>
        </p:nvSpPr>
        <p:spPr>
          <a:xfrm>
            <a:off x="7005218" y="1874519"/>
            <a:ext cx="1737360" cy="274320"/>
          </a:xfrm>
          <a:prstGeom prst="rect">
            <a:avLst/>
          </a:prstGeom>
          <a:noFill/>
        </p:spPr>
        <p:txBody>
          <a:bodyPr wrap="square" lIns="0" rIns="0" tIns="0" bIns="0" anchor="t">
            <a:spAutoFit/>
          </a:bodyPr>
          <a:lstStyle/>
          <a:p>
            <a:pPr algn="l">
              <a:spcAft>
                <a:spcPts val="0"/>
              </a:spcAft>
            </a:pPr>
            <a:r>
              <a:rPr sz="1400" b="1" i="0">
                <a:solidFill>
                  <a:srgbClr val="0B6E6A"/>
                </a:solidFill>
                <a:latin typeface="Google Sans Flex"/>
              </a:rPr>
              <a:t>Gemini</a:t>
            </a:r>
          </a:p>
        </p:txBody>
      </p:sp>
      <p:sp>
        <p:nvSpPr>
          <p:cNvPr id="132" name="TextBox 131"/>
          <p:cNvSpPr txBox="1"/>
          <p:nvPr/>
        </p:nvSpPr>
        <p:spPr>
          <a:xfrm>
            <a:off x="7005218" y="2240280"/>
            <a:ext cx="1737360" cy="1325880"/>
          </a:xfrm>
          <a:prstGeom prst="rect">
            <a:avLst/>
          </a:prstGeom>
          <a:noFill/>
        </p:spPr>
        <p:txBody>
          <a:bodyPr wrap="square" lIns="0" rIns="0" tIns="0" bIns="0" anchor="t">
            <a:spAutoFit/>
          </a:bodyPr>
          <a:lstStyle/>
          <a:p>
            <a:pPr algn="l">
              <a:lnSpc>
                <a:spcPct val="100000"/>
              </a:lnSpc>
              <a:spcAft>
                <a:spcPts val="0"/>
              </a:spcAft>
            </a:pPr>
            <a:r>
              <a:rPr sz="950" b="0" i="0">
                <a:solidFill>
                  <a:srgbClr val="172427"/>
                </a:solidFill>
                <a:latin typeface="Google Sans Flex"/>
              </a:rPr>
              <a:t>On Vertex AI: writes the Guidance card as validated structured output, moderates every Testimony before it is published, reads price lists into rows the owner confirms.</a:t>
            </a:r>
          </a:p>
        </p:txBody>
      </p:sp>
      <p:sp>
        <p:nvSpPr>
          <p:cNvPr id="133" name="TextBox 132"/>
          <p:cNvSpPr txBox="1"/>
          <p:nvPr/>
        </p:nvSpPr>
        <p:spPr>
          <a:xfrm>
            <a:off x="265176" y="3703320"/>
            <a:ext cx="1463040" cy="219456"/>
          </a:xfrm>
          <a:prstGeom prst="rect">
            <a:avLst/>
          </a:prstGeom>
          <a:noFill/>
        </p:spPr>
        <p:txBody>
          <a:bodyPr wrap="square" lIns="0" rIns="0" tIns="0" bIns="0" anchor="t">
            <a:spAutoFit/>
          </a:bodyPr>
          <a:lstStyle/>
          <a:p>
            <a:pPr algn="l">
              <a:spcAft>
                <a:spcPts val="0"/>
              </a:spcAft>
            </a:pPr>
            <a:r>
              <a:rPr sz="900" b="1" i="0">
                <a:solidFill>
                  <a:srgbClr val="0B6E6A"/>
                </a:solidFill>
                <a:latin typeface="Google Sans Flex"/>
              </a:rPr>
              <a:t>More Google Cloud</a:t>
            </a:r>
          </a:p>
        </p:txBody>
      </p:sp>
      <p:sp>
        <p:nvSpPr>
          <p:cNvPr id="134" name="TextBox 133"/>
          <p:cNvSpPr txBox="1"/>
          <p:nvPr/>
        </p:nvSpPr>
        <p:spPr>
          <a:xfrm>
            <a:off x="1737360" y="3703320"/>
            <a:ext cx="7132320" cy="219456"/>
          </a:xfrm>
          <a:prstGeom prst="rect">
            <a:avLst/>
          </a:prstGeom>
          <a:noFill/>
        </p:spPr>
        <p:txBody>
          <a:bodyPr wrap="square" lIns="0" rIns="0" tIns="0" bIns="0" anchor="t">
            <a:spAutoFit/>
          </a:bodyPr>
          <a:lstStyle/>
          <a:p>
            <a:pPr algn="l">
              <a:spcAft>
                <a:spcPts val="0"/>
              </a:spcAft>
            </a:pPr>
            <a:r>
              <a:rPr sz="900" b="0" i="0">
                <a:solidFill>
                  <a:srgbClr val="172427"/>
                </a:solidFill>
                <a:latin typeface="Google Sans Flex"/>
              </a:rPr>
              <a:t>Google ADK · Agent Search · Places API (New) · Cloud Storage · Secret Manager · Cloud Scheduler · Workflows · Cloud Monitoring</a:t>
            </a:r>
          </a:p>
        </p:txBody>
      </p:sp>
      <p:sp>
        <p:nvSpPr>
          <p:cNvPr id="135" name="TextBox 134"/>
          <p:cNvSpPr txBox="1"/>
          <p:nvPr/>
        </p:nvSpPr>
        <p:spPr>
          <a:xfrm>
            <a:off x="265176" y="3941063"/>
            <a:ext cx="1463040" cy="219456"/>
          </a:xfrm>
          <a:prstGeom prst="rect">
            <a:avLst/>
          </a:prstGeom>
          <a:noFill/>
        </p:spPr>
        <p:txBody>
          <a:bodyPr wrap="square" lIns="0" rIns="0" tIns="0" bIns="0" anchor="t">
            <a:spAutoFit/>
          </a:bodyPr>
          <a:lstStyle/>
          <a:p>
            <a:pPr algn="l">
              <a:spcAft>
                <a:spcPts val="0"/>
              </a:spcAft>
            </a:pPr>
            <a:r>
              <a:rPr sz="900" b="1" i="0">
                <a:solidFill>
                  <a:srgbClr val="0B6E6A"/>
                </a:solidFill>
                <a:latin typeface="Google Sans Flex"/>
              </a:rPr>
              <a:t>Web</a:t>
            </a:r>
          </a:p>
        </p:txBody>
      </p:sp>
      <p:sp>
        <p:nvSpPr>
          <p:cNvPr id="136" name="TextBox 135"/>
          <p:cNvSpPr txBox="1"/>
          <p:nvPr/>
        </p:nvSpPr>
        <p:spPr>
          <a:xfrm>
            <a:off x="1737360" y="3941063"/>
            <a:ext cx="7132320" cy="219456"/>
          </a:xfrm>
          <a:prstGeom prst="rect">
            <a:avLst/>
          </a:prstGeom>
          <a:noFill/>
        </p:spPr>
        <p:txBody>
          <a:bodyPr wrap="square" lIns="0" rIns="0" tIns="0" bIns="0" anchor="t">
            <a:spAutoFit/>
          </a:bodyPr>
          <a:lstStyle/>
          <a:p>
            <a:pPr algn="l">
              <a:spcAft>
                <a:spcPts val="0"/>
              </a:spcAft>
            </a:pPr>
            <a:r>
              <a:rPr sz="900" b="0" i="0">
                <a:solidFill>
                  <a:srgbClr val="172427"/>
                </a:solidFill>
                <a:latin typeface="Google Sans Flex"/>
              </a:rPr>
              <a:t>React Router v7 (SSR) · TypeScript · Tailwind v4 · shadcn/ui · i18next</a:t>
            </a:r>
          </a:p>
        </p:txBody>
      </p:sp>
      <p:sp>
        <p:nvSpPr>
          <p:cNvPr id="137" name="TextBox 136"/>
          <p:cNvSpPr txBox="1"/>
          <p:nvPr/>
        </p:nvSpPr>
        <p:spPr>
          <a:xfrm>
            <a:off x="265176" y="4178808"/>
            <a:ext cx="1463040" cy="219456"/>
          </a:xfrm>
          <a:prstGeom prst="rect">
            <a:avLst/>
          </a:prstGeom>
          <a:noFill/>
        </p:spPr>
        <p:txBody>
          <a:bodyPr wrap="square" lIns="0" rIns="0" tIns="0" bIns="0" anchor="t">
            <a:spAutoFit/>
          </a:bodyPr>
          <a:lstStyle/>
          <a:p>
            <a:pPr algn="l">
              <a:spcAft>
                <a:spcPts val="0"/>
              </a:spcAft>
            </a:pPr>
            <a:r>
              <a:rPr sz="900" b="1" i="0">
                <a:solidFill>
                  <a:srgbClr val="0B6E6A"/>
                </a:solidFill>
                <a:latin typeface="Google Sans Flex"/>
              </a:rPr>
              <a:t>Agent</a:t>
            </a:r>
          </a:p>
        </p:txBody>
      </p:sp>
      <p:sp>
        <p:nvSpPr>
          <p:cNvPr id="138" name="TextBox 137"/>
          <p:cNvSpPr txBox="1"/>
          <p:nvPr/>
        </p:nvSpPr>
        <p:spPr>
          <a:xfrm>
            <a:off x="1737360" y="4178808"/>
            <a:ext cx="7132320" cy="219456"/>
          </a:xfrm>
          <a:prstGeom prst="rect">
            <a:avLst/>
          </a:prstGeom>
          <a:noFill/>
        </p:spPr>
        <p:txBody>
          <a:bodyPr wrap="square" lIns="0" rIns="0" tIns="0" bIns="0" anchor="t">
            <a:spAutoFit/>
          </a:bodyPr>
          <a:lstStyle/>
          <a:p>
            <a:pPr algn="l">
              <a:spcAft>
                <a:spcPts val="0"/>
              </a:spcAft>
            </a:pPr>
            <a:r>
              <a:rPr sz="900" b="0" i="0">
                <a:solidFill>
                  <a:srgbClr val="172427"/>
                </a:solidFill>
                <a:latin typeface="Google Sans Flex"/>
              </a:rPr>
              <a:t>Python 3.13 · FastAPI · Pydantic v2 · uv</a:t>
            </a:r>
          </a:p>
        </p:txBody>
      </p:sp>
      <p:sp>
        <p:nvSpPr>
          <p:cNvPr id="139" name="TextBox 138"/>
          <p:cNvSpPr txBox="1"/>
          <p:nvPr/>
        </p:nvSpPr>
        <p:spPr>
          <a:xfrm>
            <a:off x="265176" y="4416552"/>
            <a:ext cx="1463040" cy="219456"/>
          </a:xfrm>
          <a:prstGeom prst="rect">
            <a:avLst/>
          </a:prstGeom>
          <a:noFill/>
        </p:spPr>
        <p:txBody>
          <a:bodyPr wrap="square" lIns="0" rIns="0" tIns="0" bIns="0" anchor="t">
            <a:spAutoFit/>
          </a:bodyPr>
          <a:lstStyle/>
          <a:p>
            <a:pPr algn="l">
              <a:spcAft>
                <a:spcPts val="0"/>
              </a:spcAft>
            </a:pPr>
            <a:r>
              <a:rPr sz="900" b="1" i="0">
                <a:solidFill>
                  <a:srgbClr val="0B6E6A"/>
                </a:solidFill>
                <a:latin typeface="Google Sans Flex"/>
              </a:rPr>
              <a:t>Contracts and tests</a:t>
            </a:r>
          </a:p>
        </p:txBody>
      </p:sp>
      <p:sp>
        <p:nvSpPr>
          <p:cNvPr id="140" name="TextBox 139"/>
          <p:cNvSpPr txBox="1"/>
          <p:nvPr/>
        </p:nvSpPr>
        <p:spPr>
          <a:xfrm>
            <a:off x="1737360" y="4416552"/>
            <a:ext cx="7132320" cy="219456"/>
          </a:xfrm>
          <a:prstGeom prst="rect">
            <a:avLst/>
          </a:prstGeom>
          <a:noFill/>
        </p:spPr>
        <p:txBody>
          <a:bodyPr wrap="square" lIns="0" rIns="0" tIns="0" bIns="0" anchor="t">
            <a:spAutoFit/>
          </a:bodyPr>
          <a:lstStyle/>
          <a:p>
            <a:pPr algn="l">
              <a:spcAft>
                <a:spcPts val="0"/>
              </a:spcAft>
            </a:pPr>
            <a:r>
              <a:rPr sz="900" b="0" i="0">
                <a:solidFill>
                  <a:srgbClr val="172427"/>
                </a:solidFill>
                <a:latin typeface="Google Sans Flex"/>
              </a:rPr>
              <a:t>JSON Schema (Ajv + generated Pydantic) · Vitest on Firebase emulators · pytest · Playwright · Biome · Ruff · GitHub Actions</a:t>
            </a:r>
          </a:p>
        </p:txBody>
      </p:sp>
      <p:sp>
        <p:nvSpPr>
          <p:cNvPr id="141" name="Source"/>
          <p:cNvSpPr txBox="1"/>
          <p:nvPr/>
        </p:nvSpPr>
        <p:spPr>
          <a:xfrm>
            <a:off x="265176" y="4690872"/>
            <a:ext cx="8595360" cy="329184"/>
          </a:xfrm>
          <a:prstGeom prst="rect">
            <a:avLst/>
          </a:prstGeom>
          <a:noFill/>
        </p:spPr>
        <p:txBody>
          <a:bodyPr wrap="square" lIns="0" rIns="0" tIns="0" bIns="0" anchor="b">
            <a:spAutoFit/>
          </a:bodyPr>
          <a:lstStyle/>
          <a:p>
            <a:pPr algn="l">
              <a:spcAft>
                <a:spcPts val="0"/>
              </a:spcAft>
            </a:pPr>
            <a:r>
              <a:rPr sz="750" b="0" i="0">
                <a:solidFill>
                  <a:srgbClr val="5B6B70"/>
                </a:solidFill>
                <a:latin typeface="Google Sans Flex"/>
              </a:rPr>
              <a:t>docs/submission/brief-description.md (issue #109), README.md.</a:t>
            </a: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pic>
        <p:nvPicPr>
          <p:cNvPr id="124" name="Google Shape;124;p22"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25" name="Google Shape;125;p22"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26" name="Google Shape;126;p22"/>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7" name="Google Shape;127;p22"/>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Estimated implementation cost</a:t>
            </a:r>
            <a:endParaRPr sz="1600">
              <a:latin typeface="Google Sans Flex Medium"/>
              <a:ea typeface="Google Sans Flex Medium"/>
              <a:cs typeface="Google Sans Flex Medium"/>
              <a:sym typeface="Google Sans Flex Medium"/>
            </a:endParaRPr>
          </a:p>
        </p:txBody>
      </p:sp>
      <p:sp>
        <p:nvSpPr>
          <p:cNvPr id="128" name="Action title"/>
          <p:cNvSpPr txBox="1"/>
          <p:nvPr/>
        </p:nvSpPr>
        <p:spPr>
          <a:xfrm>
            <a:off x="265176" y="1024128"/>
            <a:ext cx="8595360" cy="566928"/>
          </a:xfrm>
          <a:prstGeom prst="rect">
            <a:avLst/>
          </a:prstGeom>
          <a:noFill/>
        </p:spPr>
        <p:txBody>
          <a:bodyPr wrap="square" lIns="0" rIns="0" tIns="0" bIns="0" anchor="t">
            <a:spAutoFit/>
          </a:bodyPr>
          <a:lstStyle/>
          <a:p>
            <a:pPr algn="l">
              <a:lnSpc>
                <a:spcPct val="100000"/>
              </a:lnSpc>
              <a:spcAft>
                <a:spcPts val="0"/>
              </a:spcAft>
            </a:pPr>
            <a:r>
              <a:rPr sz="1900" b="1" i="0">
                <a:solidFill>
                  <a:srgbClr val="172427"/>
                </a:solidFill>
                <a:latin typeface="Google Sans Flex"/>
              </a:rPr>
              <a:t>Judging traffic costs about USD 17 for 23 days, and daily quotas cap every paid API</a:t>
            </a:r>
          </a:p>
        </p:txBody>
      </p:sp>
      <p:sp>
        <p:nvSpPr>
          <p:cNvPr id="129" name="TextBox 128"/>
          <p:cNvSpPr txBox="1"/>
          <p:nvPr/>
        </p:nvSpPr>
        <p:spPr>
          <a:xfrm>
            <a:off x="265176" y="1737360"/>
            <a:ext cx="4480560" cy="201168"/>
          </a:xfrm>
          <a:prstGeom prst="rect">
            <a:avLst/>
          </a:prstGeom>
          <a:noFill/>
        </p:spPr>
        <p:txBody>
          <a:bodyPr wrap="square" lIns="0" rIns="0" tIns="0" bIns="0" anchor="t">
            <a:spAutoFit/>
          </a:bodyPr>
          <a:lstStyle/>
          <a:p>
            <a:pPr algn="l">
              <a:spcAft>
                <a:spcPts val="0"/>
              </a:spcAft>
            </a:pPr>
            <a:r>
              <a:rPr sz="850" b="1" i="0">
                <a:solidFill>
                  <a:srgbClr val="0B6E6A"/>
                </a:solidFill>
                <a:latin typeface="Google Sans Flex"/>
              </a:rPr>
              <a:t>USD, 300 SESSIONS, 16 OCT TO 7 NOV 2026 (COLUMN B2)</a:t>
            </a:r>
          </a:p>
        </p:txBody>
      </p:sp>
      <p:graphicFrame>
        <p:nvGraphicFramePr>
          <p:cNvPr id="130" name="Chart 129"/>
          <p:cNvGraphicFramePr>
            <a:graphicFrameLocks noGrp="1"/>
          </p:cNvGraphicFramePr>
          <p:nvPr/>
        </p:nvGraphicFramePr>
        <p:xfrm>
          <a:off x="182880" y="1938528"/>
          <a:ext cx="4572000" cy="2331720"/>
        </p:xfrm>
        <a:graphic>
          <a:graphicData uri="http://schemas.openxmlformats.org/drawingml/2006/chart">
            <c:chart r:id="rId5"/>
          </a:graphicData>
        </a:graphic>
      </p:graphicFrame>
      <p:sp>
        <p:nvSpPr>
          <p:cNvPr id="131" name="TextBox 130"/>
          <p:cNvSpPr txBox="1"/>
          <p:nvPr/>
        </p:nvSpPr>
        <p:spPr>
          <a:xfrm>
            <a:off x="265176" y="4224528"/>
            <a:ext cx="4480560" cy="411480"/>
          </a:xfrm>
          <a:prstGeom prst="rect">
            <a:avLst/>
          </a:prstGeom>
          <a:noFill/>
        </p:spPr>
        <p:txBody>
          <a:bodyPr wrap="square" lIns="0" rIns="0" tIns="0" bIns="0" anchor="t">
            <a:spAutoFit/>
          </a:bodyPr>
          <a:lstStyle/>
          <a:p>
            <a:pPr algn="l">
              <a:lnSpc>
                <a:spcPct val="100000"/>
              </a:lnSpc>
              <a:spcAft>
                <a:spcPts val="0"/>
              </a:spcAft>
            </a:pPr>
            <a:r>
              <a:rPr sz="900" b="1" i="0">
                <a:solidFill>
                  <a:srgbClr val="172427"/>
                </a:solidFill>
                <a:latin typeface="Google Sans Flex"/>
              </a:rPr>
              <a:t>Total USD 16.75 with PPN. </a:t>
            </a:r>
            <a:r>
              <a:rPr sz="900" b="0" i="0">
                <a:solidFill>
                  <a:srgbClr val="5B6B70"/>
                </a:solidFill>
                <a:latin typeface="Google Sans Flex"/>
              </a:rPr>
              <a:t>At 2,000 sessions: USD 37.77. The warm instance is the biggest line; Cloud Run’s free tier should cut it.</a:t>
            </a:r>
          </a:p>
        </p:txBody>
      </p:sp>
      <p:sp>
        <p:nvSpPr>
          <p:cNvPr id="132" name="TextBox 131"/>
          <p:cNvSpPr txBox="1"/>
          <p:nvPr/>
        </p:nvSpPr>
        <p:spPr>
          <a:xfrm>
            <a:off x="5074920" y="1737360"/>
            <a:ext cx="3749039" cy="201168"/>
          </a:xfrm>
          <a:prstGeom prst="rect">
            <a:avLst/>
          </a:prstGeom>
          <a:noFill/>
        </p:spPr>
        <p:txBody>
          <a:bodyPr wrap="square" lIns="0" rIns="0" tIns="0" bIns="0" anchor="t">
            <a:spAutoFit/>
          </a:bodyPr>
          <a:lstStyle/>
          <a:p>
            <a:pPr algn="l">
              <a:spcAft>
                <a:spcPts val="0"/>
              </a:spcAft>
            </a:pPr>
            <a:r>
              <a:rPr sz="850" b="1" i="0">
                <a:solidFill>
                  <a:srgbClr val="0B6E6A"/>
                </a:solidFill>
                <a:latin typeface="Google Sans Flex"/>
              </a:rPr>
              <a:t>HARD CAPS SET IN THE PROJECT</a:t>
            </a:r>
          </a:p>
        </p:txBody>
      </p:sp>
      <p:graphicFrame>
        <p:nvGraphicFramePr>
          <p:cNvPr id="133" name="Table 132"/>
          <p:cNvGraphicFramePr>
            <a:graphicFrameLocks noGrp="1"/>
          </p:cNvGraphicFramePr>
          <p:nvPr/>
        </p:nvGraphicFramePr>
        <p:xfrm>
          <a:off x="5074920" y="1984248"/>
          <a:ext cx="3794760" cy="2414016"/>
        </p:xfrm>
        <a:graphic>
          <a:graphicData uri="http://schemas.openxmlformats.org/drawingml/2006/table">
            <a:tbl>
              <a:tblPr firstRow="0" bandRow="0">
                <a:tableStyleId>{5940675A-B579-460E-94D1-54222C63F5DA}</a:tableStyleId>
              </a:tblPr>
              <a:tblGrid>
                <a:gridCol w="2057400"/>
                <a:gridCol w="1737360"/>
              </a:tblGrid>
              <a:tr h="301752">
                <a:tc>
                  <a:txBody>
                    <a:bodyPr wrap="square"/>
                    <a:lstStyle/>
                    <a:p>
                      <a:pPr algn="l"/>
                      <a:r>
                        <a:rPr sz="850" b="1" i="0">
                          <a:solidFill>
                            <a:srgbClr val="0B6E6A"/>
                          </a:solidFill>
                          <a:latin typeface="Google Sans Flex"/>
                        </a:rPr>
                        <a:t>Quota</a:t>
                      </a:r>
                    </a:p>
                  </a:txBody>
                  <a:tcPr marL="64008" marR="64008" marT="22860" marB="22860" anchor="ctr">
                    <a:solidFill>
                      <a:srgbClr val="DCEFEC"/>
                    </a:solidFill>
                    <a:lnL w="0">
                      <a:noFill/>
                    </a:lnL>
                    <a:lnR w="0">
                      <a:noFill/>
                    </a:lnR>
                    <a:lnT w="0">
                      <a:noFill/>
                    </a:lnT>
                    <a:lnB w="6350">
                      <a:solidFill>
                        <a:srgbClr val="D5DDDF"/>
                      </a:solidFill>
                    </a:lnB>
                  </a:tcPr>
                </a:tc>
                <a:tc>
                  <a:txBody>
                    <a:bodyPr wrap="square"/>
                    <a:lstStyle/>
                    <a:p>
                      <a:pPr algn="l"/>
                      <a:r>
                        <a:rPr sz="850" b="1" i="0">
                          <a:solidFill>
                            <a:srgbClr val="0B6E6A"/>
                          </a:solidFill>
                          <a:latin typeface="Google Sans Flex"/>
                        </a:rPr>
                        <a:t>Daily cap</a:t>
                      </a:r>
                    </a:p>
                  </a:txBody>
                  <a:tcPr marL="64008" marR="64008" marT="22860" marB="22860" anchor="ctr">
                    <a:solidFill>
                      <a:srgbClr val="DCEFEC"/>
                    </a:solidFill>
                    <a:lnL w="0">
                      <a:noFill/>
                    </a:lnL>
                    <a:lnR w="0">
                      <a:noFill/>
                    </a:lnR>
                    <a:lnT w="0">
                      <a:noFill/>
                    </a:lnT>
                    <a:lnB w="6350">
                      <a:solidFill>
                        <a:srgbClr val="D5DDDF"/>
                      </a:solidFill>
                    </a:lnB>
                  </a:tcPr>
                </a:tc>
              </a:tr>
              <a:tr h="301752">
                <a:tc>
                  <a:txBody>
                    <a:bodyPr wrap="square"/>
                    <a:lstStyle/>
                    <a:p>
                      <a:pPr algn="l"/>
                      <a:r>
                        <a:rPr sz="850" b="0" i="0">
                          <a:solidFill>
                            <a:srgbClr val="172427"/>
                          </a:solidFill>
                          <a:latin typeface="Google Sans Flex"/>
                        </a:rPr>
                        <a:t>Places Text Search</a:t>
                      </a:r>
                    </a:p>
                  </a:txBody>
                  <a:tcPr marL="64008" marR="64008" marT="22860" marB="22860" anchor="ctr">
                    <a:solidFill>
                      <a:srgbClr val="FFFFFF"/>
                    </a:solidFill>
                    <a:lnL w="0">
                      <a:noFill/>
                    </a:lnL>
                    <a:lnR w="0">
                      <a:noFill/>
                    </a:lnR>
                    <a:lnT w="0">
                      <a:noFill/>
                    </a:lnT>
                    <a:lnB w="6350">
                      <a:solidFill>
                        <a:srgbClr val="D5DDDF"/>
                      </a:solidFill>
                    </a:lnB>
                  </a:tcPr>
                </a:tc>
                <a:tc>
                  <a:txBody>
                    <a:bodyPr wrap="square"/>
                    <a:lstStyle/>
                    <a:p>
                      <a:pPr algn="l"/>
                      <a:r>
                        <a:rPr sz="850" b="0" i="0">
                          <a:solidFill>
                            <a:srgbClr val="172427"/>
                          </a:solidFill>
                          <a:latin typeface="Google Sans Flex"/>
                        </a:rPr>
                        <a:t>160 calls</a:t>
                      </a:r>
                    </a:p>
                  </a:txBody>
                  <a:tcPr marL="64008" marR="64008" marT="22860" marB="22860" anchor="ctr">
                    <a:solidFill>
                      <a:srgbClr val="FFFFFF"/>
                    </a:solidFill>
                    <a:lnL w="0">
                      <a:noFill/>
                    </a:lnL>
                    <a:lnR w="0">
                      <a:noFill/>
                    </a:lnR>
                    <a:lnT w="0">
                      <a:noFill/>
                    </a:lnT>
                    <a:lnB w="6350">
                      <a:solidFill>
                        <a:srgbClr val="D5DDDF"/>
                      </a:solidFill>
                    </a:lnB>
                  </a:tcPr>
                </a:tc>
              </a:tr>
              <a:tr h="301752">
                <a:tc>
                  <a:txBody>
                    <a:bodyPr wrap="square"/>
                    <a:lstStyle/>
                    <a:p>
                      <a:pPr algn="l"/>
                      <a:r>
                        <a:rPr sz="850" b="0" i="0">
                          <a:solidFill>
                            <a:srgbClr val="172427"/>
                          </a:solidFill>
                          <a:latin typeface="Google Sans Flex"/>
                        </a:rPr>
                        <a:t>Places Get Place (details, reviews)</a:t>
                      </a:r>
                    </a:p>
                  </a:txBody>
                  <a:tcPr marL="64008" marR="64008" marT="22860" marB="22860" anchor="ctr">
                    <a:solidFill>
                      <a:srgbClr val="FFFFFF"/>
                    </a:solidFill>
                    <a:lnL w="0">
                      <a:noFill/>
                    </a:lnL>
                    <a:lnR w="0">
                      <a:noFill/>
                    </a:lnR>
                    <a:lnT w="0">
                      <a:noFill/>
                    </a:lnT>
                    <a:lnB w="6350">
                      <a:solidFill>
                        <a:srgbClr val="D5DDDF"/>
                      </a:solidFill>
                    </a:lnB>
                  </a:tcPr>
                </a:tc>
                <a:tc>
                  <a:txBody>
                    <a:bodyPr wrap="square"/>
                    <a:lstStyle/>
                    <a:p>
                      <a:pPr algn="l"/>
                      <a:r>
                        <a:rPr sz="850" b="0" i="0">
                          <a:solidFill>
                            <a:srgbClr val="172427"/>
                          </a:solidFill>
                          <a:latin typeface="Google Sans Flex"/>
                        </a:rPr>
                        <a:t>83 calls</a:t>
                      </a:r>
                    </a:p>
                  </a:txBody>
                  <a:tcPr marL="64008" marR="64008" marT="22860" marB="22860" anchor="ctr">
                    <a:solidFill>
                      <a:srgbClr val="FFFFFF"/>
                    </a:solidFill>
                    <a:lnL w="0">
                      <a:noFill/>
                    </a:lnL>
                    <a:lnR w="0">
                      <a:noFill/>
                    </a:lnR>
                    <a:lnT w="0">
                      <a:noFill/>
                    </a:lnT>
                    <a:lnB w="6350">
                      <a:solidFill>
                        <a:srgbClr val="D5DDDF"/>
                      </a:solidFill>
                    </a:lnB>
                  </a:tcPr>
                </a:tc>
              </a:tr>
              <a:tr h="301752">
                <a:tc>
                  <a:txBody>
                    <a:bodyPr wrap="square"/>
                    <a:lstStyle/>
                    <a:p>
                      <a:pPr algn="l"/>
                      <a:r>
                        <a:rPr sz="850" b="0" i="0">
                          <a:solidFill>
                            <a:srgbClr val="172427"/>
                          </a:solidFill>
                          <a:latin typeface="Google Sans Flex"/>
                        </a:rPr>
                        <a:t>Places Autocomplete</a:t>
                      </a:r>
                    </a:p>
                  </a:txBody>
                  <a:tcPr marL="64008" marR="64008" marT="22860" marB="22860" anchor="ctr">
                    <a:solidFill>
                      <a:srgbClr val="FFFFFF"/>
                    </a:solidFill>
                    <a:lnL w="0">
                      <a:noFill/>
                    </a:lnL>
                    <a:lnR w="0">
                      <a:noFill/>
                    </a:lnR>
                    <a:lnT w="0">
                      <a:noFill/>
                    </a:lnT>
                    <a:lnB w="6350">
                      <a:solidFill>
                        <a:srgbClr val="D5DDDF"/>
                      </a:solidFill>
                    </a:lnB>
                  </a:tcPr>
                </a:tc>
                <a:tc>
                  <a:txBody>
                    <a:bodyPr wrap="square"/>
                    <a:lstStyle/>
                    <a:p>
                      <a:pPr algn="l"/>
                      <a:r>
                        <a:rPr sz="850" b="0" i="0">
                          <a:solidFill>
                            <a:srgbClr val="172427"/>
                          </a:solidFill>
                          <a:latin typeface="Google Sans Flex"/>
                        </a:rPr>
                        <a:t>300 calls</a:t>
                      </a:r>
                    </a:p>
                  </a:txBody>
                  <a:tcPr marL="64008" marR="64008" marT="22860" marB="22860" anchor="ctr">
                    <a:solidFill>
                      <a:srgbClr val="FFFFFF"/>
                    </a:solidFill>
                    <a:lnL w="0">
                      <a:noFill/>
                    </a:lnL>
                    <a:lnR w="0">
                      <a:noFill/>
                    </a:lnR>
                    <a:lnT w="0">
                      <a:noFill/>
                    </a:lnT>
                    <a:lnB w="6350">
                      <a:solidFill>
                        <a:srgbClr val="D5DDDF"/>
                      </a:solidFill>
                    </a:lnB>
                  </a:tcPr>
                </a:tc>
              </a:tr>
              <a:tr h="301752">
                <a:tc>
                  <a:txBody>
                    <a:bodyPr wrap="square"/>
                    <a:lstStyle/>
                    <a:p>
                      <a:pPr algn="l"/>
                      <a:r>
                        <a:rPr sz="850" b="0" i="0">
                          <a:solidFill>
                            <a:srgbClr val="172427"/>
                          </a:solidFill>
                          <a:latin typeface="Google Sans Flex"/>
                        </a:rPr>
                        <a:t>Places Nearby, Photos</a:t>
                      </a:r>
                    </a:p>
                  </a:txBody>
                  <a:tcPr marL="64008" marR="64008" marT="22860" marB="22860" anchor="ctr">
                    <a:solidFill>
                      <a:srgbClr val="FFFFFF"/>
                    </a:solidFill>
                    <a:lnL w="0">
                      <a:noFill/>
                    </a:lnL>
                    <a:lnR w="0">
                      <a:noFill/>
                    </a:lnR>
                    <a:lnT w="0">
                      <a:noFill/>
                    </a:lnT>
                    <a:lnB w="6350">
                      <a:solidFill>
                        <a:srgbClr val="D5DDDF"/>
                      </a:solidFill>
                    </a:lnB>
                  </a:tcPr>
                </a:tc>
                <a:tc>
                  <a:txBody>
                    <a:bodyPr wrap="square"/>
                    <a:lstStyle/>
                    <a:p>
                      <a:pPr algn="l"/>
                      <a:r>
                        <a:rPr sz="850" b="0" i="0">
                          <a:solidFill>
                            <a:srgbClr val="172427"/>
                          </a:solidFill>
                          <a:latin typeface="Google Sans Flex"/>
                        </a:rPr>
                        <a:t>0</a:t>
                      </a:r>
                    </a:p>
                  </a:txBody>
                  <a:tcPr marL="64008" marR="64008" marT="22860" marB="22860" anchor="ctr">
                    <a:solidFill>
                      <a:srgbClr val="FFFFFF"/>
                    </a:solidFill>
                    <a:lnL w="0">
                      <a:noFill/>
                    </a:lnL>
                    <a:lnR w="0">
                      <a:noFill/>
                    </a:lnR>
                    <a:lnT w="0">
                      <a:noFill/>
                    </a:lnT>
                    <a:lnB w="6350">
                      <a:solidFill>
                        <a:srgbClr val="D5DDDF"/>
                      </a:solidFill>
                    </a:lnB>
                  </a:tcPr>
                </a:tc>
              </a:tr>
              <a:tr h="301752">
                <a:tc>
                  <a:txBody>
                    <a:bodyPr wrap="square"/>
                    <a:lstStyle/>
                    <a:p>
                      <a:pPr algn="l"/>
                      <a:r>
                        <a:rPr sz="850" b="0" i="0">
                          <a:solidFill>
                            <a:srgbClr val="172427"/>
                          </a:solidFill>
                          <a:latin typeface="Google Sans Flex"/>
                        </a:rPr>
                        <a:t>Gemini 3.8 Flash input tokens</a:t>
                      </a:r>
                    </a:p>
                  </a:txBody>
                  <a:tcPr marL="64008" marR="64008" marT="22860" marB="22860" anchor="ctr">
                    <a:solidFill>
                      <a:srgbClr val="FFFFFF"/>
                    </a:solidFill>
                    <a:lnL w="0">
                      <a:noFill/>
                    </a:lnL>
                    <a:lnR w="0">
                      <a:noFill/>
                    </a:lnR>
                    <a:lnT w="0">
                      <a:noFill/>
                    </a:lnT>
                    <a:lnB w="6350">
                      <a:solidFill>
                        <a:srgbClr val="D5DDDF"/>
                      </a:solidFill>
                    </a:lnB>
                  </a:tcPr>
                </a:tc>
                <a:tc>
                  <a:txBody>
                    <a:bodyPr wrap="square"/>
                    <a:lstStyle/>
                    <a:p>
                      <a:pPr algn="l"/>
                      <a:r>
                        <a:rPr sz="850" b="0" i="0">
                          <a:solidFill>
                            <a:srgbClr val="172427"/>
                          </a:solidFill>
                          <a:latin typeface="Google Sans Flex"/>
                        </a:rPr>
                        <a:t>2,000,000</a:t>
                      </a:r>
                    </a:p>
                  </a:txBody>
                  <a:tcPr marL="64008" marR="64008" marT="22860" marB="22860" anchor="ctr">
                    <a:solidFill>
                      <a:srgbClr val="FFFFFF"/>
                    </a:solidFill>
                    <a:lnL w="0">
                      <a:noFill/>
                    </a:lnL>
                    <a:lnR w="0">
                      <a:noFill/>
                    </a:lnR>
                    <a:lnT w="0">
                      <a:noFill/>
                    </a:lnT>
                    <a:lnB w="6350">
                      <a:solidFill>
                        <a:srgbClr val="D5DDDF"/>
                      </a:solidFill>
                    </a:lnB>
                  </a:tcPr>
                </a:tc>
              </a:tr>
              <a:tr h="301752">
                <a:tc>
                  <a:txBody>
                    <a:bodyPr wrap="square"/>
                    <a:lstStyle/>
                    <a:p>
                      <a:pPr algn="l"/>
                      <a:r>
                        <a:rPr sz="850" b="0" i="0">
                          <a:solidFill>
                            <a:srgbClr val="172427"/>
                          </a:solidFill>
                          <a:latin typeface="Google Sans Flex"/>
                        </a:rPr>
                        <a:t>Gemini 3.5 Flash-Lite input tokens</a:t>
                      </a:r>
                    </a:p>
                  </a:txBody>
                  <a:tcPr marL="64008" marR="64008" marT="22860" marB="22860" anchor="ctr">
                    <a:solidFill>
                      <a:srgbClr val="FFFFFF"/>
                    </a:solidFill>
                    <a:lnL w="0">
                      <a:noFill/>
                    </a:lnL>
                    <a:lnR w="0">
                      <a:noFill/>
                    </a:lnR>
                    <a:lnT w="0">
                      <a:noFill/>
                    </a:lnT>
                    <a:lnB w="6350">
                      <a:solidFill>
                        <a:srgbClr val="D5DDDF"/>
                      </a:solidFill>
                    </a:lnB>
                  </a:tcPr>
                </a:tc>
                <a:tc>
                  <a:txBody>
                    <a:bodyPr wrap="square"/>
                    <a:lstStyle/>
                    <a:p>
                      <a:pPr algn="l"/>
                      <a:r>
                        <a:rPr sz="850" b="0" i="0">
                          <a:solidFill>
                            <a:srgbClr val="172427"/>
                          </a:solidFill>
                          <a:latin typeface="Google Sans Flex"/>
                        </a:rPr>
                        <a:t>1,000,000</a:t>
                      </a:r>
                    </a:p>
                  </a:txBody>
                  <a:tcPr marL="64008" marR="64008" marT="22860" marB="22860" anchor="ctr">
                    <a:solidFill>
                      <a:srgbClr val="FFFFFF"/>
                    </a:solidFill>
                    <a:lnL w="0">
                      <a:noFill/>
                    </a:lnL>
                    <a:lnR w="0">
                      <a:noFill/>
                    </a:lnR>
                    <a:lnT w="0">
                      <a:noFill/>
                    </a:lnT>
                    <a:lnB w="6350">
                      <a:solidFill>
                        <a:srgbClr val="D5DDDF"/>
                      </a:solidFill>
                    </a:lnB>
                  </a:tcPr>
                </a:tc>
              </a:tr>
              <a:tr h="301752">
                <a:tc>
                  <a:txBody>
                    <a:bodyPr wrap="square"/>
                    <a:lstStyle/>
                    <a:p>
                      <a:pPr algn="l"/>
                      <a:r>
                        <a:rPr sz="850" b="0" i="0">
                          <a:solidFill>
                            <a:srgbClr val="172427"/>
                          </a:solidFill>
                          <a:latin typeface="Google Sans Flex"/>
                        </a:rPr>
                        <a:t>Billing budget, whole account</a:t>
                      </a:r>
                    </a:p>
                  </a:txBody>
                  <a:tcPr marL="64008" marR="64008" marT="22860" marB="22860" anchor="ctr">
                    <a:solidFill>
                      <a:srgbClr val="FFFFFF"/>
                    </a:solidFill>
                    <a:lnL w="0">
                      <a:noFill/>
                    </a:lnL>
                    <a:lnR w="0">
                      <a:noFill/>
                    </a:lnR>
                    <a:lnT w="0">
                      <a:noFill/>
                    </a:lnT>
                    <a:lnB w="6350">
                      <a:solidFill>
                        <a:srgbClr val="D5DDDF"/>
                      </a:solidFill>
                    </a:lnB>
                  </a:tcPr>
                </a:tc>
                <a:tc>
                  <a:txBody>
                    <a:bodyPr wrap="square"/>
                    <a:lstStyle/>
                    <a:p>
                      <a:pPr algn="l"/>
                      <a:r>
                        <a:rPr sz="850" b="0" i="0">
                          <a:solidFill>
                            <a:srgbClr val="172427"/>
                          </a:solidFill>
                          <a:latin typeface="Google Sans Flex"/>
                        </a:rPr>
                        <a:t>IDR 1.65 M (~USD 100), alerts 50% and 90%</a:t>
                      </a:r>
                    </a:p>
                  </a:txBody>
                  <a:tcPr marL="64008" marR="64008" marT="22860" marB="22860" anchor="ctr">
                    <a:solidFill>
                      <a:srgbClr val="FFFFFF"/>
                    </a:solidFill>
                    <a:lnL w="0">
                      <a:noFill/>
                    </a:lnL>
                    <a:lnR w="0">
                      <a:noFill/>
                    </a:lnR>
                    <a:lnT w="0">
                      <a:noFill/>
                    </a:lnT>
                    <a:lnB w="6350">
                      <a:solidFill>
                        <a:srgbClr val="D5DDDF"/>
                      </a:solidFill>
                    </a:lnB>
                  </a:tcPr>
                </a:tc>
              </a:tr>
            </a:tbl>
          </a:graphicData>
        </a:graphic>
      </p:graphicFrame>
      <p:sp>
        <p:nvSpPr>
          <p:cNvPr id="134" name="Source"/>
          <p:cNvSpPr txBox="1"/>
          <p:nvPr/>
        </p:nvSpPr>
        <p:spPr>
          <a:xfrm>
            <a:off x="265176" y="4690872"/>
            <a:ext cx="8595360" cy="329184"/>
          </a:xfrm>
          <a:prstGeom prst="rect">
            <a:avLst/>
          </a:prstGeom>
          <a:noFill/>
        </p:spPr>
        <p:txBody>
          <a:bodyPr wrap="square" lIns="0" rIns="0" tIns="0" bIns="0" anchor="b">
            <a:spAutoFit/>
          </a:bodyPr>
          <a:lstStyle/>
          <a:p>
            <a:pPr algn="l">
              <a:spcAft>
                <a:spcPts val="0"/>
              </a:spcAft>
            </a:pPr>
            <a:r>
              <a:rPr sz="750" b="0" i="0">
                <a:solidFill>
                  <a:srgbClr val="5B6B70"/>
                </a:solidFill>
                <a:latin typeface="Google Sans Flex"/>
              </a:rPr>
              <a:t>docs/research/cost-comparison-2026-10-17.md (list prices read 16 to 17 Oct 2026, ex-tax plus PPN 11%; no credits); infra/gcp/README.md daily caps. Places spend above free allowances capped at USD 10 a month (ADR-0005).</a:t>
            </a: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pic>
        <p:nvPicPr>
          <p:cNvPr id="132" name="Google Shape;132;p23"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33" name="Google Shape;133;p23"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34" name="Google Shape;134;p23"/>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5" name="Google Shape;135;p23"/>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Snapshots of the prototype</a:t>
            </a:r>
            <a:endParaRPr sz="1600">
              <a:latin typeface="Google Sans Flex Medium"/>
              <a:ea typeface="Google Sans Flex Medium"/>
              <a:cs typeface="Google Sans Flex Medium"/>
              <a:sym typeface="Google Sans Flex Medium"/>
            </a:endParaRPr>
          </a:p>
        </p:txBody>
      </p:sp>
      <p:sp>
        <p:nvSpPr>
          <p:cNvPr id="136" name="Action title"/>
          <p:cNvSpPr txBox="1"/>
          <p:nvPr/>
        </p:nvSpPr>
        <p:spPr>
          <a:xfrm>
            <a:off x="265176" y="1024128"/>
            <a:ext cx="8595360" cy="566928"/>
          </a:xfrm>
          <a:prstGeom prst="rect">
            <a:avLst/>
          </a:prstGeom>
          <a:noFill/>
        </p:spPr>
        <p:txBody>
          <a:bodyPr wrap="square" lIns="0" rIns="0" tIns="0" bIns="0" anchor="t">
            <a:spAutoFit/>
          </a:bodyPr>
          <a:lstStyle/>
          <a:p>
            <a:pPr algn="l">
              <a:lnSpc>
                <a:spcPct val="100000"/>
              </a:lnSpc>
              <a:spcAft>
                <a:spcPts val="0"/>
              </a:spcAft>
            </a:pPr>
            <a:r>
              <a:rPr sz="1900" b="1" i="0">
                <a:solidFill>
                  <a:srgbClr val="172427"/>
                </a:solidFill>
                <a:latin typeface="Google Sans Flex"/>
              </a:rPr>
              <a:t>The live build at findyourdent.com, captured at phone width</a:t>
            </a:r>
          </a:p>
        </p:txBody>
      </p:sp>
      <p:pic>
        <p:nvPicPr>
          <p:cNvPr id="137" name="Picture 136" descr="home.png"/>
          <p:cNvPicPr>
            <a:picLocks noChangeAspect="1"/>
          </p:cNvPicPr>
          <p:nvPr/>
        </p:nvPicPr>
        <p:blipFill>
          <a:blip r:embed="rId5"/>
          <a:stretch>
            <a:fillRect/>
          </a:stretch>
        </p:blipFill>
        <p:spPr>
          <a:xfrm>
            <a:off x="265176" y="1627631"/>
            <a:ext cx="1246466" cy="2697480"/>
          </a:xfrm>
          <a:prstGeom prst="rect">
            <a:avLst/>
          </a:prstGeom>
          <a:ln w="9525">
            <a:solidFill>
              <a:srgbClr val="D5DDDF"/>
            </a:solidFill>
          </a:ln>
        </p:spPr>
      </p:pic>
      <p:sp>
        <p:nvSpPr>
          <p:cNvPr id="138" name="TextBox 137"/>
          <p:cNvSpPr txBox="1"/>
          <p:nvPr/>
        </p:nvSpPr>
        <p:spPr>
          <a:xfrm>
            <a:off x="155448" y="4379976"/>
            <a:ext cx="1465921" cy="274320"/>
          </a:xfrm>
          <a:prstGeom prst="rect">
            <a:avLst/>
          </a:prstGeom>
          <a:noFill/>
        </p:spPr>
        <p:txBody>
          <a:bodyPr wrap="square" lIns="0" rIns="0" tIns="0" bIns="0" anchor="t">
            <a:spAutoFit/>
          </a:bodyPr>
          <a:lstStyle/>
          <a:p>
            <a:pPr algn="ctr">
              <a:spcAft>
                <a:spcPts val="0"/>
              </a:spcAft>
            </a:pPr>
            <a:r>
              <a:rPr sz="850" b="0" i="0">
                <a:solidFill>
                  <a:srgbClr val="172427"/>
                </a:solidFill>
                <a:latin typeface="Google Sans Flex"/>
              </a:rPr>
              <a:t>Home: describe the complaint</a:t>
            </a:r>
          </a:p>
        </p:txBody>
      </p:sp>
      <p:pic>
        <p:nvPicPr>
          <p:cNvPr id="139" name="Picture 138" descr="guidance.png"/>
          <p:cNvPicPr>
            <a:picLocks noChangeAspect="1"/>
          </p:cNvPicPr>
          <p:nvPr/>
        </p:nvPicPr>
        <p:blipFill>
          <a:blip r:embed="rId6"/>
          <a:stretch>
            <a:fillRect/>
          </a:stretch>
        </p:blipFill>
        <p:spPr>
          <a:xfrm>
            <a:off x="2106971" y="1627631"/>
            <a:ext cx="1246466" cy="2697480"/>
          </a:xfrm>
          <a:prstGeom prst="rect">
            <a:avLst/>
          </a:prstGeom>
          <a:ln w="9525">
            <a:solidFill>
              <a:srgbClr val="D5DDDF"/>
            </a:solidFill>
          </a:ln>
        </p:spPr>
      </p:pic>
      <p:sp>
        <p:nvSpPr>
          <p:cNvPr id="140" name="TextBox 139"/>
          <p:cNvSpPr txBox="1"/>
          <p:nvPr/>
        </p:nvSpPr>
        <p:spPr>
          <a:xfrm>
            <a:off x="1997243" y="4379976"/>
            <a:ext cx="1465921" cy="274320"/>
          </a:xfrm>
          <a:prstGeom prst="rect">
            <a:avLst/>
          </a:prstGeom>
          <a:noFill/>
        </p:spPr>
        <p:txBody>
          <a:bodyPr wrap="square" lIns="0" rIns="0" tIns="0" bIns="0" anchor="t">
            <a:spAutoFit/>
          </a:bodyPr>
          <a:lstStyle/>
          <a:p>
            <a:pPr algn="ctr">
              <a:spcAft>
                <a:spcPts val="0"/>
              </a:spcAft>
            </a:pPr>
            <a:r>
              <a:rPr sz="850" b="0" i="0">
                <a:solidFill>
                  <a:srgbClr val="172427"/>
                </a:solidFill>
                <a:latin typeface="Google Sans Flex"/>
              </a:rPr>
              <a:t>Guidance: urgency, problem, visits</a:t>
            </a:r>
          </a:p>
        </p:txBody>
      </p:sp>
      <p:pic>
        <p:nvPicPr>
          <p:cNvPr id="141" name="Picture 140" descr="emergency.png"/>
          <p:cNvPicPr>
            <a:picLocks noChangeAspect="1"/>
          </p:cNvPicPr>
          <p:nvPr/>
        </p:nvPicPr>
        <p:blipFill>
          <a:blip r:embed="rId7"/>
          <a:stretch>
            <a:fillRect/>
          </a:stretch>
        </p:blipFill>
        <p:spPr>
          <a:xfrm>
            <a:off x="3948767" y="1627631"/>
            <a:ext cx="1246466" cy="2697480"/>
          </a:xfrm>
          <a:prstGeom prst="rect">
            <a:avLst/>
          </a:prstGeom>
          <a:ln w="9525">
            <a:solidFill>
              <a:srgbClr val="D5DDDF"/>
            </a:solidFill>
          </a:ln>
        </p:spPr>
      </p:pic>
      <p:sp>
        <p:nvSpPr>
          <p:cNvPr id="142" name="TextBox 141"/>
          <p:cNvSpPr txBox="1"/>
          <p:nvPr/>
        </p:nvSpPr>
        <p:spPr>
          <a:xfrm>
            <a:off x="3839039" y="4379976"/>
            <a:ext cx="1465921" cy="274320"/>
          </a:xfrm>
          <a:prstGeom prst="rect">
            <a:avLst/>
          </a:prstGeom>
          <a:noFill/>
        </p:spPr>
        <p:txBody>
          <a:bodyPr wrap="square" lIns="0" rIns="0" tIns="0" bIns="0" anchor="t">
            <a:spAutoFit/>
          </a:bodyPr>
          <a:lstStyle/>
          <a:p>
            <a:pPr algn="ctr">
              <a:spcAft>
                <a:spcPts val="0"/>
              </a:spcAft>
            </a:pPr>
            <a:r>
              <a:rPr sz="850" b="0" i="0">
                <a:solidFill>
                  <a:srgbClr val="172427"/>
                </a:solidFill>
                <a:latin typeface="Google Sans Flex"/>
              </a:rPr>
              <a:t>Emergency: “Ke IGD sekarang”</a:t>
            </a:r>
          </a:p>
        </p:txBody>
      </p:sp>
      <p:pic>
        <p:nvPicPr>
          <p:cNvPr id="143" name="Picture 142" descr="shortlist.png"/>
          <p:cNvPicPr>
            <a:picLocks noChangeAspect="1"/>
          </p:cNvPicPr>
          <p:nvPr/>
        </p:nvPicPr>
        <p:blipFill>
          <a:blip r:embed="rId8"/>
          <a:stretch>
            <a:fillRect/>
          </a:stretch>
        </p:blipFill>
        <p:spPr>
          <a:xfrm>
            <a:off x="5790562" y="1627631"/>
            <a:ext cx="1246466" cy="2697480"/>
          </a:xfrm>
          <a:prstGeom prst="rect">
            <a:avLst/>
          </a:prstGeom>
          <a:ln w="9525">
            <a:solidFill>
              <a:srgbClr val="D5DDDF"/>
            </a:solidFill>
          </a:ln>
        </p:spPr>
      </p:pic>
      <p:sp>
        <p:nvSpPr>
          <p:cNvPr id="144" name="TextBox 143"/>
          <p:cNvSpPr txBox="1"/>
          <p:nvPr/>
        </p:nvSpPr>
        <p:spPr>
          <a:xfrm>
            <a:off x="5680834" y="4379976"/>
            <a:ext cx="1465921" cy="274320"/>
          </a:xfrm>
          <a:prstGeom prst="rect">
            <a:avLst/>
          </a:prstGeom>
          <a:noFill/>
        </p:spPr>
        <p:txBody>
          <a:bodyPr wrap="square" lIns="0" rIns="0" tIns="0" bIns="0" anchor="t">
            <a:spAutoFit/>
          </a:bodyPr>
          <a:lstStyle/>
          <a:p>
            <a:pPr algn="ctr">
              <a:spcAft>
                <a:spcPts val="0"/>
              </a:spcAft>
            </a:pPr>
            <a:r>
              <a:rPr sz="850" b="0" i="0">
                <a:solidFill>
                  <a:srgbClr val="172427"/>
                </a:solidFill>
                <a:latin typeface="Google Sans Flex"/>
              </a:rPr>
              <a:t>Shortlist: who can treat it nearby</a:t>
            </a:r>
          </a:p>
        </p:txBody>
      </p:sp>
      <p:pic>
        <p:nvPicPr>
          <p:cNvPr id="145" name="Picture 144" descr="provider.png"/>
          <p:cNvPicPr>
            <a:picLocks noChangeAspect="1"/>
          </p:cNvPicPr>
          <p:nvPr/>
        </p:nvPicPr>
        <p:blipFill>
          <a:blip r:embed="rId9"/>
          <a:stretch>
            <a:fillRect/>
          </a:stretch>
        </p:blipFill>
        <p:spPr>
          <a:xfrm>
            <a:off x="7632358" y="1627631"/>
            <a:ext cx="1246466" cy="2697480"/>
          </a:xfrm>
          <a:prstGeom prst="rect">
            <a:avLst/>
          </a:prstGeom>
          <a:ln w="9525">
            <a:solidFill>
              <a:srgbClr val="D5DDDF"/>
            </a:solidFill>
          </a:ln>
        </p:spPr>
      </p:pic>
      <p:sp>
        <p:nvSpPr>
          <p:cNvPr id="146" name="TextBox 145"/>
          <p:cNvSpPr txBox="1"/>
          <p:nvPr/>
        </p:nvSpPr>
        <p:spPr>
          <a:xfrm>
            <a:off x="7522630" y="4379976"/>
            <a:ext cx="1465921" cy="274320"/>
          </a:xfrm>
          <a:prstGeom prst="rect">
            <a:avLst/>
          </a:prstGeom>
          <a:noFill/>
        </p:spPr>
        <p:txBody>
          <a:bodyPr wrap="square" lIns="0" rIns="0" tIns="0" bIns="0" anchor="t">
            <a:spAutoFit/>
          </a:bodyPr>
          <a:lstStyle/>
          <a:p>
            <a:pPr algn="ctr">
              <a:spcAft>
                <a:spcPts val="0"/>
              </a:spcAft>
            </a:pPr>
            <a:r>
              <a:rPr sz="850" b="0" i="0">
                <a:solidFill>
                  <a:srgbClr val="172427"/>
                </a:solidFill>
                <a:latin typeface="Google Sans Flex"/>
              </a:rPr>
              <a:t>Provider page: Testimonies, ratings</a:t>
            </a:r>
          </a:p>
        </p:txBody>
      </p:sp>
      <p:sp>
        <p:nvSpPr>
          <p:cNvPr id="147" name="Source"/>
          <p:cNvSpPr txBox="1"/>
          <p:nvPr/>
        </p:nvSpPr>
        <p:spPr>
          <a:xfrm>
            <a:off x="265176" y="4690872"/>
            <a:ext cx="8595360" cy="329184"/>
          </a:xfrm>
          <a:prstGeom prst="rect">
            <a:avLst/>
          </a:prstGeom>
          <a:noFill/>
        </p:spPr>
        <p:txBody>
          <a:bodyPr wrap="square" lIns="0" rIns="0" tIns="0" bIns="0" anchor="b">
            <a:spAutoFit/>
          </a:bodyPr>
          <a:lstStyle/>
          <a:p>
            <a:pPr algn="l">
              <a:spcAft>
                <a:spcPts val="0"/>
              </a:spcAft>
            </a:pPr>
            <a:r>
              <a:rPr sz="750" b="0" i="0">
                <a:solidFill>
                  <a:srgbClr val="5B6B70"/>
                </a:solidFill>
                <a:latin typeface="Google Sans Flex"/>
              </a:rPr>
              <a:t>Screenshots of https://findyourdent.com at 390 px (Chrome DevTools, mobile emulation), synthetic complaints. Testimonies shown are real Patient posts published through Moderation.</a:t>
            </a: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pic>
        <p:nvPicPr>
          <p:cNvPr id="140" name="Google Shape;140;p24"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41" name="Google Shape;141;p24"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42" name="Google Shape;142;p24"/>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3" name="Google Shape;143;p24"/>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Prototype Performance report/Benchmarking</a:t>
            </a:r>
            <a:endParaRPr sz="1600">
              <a:latin typeface="Google Sans Flex Medium"/>
              <a:ea typeface="Google Sans Flex Medium"/>
              <a:cs typeface="Google Sans Flex Medium"/>
              <a:sym typeface="Google Sans Flex Medium"/>
            </a:endParaRPr>
          </a:p>
        </p:txBody>
      </p:sp>
      <p:sp>
        <p:nvSpPr>
          <p:cNvPr id="144" name="Action title"/>
          <p:cNvSpPr txBox="1"/>
          <p:nvPr/>
        </p:nvSpPr>
        <p:spPr>
          <a:xfrm>
            <a:off x="265176" y="1024128"/>
            <a:ext cx="8595360" cy="566928"/>
          </a:xfrm>
          <a:prstGeom prst="rect">
            <a:avLst/>
          </a:prstGeom>
          <a:noFill/>
        </p:spPr>
        <p:txBody>
          <a:bodyPr wrap="square" lIns="0" rIns="0" tIns="0" bIns="0" anchor="t">
            <a:spAutoFit/>
          </a:bodyPr>
          <a:lstStyle/>
          <a:p>
            <a:pPr algn="l">
              <a:lnSpc>
                <a:spcPct val="100000"/>
              </a:lnSpc>
              <a:spcAft>
                <a:spcPts val="0"/>
              </a:spcAft>
            </a:pPr>
            <a:r>
              <a:rPr sz="1900" b="1" i="0">
                <a:solidFill>
                  <a:srgbClr val="172427"/>
                </a:solidFill>
                <a:latin typeface="Google Sans Flex"/>
              </a:rPr>
              <a:t>Every safety gate passes on the live build; urgency-tier accuracy is the one gate still failing</a:t>
            </a:r>
          </a:p>
        </p:txBody>
      </p:sp>
      <p:sp>
        <p:nvSpPr>
          <p:cNvPr id="145" name="Rounded Rectangle 144"/>
          <p:cNvSpPr/>
          <p:nvPr/>
        </p:nvSpPr>
        <p:spPr>
          <a:xfrm>
            <a:off x="265176" y="1737360"/>
            <a:ext cx="1901952" cy="1188720"/>
          </a:xfrm>
          <a:prstGeom prst="roundRect">
            <a:avLst>
              <a:gd name="adj" fmla="val 6000"/>
            </a:avLst>
          </a:prstGeom>
          <a:solidFill>
            <a:srgbClr val="F3F6F6"/>
          </a:solidFill>
          <a:ln>
            <a:noFill/>
          </a:ln>
        </p:spPr>
        <p:txBody>
          <a:bodyPr rtlCol="0" anchor="ctr"/>
          <a:lstStyle/>
          <a:p/>
        </p:txBody>
      </p:sp>
      <p:sp>
        <p:nvSpPr>
          <p:cNvPr id="146" name="TextBox 145"/>
          <p:cNvSpPr txBox="1"/>
          <p:nvPr/>
        </p:nvSpPr>
        <p:spPr>
          <a:xfrm>
            <a:off x="393192" y="1828800"/>
            <a:ext cx="1645920" cy="411480"/>
          </a:xfrm>
          <a:prstGeom prst="rect">
            <a:avLst/>
          </a:prstGeom>
          <a:noFill/>
        </p:spPr>
        <p:txBody>
          <a:bodyPr wrap="square" lIns="0" rIns="0" tIns="0" bIns="0" anchor="t">
            <a:spAutoFit/>
          </a:bodyPr>
          <a:lstStyle/>
          <a:p>
            <a:pPr algn="l">
              <a:spcAft>
                <a:spcPts val="0"/>
              </a:spcAft>
            </a:pPr>
            <a:r>
              <a:rPr sz="2400" b="1" i="0">
                <a:solidFill>
                  <a:srgbClr val="0B6E6A"/>
                </a:solidFill>
                <a:latin typeface="Google Sans Flex"/>
              </a:rPr>
              <a:t>48/48</a:t>
            </a:r>
          </a:p>
        </p:txBody>
      </p:sp>
      <p:sp>
        <p:nvSpPr>
          <p:cNvPr id="147" name="TextBox 146"/>
          <p:cNvSpPr txBox="1"/>
          <p:nvPr/>
        </p:nvSpPr>
        <p:spPr>
          <a:xfrm>
            <a:off x="393192" y="2286000"/>
            <a:ext cx="1645920" cy="621792"/>
          </a:xfrm>
          <a:prstGeom prst="rect">
            <a:avLst/>
          </a:prstGeom>
          <a:noFill/>
        </p:spPr>
        <p:txBody>
          <a:bodyPr wrap="square" lIns="0" rIns="0" tIns="0" bIns="0" anchor="t">
            <a:spAutoFit/>
          </a:bodyPr>
          <a:lstStyle/>
          <a:p>
            <a:pPr algn="l">
              <a:lnSpc>
                <a:spcPct val="100000"/>
              </a:lnSpc>
              <a:spcAft>
                <a:spcPts val="0"/>
              </a:spcAft>
            </a:pPr>
            <a:r>
              <a:rPr sz="850" b="0" i="0">
                <a:solidFill>
                  <a:srgbClr val="5B6B70"/>
                </a:solidFill>
                <a:latin typeface="Google Sans Flex"/>
              </a:rPr>
              <a:t>must-escalate phrases return “Ke IGD sekarang” without calling Gemini</a:t>
            </a:r>
          </a:p>
        </p:txBody>
      </p:sp>
      <p:sp>
        <p:nvSpPr>
          <p:cNvPr id="148" name="Rounded Rectangle 147"/>
          <p:cNvSpPr/>
          <p:nvPr/>
        </p:nvSpPr>
        <p:spPr>
          <a:xfrm>
            <a:off x="2304288" y="1737360"/>
            <a:ext cx="1901952" cy="1188720"/>
          </a:xfrm>
          <a:prstGeom prst="roundRect">
            <a:avLst>
              <a:gd name="adj" fmla="val 6000"/>
            </a:avLst>
          </a:prstGeom>
          <a:solidFill>
            <a:srgbClr val="F3F6F6"/>
          </a:solidFill>
          <a:ln>
            <a:noFill/>
          </a:ln>
        </p:spPr>
        <p:txBody>
          <a:bodyPr rtlCol="0" anchor="ctr"/>
          <a:lstStyle/>
          <a:p/>
        </p:txBody>
      </p:sp>
      <p:sp>
        <p:nvSpPr>
          <p:cNvPr id="149" name="TextBox 148"/>
          <p:cNvSpPr txBox="1"/>
          <p:nvPr/>
        </p:nvSpPr>
        <p:spPr>
          <a:xfrm>
            <a:off x="2432304" y="1828800"/>
            <a:ext cx="1645920" cy="411480"/>
          </a:xfrm>
          <a:prstGeom prst="rect">
            <a:avLst/>
          </a:prstGeom>
          <a:noFill/>
        </p:spPr>
        <p:txBody>
          <a:bodyPr wrap="square" lIns="0" rIns="0" tIns="0" bIns="0" anchor="t">
            <a:spAutoFit/>
          </a:bodyPr>
          <a:lstStyle/>
          <a:p>
            <a:pPr algn="l">
              <a:spcAft>
                <a:spcPts val="0"/>
              </a:spcAft>
            </a:pPr>
            <a:r>
              <a:rPr sz="2400" b="1" i="0">
                <a:solidFill>
                  <a:srgbClr val="0B6E6A"/>
                </a:solidFill>
                <a:latin typeface="Google Sans Flex"/>
              </a:rPr>
              <a:t>28/28</a:t>
            </a:r>
          </a:p>
        </p:txBody>
      </p:sp>
      <p:sp>
        <p:nvSpPr>
          <p:cNvPr id="150" name="TextBox 149"/>
          <p:cNvSpPr txBox="1"/>
          <p:nvPr/>
        </p:nvSpPr>
        <p:spPr>
          <a:xfrm>
            <a:off x="2432304" y="2286000"/>
            <a:ext cx="1645920" cy="621792"/>
          </a:xfrm>
          <a:prstGeom prst="rect">
            <a:avLst/>
          </a:prstGeom>
          <a:noFill/>
        </p:spPr>
        <p:txBody>
          <a:bodyPr wrap="square" lIns="0" rIns="0" tIns="0" bIns="0" anchor="t">
            <a:spAutoFit/>
          </a:bodyPr>
          <a:lstStyle/>
          <a:p>
            <a:pPr algn="l">
              <a:lnSpc>
                <a:spcPct val="100000"/>
              </a:lnSpc>
              <a:spcAft>
                <a:spcPts val="0"/>
              </a:spcAft>
            </a:pPr>
            <a:r>
              <a:rPr sz="850" b="0" i="0">
                <a:solidFill>
                  <a:srgbClr val="5B6B70"/>
                </a:solidFill>
                <a:latin typeface="Google Sans Flex"/>
              </a:rPr>
              <a:t>ordinary complaints do not escalate (negations, slang, regional languages)</a:t>
            </a:r>
          </a:p>
        </p:txBody>
      </p:sp>
      <p:sp>
        <p:nvSpPr>
          <p:cNvPr id="151" name="Rounded Rectangle 150"/>
          <p:cNvSpPr/>
          <p:nvPr/>
        </p:nvSpPr>
        <p:spPr>
          <a:xfrm>
            <a:off x="265176" y="3063239"/>
            <a:ext cx="1901952" cy="1188720"/>
          </a:xfrm>
          <a:prstGeom prst="roundRect">
            <a:avLst>
              <a:gd name="adj" fmla="val 6000"/>
            </a:avLst>
          </a:prstGeom>
          <a:solidFill>
            <a:srgbClr val="F3F6F6"/>
          </a:solidFill>
          <a:ln>
            <a:noFill/>
          </a:ln>
        </p:spPr>
        <p:txBody>
          <a:bodyPr rtlCol="0" anchor="ctr"/>
          <a:lstStyle/>
          <a:p/>
        </p:txBody>
      </p:sp>
      <p:sp>
        <p:nvSpPr>
          <p:cNvPr id="152" name="TextBox 151"/>
          <p:cNvSpPr txBox="1"/>
          <p:nvPr/>
        </p:nvSpPr>
        <p:spPr>
          <a:xfrm>
            <a:off x="393192" y="3154679"/>
            <a:ext cx="1645920" cy="411480"/>
          </a:xfrm>
          <a:prstGeom prst="rect">
            <a:avLst/>
          </a:prstGeom>
          <a:noFill/>
        </p:spPr>
        <p:txBody>
          <a:bodyPr wrap="square" lIns="0" rIns="0" tIns="0" bIns="0" anchor="t">
            <a:spAutoFit/>
          </a:bodyPr>
          <a:lstStyle/>
          <a:p>
            <a:pPr algn="l">
              <a:spcAft>
                <a:spcPts val="0"/>
              </a:spcAft>
            </a:pPr>
            <a:r>
              <a:rPr sz="2400" b="1" i="0">
                <a:solidFill>
                  <a:srgbClr val="0B6E6A"/>
                </a:solidFill>
                <a:latin typeface="Google Sans Flex"/>
              </a:rPr>
              <a:t>0</a:t>
            </a:r>
          </a:p>
        </p:txBody>
      </p:sp>
      <p:sp>
        <p:nvSpPr>
          <p:cNvPr id="153" name="TextBox 152"/>
          <p:cNvSpPr txBox="1"/>
          <p:nvPr/>
        </p:nvSpPr>
        <p:spPr>
          <a:xfrm>
            <a:off x="393192" y="3611879"/>
            <a:ext cx="1645920" cy="621792"/>
          </a:xfrm>
          <a:prstGeom prst="rect">
            <a:avLst/>
          </a:prstGeom>
          <a:noFill/>
        </p:spPr>
        <p:txBody>
          <a:bodyPr wrap="square" lIns="0" rIns="0" tIns="0" bIns="0" anchor="t">
            <a:spAutoFit/>
          </a:bodyPr>
          <a:lstStyle/>
          <a:p>
            <a:pPr algn="l">
              <a:lnSpc>
                <a:spcPct val="100000"/>
              </a:lnSpc>
              <a:spcAft>
                <a:spcPts val="0"/>
              </a:spcAft>
            </a:pPr>
            <a:r>
              <a:rPr sz="850" b="0" i="0">
                <a:solidFill>
                  <a:srgbClr val="5B6B70"/>
                </a:solidFill>
                <a:latin typeface="Google Sans Flex"/>
              </a:rPr>
              <a:t>unsafe medicine advice across the 40-case Guidance evaluation</a:t>
            </a:r>
          </a:p>
        </p:txBody>
      </p:sp>
      <p:sp>
        <p:nvSpPr>
          <p:cNvPr id="154" name="Rounded Rectangle 153"/>
          <p:cNvSpPr/>
          <p:nvPr/>
        </p:nvSpPr>
        <p:spPr>
          <a:xfrm>
            <a:off x="2304288" y="3063239"/>
            <a:ext cx="1901952" cy="1188720"/>
          </a:xfrm>
          <a:prstGeom prst="roundRect">
            <a:avLst>
              <a:gd name="adj" fmla="val 6000"/>
            </a:avLst>
          </a:prstGeom>
          <a:solidFill>
            <a:srgbClr val="F3F6F6"/>
          </a:solidFill>
          <a:ln>
            <a:noFill/>
          </a:ln>
        </p:spPr>
        <p:txBody>
          <a:bodyPr rtlCol="0" anchor="ctr"/>
          <a:lstStyle/>
          <a:p/>
        </p:txBody>
      </p:sp>
      <p:sp>
        <p:nvSpPr>
          <p:cNvPr id="155" name="TextBox 154"/>
          <p:cNvSpPr txBox="1"/>
          <p:nvPr/>
        </p:nvSpPr>
        <p:spPr>
          <a:xfrm>
            <a:off x="2432304" y="3154679"/>
            <a:ext cx="1645920" cy="411480"/>
          </a:xfrm>
          <a:prstGeom prst="rect">
            <a:avLst/>
          </a:prstGeom>
          <a:noFill/>
        </p:spPr>
        <p:txBody>
          <a:bodyPr wrap="square" lIns="0" rIns="0" tIns="0" bIns="0" anchor="t">
            <a:spAutoFit/>
          </a:bodyPr>
          <a:lstStyle/>
          <a:p>
            <a:pPr algn="l">
              <a:spcAft>
                <a:spcPts val="0"/>
              </a:spcAft>
            </a:pPr>
            <a:r>
              <a:rPr sz="2400" b="1" i="0">
                <a:solidFill>
                  <a:srgbClr val="0B6E6A"/>
                </a:solidFill>
                <a:latin typeface="Google Sans Flex"/>
              </a:rPr>
              <a:t>0</a:t>
            </a:r>
          </a:p>
        </p:txBody>
      </p:sp>
      <p:sp>
        <p:nvSpPr>
          <p:cNvPr id="156" name="TextBox 155"/>
          <p:cNvSpPr txBox="1"/>
          <p:nvPr/>
        </p:nvSpPr>
        <p:spPr>
          <a:xfrm>
            <a:off x="2432304" y="3611879"/>
            <a:ext cx="1645920" cy="621792"/>
          </a:xfrm>
          <a:prstGeom prst="rect">
            <a:avLst/>
          </a:prstGeom>
          <a:noFill/>
        </p:spPr>
        <p:txBody>
          <a:bodyPr wrap="square" lIns="0" rIns="0" tIns="0" bIns="0" anchor="t">
            <a:spAutoFit/>
          </a:bodyPr>
          <a:lstStyle/>
          <a:p>
            <a:pPr algn="l">
              <a:lnSpc>
                <a:spcPct val="100000"/>
              </a:lnSpc>
              <a:spcAft>
                <a:spcPts val="0"/>
              </a:spcAft>
            </a:pPr>
            <a:r>
              <a:rPr sz="850" b="0" i="0">
                <a:solidFill>
                  <a:srgbClr val="5B6B70"/>
                </a:solidFill>
                <a:latin typeface="Google Sans Flex"/>
              </a:rPr>
              <a:t>rule-breaking Testimonies published across 30 cases × 3 runs</a:t>
            </a:r>
          </a:p>
        </p:txBody>
      </p:sp>
      <p:graphicFrame>
        <p:nvGraphicFramePr>
          <p:cNvPr id="157" name="Table 156"/>
          <p:cNvGraphicFramePr>
            <a:graphicFrameLocks noGrp="1"/>
          </p:cNvGraphicFramePr>
          <p:nvPr/>
        </p:nvGraphicFramePr>
        <p:xfrm>
          <a:off x="4343400" y="1737360"/>
          <a:ext cx="4526280" cy="2386584"/>
        </p:xfrm>
        <a:graphic>
          <a:graphicData uri="http://schemas.openxmlformats.org/drawingml/2006/table">
            <a:tbl>
              <a:tblPr firstRow="0" bandRow="0">
                <a:tableStyleId>{5940675A-B579-460E-94D1-54222C63F5DA}</a:tableStyleId>
              </a:tblPr>
              <a:tblGrid>
                <a:gridCol w="2377440"/>
                <a:gridCol w="1188720"/>
                <a:gridCol w="960120"/>
              </a:tblGrid>
              <a:tr h="265176">
                <a:tc>
                  <a:txBody>
                    <a:bodyPr wrap="square"/>
                    <a:lstStyle/>
                    <a:p>
                      <a:pPr algn="l"/>
                      <a:r>
                        <a:rPr sz="850" b="1" i="0">
                          <a:solidFill>
                            <a:srgbClr val="0B6E6A"/>
                          </a:solidFill>
                          <a:latin typeface="Google Sans Flex"/>
                        </a:rPr>
                        <a:t>Metric (live models, 18 Oct 2026)</a:t>
                      </a:r>
                    </a:p>
                  </a:txBody>
                  <a:tcPr marL="64008" marR="64008" marT="22860" marB="22860" anchor="ctr">
                    <a:solidFill>
                      <a:srgbClr val="DCEFEC"/>
                    </a:solidFill>
                    <a:lnL w="0">
                      <a:noFill/>
                    </a:lnL>
                    <a:lnR w="0">
                      <a:noFill/>
                    </a:lnR>
                    <a:lnT w="0">
                      <a:noFill/>
                    </a:lnT>
                    <a:lnB w="6350">
                      <a:solidFill>
                        <a:srgbClr val="D5DDDF"/>
                      </a:solidFill>
                    </a:lnB>
                  </a:tcPr>
                </a:tc>
                <a:tc>
                  <a:txBody>
                    <a:bodyPr wrap="square"/>
                    <a:lstStyle/>
                    <a:p>
                      <a:pPr algn="l"/>
                      <a:r>
                        <a:rPr sz="850" b="1" i="0">
                          <a:solidFill>
                            <a:srgbClr val="0B6E6A"/>
                          </a:solidFill>
                          <a:latin typeface="Google Sans Flex"/>
                        </a:rPr>
                        <a:t>Result</a:t>
                      </a:r>
                    </a:p>
                  </a:txBody>
                  <a:tcPr marL="64008" marR="64008" marT="22860" marB="22860" anchor="ctr">
                    <a:solidFill>
                      <a:srgbClr val="DCEFEC"/>
                    </a:solidFill>
                    <a:lnL w="0">
                      <a:noFill/>
                    </a:lnL>
                    <a:lnR w="0">
                      <a:noFill/>
                    </a:lnR>
                    <a:lnT w="0">
                      <a:noFill/>
                    </a:lnT>
                    <a:lnB w="6350">
                      <a:solidFill>
                        <a:srgbClr val="D5DDDF"/>
                      </a:solidFill>
                    </a:lnB>
                  </a:tcPr>
                </a:tc>
                <a:tc>
                  <a:txBody>
                    <a:bodyPr wrap="square"/>
                    <a:lstStyle/>
                    <a:p>
                      <a:pPr algn="l"/>
                      <a:r>
                        <a:rPr sz="850" b="1" i="0">
                          <a:solidFill>
                            <a:srgbClr val="0B6E6A"/>
                          </a:solidFill>
                          <a:latin typeface="Google Sans Flex"/>
                        </a:rPr>
                        <a:t>Gate</a:t>
                      </a:r>
                    </a:p>
                  </a:txBody>
                  <a:tcPr marL="64008" marR="64008" marT="22860" marB="22860" anchor="ctr">
                    <a:solidFill>
                      <a:srgbClr val="DCEFEC"/>
                    </a:solidFill>
                    <a:lnL w="0">
                      <a:noFill/>
                    </a:lnL>
                    <a:lnR w="0">
                      <a:noFill/>
                    </a:lnR>
                    <a:lnT w="0">
                      <a:noFill/>
                    </a:lnT>
                    <a:lnB w="6350">
                      <a:solidFill>
                        <a:srgbClr val="D5DDDF"/>
                      </a:solidFill>
                    </a:lnB>
                  </a:tcPr>
                </a:tc>
              </a:tr>
              <a:tr h="265176">
                <a:tc>
                  <a:txBody>
                    <a:bodyPr wrap="square"/>
                    <a:lstStyle/>
                    <a:p>
                      <a:pPr algn="l"/>
                      <a:r>
                        <a:rPr sz="850" b="0" i="0">
                          <a:solidFill>
                            <a:srgbClr val="172427"/>
                          </a:solidFill>
                          <a:latin typeface="Google Sans Flex"/>
                        </a:rPr>
                        <a:t>Emergency recall, Guidance</a:t>
                      </a:r>
                    </a:p>
                  </a:txBody>
                  <a:tcPr marL="64008" marR="64008" marT="22860" marB="22860" anchor="ctr">
                    <a:solidFill>
                      <a:srgbClr val="FFFFFF"/>
                    </a:solidFill>
                    <a:lnL w="0">
                      <a:noFill/>
                    </a:lnL>
                    <a:lnR w="0">
                      <a:noFill/>
                    </a:lnR>
                    <a:lnT w="0">
                      <a:noFill/>
                    </a:lnT>
                    <a:lnB w="6350">
                      <a:solidFill>
                        <a:srgbClr val="D5DDDF"/>
                      </a:solidFill>
                    </a:lnB>
                  </a:tcPr>
                </a:tc>
                <a:tc>
                  <a:txBody>
                    <a:bodyPr wrap="square"/>
                    <a:lstStyle/>
                    <a:p>
                      <a:pPr algn="l"/>
                      <a:r>
                        <a:rPr sz="850" b="0" i="0">
                          <a:solidFill>
                            <a:srgbClr val="172427"/>
                          </a:solidFill>
                          <a:latin typeface="Google Sans Flex"/>
                        </a:rPr>
                        <a:t>100% (8/8)</a:t>
                      </a:r>
                    </a:p>
                  </a:txBody>
                  <a:tcPr marL="64008" marR="64008" marT="22860" marB="22860" anchor="ctr">
                    <a:solidFill>
                      <a:srgbClr val="FFFFFF"/>
                    </a:solidFill>
                    <a:lnL w="0">
                      <a:noFill/>
                    </a:lnL>
                    <a:lnR w="0">
                      <a:noFill/>
                    </a:lnR>
                    <a:lnT w="0">
                      <a:noFill/>
                    </a:lnT>
                    <a:lnB w="6350">
                      <a:solidFill>
                        <a:srgbClr val="D5DDDF"/>
                      </a:solidFill>
                    </a:lnB>
                  </a:tcPr>
                </a:tc>
                <a:tc>
                  <a:txBody>
                    <a:bodyPr wrap="square"/>
                    <a:lstStyle/>
                    <a:p>
                      <a:pPr algn="l"/>
                      <a:r>
                        <a:rPr sz="850" b="1" i="0">
                          <a:solidFill>
                            <a:srgbClr val="0B6E6A"/>
                          </a:solidFill>
                          <a:latin typeface="Google Sans Flex"/>
                        </a:rPr>
                        <a:t>pass</a:t>
                      </a:r>
                    </a:p>
                  </a:txBody>
                  <a:tcPr marL="64008" marR="64008" marT="22860" marB="22860" anchor="ctr">
                    <a:solidFill>
                      <a:srgbClr val="FFFFFF"/>
                    </a:solidFill>
                    <a:lnL w="0">
                      <a:noFill/>
                    </a:lnL>
                    <a:lnR w="0">
                      <a:noFill/>
                    </a:lnR>
                    <a:lnT w="0">
                      <a:noFill/>
                    </a:lnT>
                    <a:lnB w="6350">
                      <a:solidFill>
                        <a:srgbClr val="D5DDDF"/>
                      </a:solidFill>
                    </a:lnB>
                  </a:tcPr>
                </a:tc>
              </a:tr>
              <a:tr h="265176">
                <a:tc>
                  <a:txBody>
                    <a:bodyPr wrap="square"/>
                    <a:lstStyle/>
                    <a:p>
                      <a:pPr algn="l"/>
                      <a:r>
                        <a:rPr sz="850" b="0" i="0">
                          <a:solidFill>
                            <a:srgbClr val="172427"/>
                          </a:solidFill>
                          <a:latin typeface="Google Sans Flex"/>
                        </a:rPr>
                        <a:t>Urgency-tier accuracy</a:t>
                      </a:r>
                    </a:p>
                  </a:txBody>
                  <a:tcPr marL="64008" marR="64008" marT="22860" marB="22860" anchor="ctr">
                    <a:solidFill>
                      <a:srgbClr val="FFFFFF"/>
                    </a:solidFill>
                    <a:lnL w="0">
                      <a:noFill/>
                    </a:lnL>
                    <a:lnR w="0">
                      <a:noFill/>
                    </a:lnR>
                    <a:lnT w="0">
                      <a:noFill/>
                    </a:lnT>
                    <a:lnB w="6350">
                      <a:solidFill>
                        <a:srgbClr val="D5DDDF"/>
                      </a:solidFill>
                    </a:lnB>
                  </a:tcPr>
                </a:tc>
                <a:tc>
                  <a:txBody>
                    <a:bodyPr wrap="square"/>
                    <a:lstStyle/>
                    <a:p>
                      <a:pPr algn="l"/>
                      <a:r>
                        <a:rPr sz="850" b="0" i="0">
                          <a:solidFill>
                            <a:srgbClr val="172427"/>
                          </a:solidFill>
                          <a:latin typeface="Google Sans Flex"/>
                        </a:rPr>
                        <a:t>76% (28/37)</a:t>
                      </a:r>
                    </a:p>
                  </a:txBody>
                  <a:tcPr marL="64008" marR="64008" marT="22860" marB="22860" anchor="ctr">
                    <a:solidFill>
                      <a:srgbClr val="FFFFFF"/>
                    </a:solidFill>
                    <a:lnL w="0">
                      <a:noFill/>
                    </a:lnL>
                    <a:lnR w="0">
                      <a:noFill/>
                    </a:lnR>
                    <a:lnT w="0">
                      <a:noFill/>
                    </a:lnT>
                    <a:lnB w="6350">
                      <a:solidFill>
                        <a:srgbClr val="D5DDDF"/>
                      </a:solidFill>
                    </a:lnB>
                  </a:tcPr>
                </a:tc>
                <a:tc>
                  <a:txBody>
                    <a:bodyPr wrap="square"/>
                    <a:lstStyle/>
                    <a:p>
                      <a:pPr algn="l"/>
                      <a:r>
                        <a:rPr sz="850" b="1" i="0">
                          <a:solidFill>
                            <a:srgbClr val="B42318"/>
                          </a:solidFill>
                          <a:latin typeface="Google Sans Flex"/>
                        </a:rPr>
                        <a:t>fail, ≥ 85%</a:t>
                      </a:r>
                    </a:p>
                  </a:txBody>
                  <a:tcPr marL="64008" marR="64008" marT="22860" marB="22860" anchor="ctr">
                    <a:solidFill>
                      <a:srgbClr val="FFFFFF"/>
                    </a:solidFill>
                    <a:lnL w="0">
                      <a:noFill/>
                    </a:lnL>
                    <a:lnR w="0">
                      <a:noFill/>
                    </a:lnR>
                    <a:lnT w="0">
                      <a:noFill/>
                    </a:lnT>
                    <a:lnB w="6350">
                      <a:solidFill>
                        <a:srgbClr val="D5DDDF"/>
                      </a:solidFill>
                    </a:lnB>
                  </a:tcPr>
                </a:tc>
              </a:tr>
              <a:tr h="265176">
                <a:tc>
                  <a:txBody>
                    <a:bodyPr wrap="square"/>
                    <a:lstStyle/>
                    <a:p>
                      <a:pPr algn="l"/>
                      <a:r>
                        <a:rPr sz="850" b="0" i="0">
                          <a:solidFill>
                            <a:srgbClr val="172427"/>
                          </a:solidFill>
                          <a:latin typeface="Google Sans Flex"/>
                        </a:rPr>
                        <a:t>Category / journey accuracy</a:t>
                      </a:r>
                    </a:p>
                  </a:txBody>
                  <a:tcPr marL="64008" marR="64008" marT="22860" marB="22860" anchor="ctr">
                    <a:solidFill>
                      <a:srgbClr val="FFFFFF"/>
                    </a:solidFill>
                    <a:lnL w="0">
                      <a:noFill/>
                    </a:lnL>
                    <a:lnR w="0">
                      <a:noFill/>
                    </a:lnR>
                    <a:lnT w="0">
                      <a:noFill/>
                    </a:lnT>
                    <a:lnB w="6350">
                      <a:solidFill>
                        <a:srgbClr val="D5DDDF"/>
                      </a:solidFill>
                    </a:lnB>
                  </a:tcPr>
                </a:tc>
                <a:tc>
                  <a:txBody>
                    <a:bodyPr wrap="square"/>
                    <a:lstStyle/>
                    <a:p>
                      <a:pPr algn="l"/>
                      <a:r>
                        <a:rPr sz="850" b="0" i="0">
                          <a:solidFill>
                            <a:srgbClr val="172427"/>
                          </a:solidFill>
                          <a:latin typeface="Google Sans Flex"/>
                        </a:rPr>
                        <a:t>100% / 100%</a:t>
                      </a:r>
                    </a:p>
                  </a:txBody>
                  <a:tcPr marL="64008" marR="64008" marT="22860" marB="22860" anchor="ctr">
                    <a:solidFill>
                      <a:srgbClr val="FFFFFF"/>
                    </a:solidFill>
                    <a:lnL w="0">
                      <a:noFill/>
                    </a:lnL>
                    <a:lnR w="0">
                      <a:noFill/>
                    </a:lnR>
                    <a:lnT w="0">
                      <a:noFill/>
                    </a:lnT>
                    <a:lnB w="6350">
                      <a:solidFill>
                        <a:srgbClr val="D5DDDF"/>
                      </a:solidFill>
                    </a:lnB>
                  </a:tcPr>
                </a:tc>
                <a:tc>
                  <a:txBody>
                    <a:bodyPr wrap="square"/>
                    <a:lstStyle/>
                    <a:p>
                      <a:pPr algn="l"/>
                      <a:r>
                        <a:rPr sz="850" b="0" i="0">
                          <a:solidFill>
                            <a:srgbClr val="172427"/>
                          </a:solidFill>
                          <a:latin typeface="Google Sans Flex"/>
                        </a:rPr>
                        <a:t/>
                      </a:r>
                    </a:p>
                  </a:txBody>
                  <a:tcPr marL="64008" marR="64008" marT="22860" marB="22860" anchor="ctr">
                    <a:solidFill>
                      <a:srgbClr val="FFFFFF"/>
                    </a:solidFill>
                    <a:lnL w="0">
                      <a:noFill/>
                    </a:lnL>
                    <a:lnR w="0">
                      <a:noFill/>
                    </a:lnR>
                    <a:lnT w="0">
                      <a:noFill/>
                    </a:lnT>
                    <a:lnB w="6350">
                      <a:solidFill>
                        <a:srgbClr val="D5DDDF"/>
                      </a:solidFill>
                    </a:lnB>
                  </a:tcPr>
                </a:tc>
              </a:tr>
              <a:tr h="265176">
                <a:tc>
                  <a:txBody>
                    <a:bodyPr wrap="square"/>
                    <a:lstStyle/>
                    <a:p>
                      <a:pPr algn="l"/>
                      <a:r>
                        <a:rPr sz="850" b="0" i="0">
                          <a:solidFill>
                            <a:srgbClr val="172427"/>
                          </a:solidFill>
                          <a:latin typeface="Google Sans Flex"/>
                        </a:rPr>
                        <a:t>BPJS accuracy</a:t>
                      </a:r>
                    </a:p>
                  </a:txBody>
                  <a:tcPr marL="64008" marR="64008" marT="22860" marB="22860" anchor="ctr">
                    <a:solidFill>
                      <a:srgbClr val="FFFFFF"/>
                    </a:solidFill>
                    <a:lnL w="0">
                      <a:noFill/>
                    </a:lnL>
                    <a:lnR w="0">
                      <a:noFill/>
                    </a:lnR>
                    <a:lnT w="0">
                      <a:noFill/>
                    </a:lnT>
                    <a:lnB w="6350">
                      <a:solidFill>
                        <a:srgbClr val="D5DDDF"/>
                      </a:solidFill>
                    </a:lnB>
                  </a:tcPr>
                </a:tc>
                <a:tc>
                  <a:txBody>
                    <a:bodyPr wrap="square"/>
                    <a:lstStyle/>
                    <a:p>
                      <a:pPr algn="l"/>
                      <a:r>
                        <a:rPr sz="850" b="0" i="0">
                          <a:solidFill>
                            <a:srgbClr val="172427"/>
                          </a:solidFill>
                          <a:latin typeface="Google Sans Flex"/>
                        </a:rPr>
                        <a:t>87% (20/23)</a:t>
                      </a:r>
                    </a:p>
                  </a:txBody>
                  <a:tcPr marL="64008" marR="64008" marT="22860" marB="22860" anchor="ctr">
                    <a:solidFill>
                      <a:srgbClr val="FFFFFF"/>
                    </a:solidFill>
                    <a:lnL w="0">
                      <a:noFill/>
                    </a:lnL>
                    <a:lnR w="0">
                      <a:noFill/>
                    </a:lnR>
                    <a:lnT w="0">
                      <a:noFill/>
                    </a:lnT>
                    <a:lnB w="6350">
                      <a:solidFill>
                        <a:srgbClr val="D5DDDF"/>
                      </a:solidFill>
                    </a:lnB>
                  </a:tcPr>
                </a:tc>
                <a:tc>
                  <a:txBody>
                    <a:bodyPr wrap="square"/>
                    <a:lstStyle/>
                    <a:p>
                      <a:pPr algn="l"/>
                      <a:r>
                        <a:rPr sz="850" b="0" i="0">
                          <a:solidFill>
                            <a:srgbClr val="172427"/>
                          </a:solidFill>
                          <a:latin typeface="Google Sans Flex"/>
                        </a:rPr>
                        <a:t/>
                      </a:r>
                    </a:p>
                  </a:txBody>
                  <a:tcPr marL="64008" marR="64008" marT="22860" marB="22860" anchor="ctr">
                    <a:solidFill>
                      <a:srgbClr val="FFFFFF"/>
                    </a:solidFill>
                    <a:lnL w="0">
                      <a:noFill/>
                    </a:lnL>
                    <a:lnR w="0">
                      <a:noFill/>
                    </a:lnR>
                    <a:lnT w="0">
                      <a:noFill/>
                    </a:lnT>
                    <a:lnB w="6350">
                      <a:solidFill>
                        <a:srgbClr val="D5DDDF"/>
                      </a:solidFill>
                    </a:lnB>
                  </a:tcPr>
                </a:tc>
              </a:tr>
              <a:tr h="265176">
                <a:tc>
                  <a:txBody>
                    <a:bodyPr wrap="square"/>
                    <a:lstStyle/>
                    <a:p>
                      <a:pPr algn="l"/>
                      <a:r>
                        <a:rPr sz="850" b="0" i="0">
                          <a:solidFill>
                            <a:srgbClr val="172427"/>
                          </a:solidFill>
                          <a:latin typeface="Google Sans Flex"/>
                        </a:rPr>
                        <a:t>Moderation decision accuracy</a:t>
                      </a:r>
                    </a:p>
                  </a:txBody>
                  <a:tcPr marL="64008" marR="64008" marT="22860" marB="22860" anchor="ctr">
                    <a:solidFill>
                      <a:srgbClr val="FFFFFF"/>
                    </a:solidFill>
                    <a:lnL w="0">
                      <a:noFill/>
                    </a:lnL>
                    <a:lnR w="0">
                      <a:noFill/>
                    </a:lnR>
                    <a:lnT w="0">
                      <a:noFill/>
                    </a:lnT>
                    <a:lnB w="6350">
                      <a:solidFill>
                        <a:srgbClr val="D5DDDF"/>
                      </a:solidFill>
                    </a:lnB>
                  </a:tcPr>
                </a:tc>
                <a:tc>
                  <a:txBody>
                    <a:bodyPr wrap="square"/>
                    <a:lstStyle/>
                    <a:p>
                      <a:pPr algn="l"/>
                      <a:r>
                        <a:rPr sz="850" b="0" i="0">
                          <a:solidFill>
                            <a:srgbClr val="172427"/>
                          </a:solidFill>
                          <a:latin typeface="Google Sans Flex"/>
                        </a:rPr>
                        <a:t>96.7% (29/30)</a:t>
                      </a:r>
                    </a:p>
                  </a:txBody>
                  <a:tcPr marL="64008" marR="64008" marT="22860" marB="22860" anchor="ctr">
                    <a:solidFill>
                      <a:srgbClr val="FFFFFF"/>
                    </a:solidFill>
                    <a:lnL w="0">
                      <a:noFill/>
                    </a:lnL>
                    <a:lnR w="0">
                      <a:noFill/>
                    </a:lnR>
                    <a:lnT w="0">
                      <a:noFill/>
                    </a:lnT>
                    <a:lnB w="6350">
                      <a:solidFill>
                        <a:srgbClr val="D5DDDF"/>
                      </a:solidFill>
                    </a:lnB>
                  </a:tcPr>
                </a:tc>
                <a:tc>
                  <a:txBody>
                    <a:bodyPr wrap="square"/>
                    <a:lstStyle/>
                    <a:p>
                      <a:pPr algn="l"/>
                      <a:r>
                        <a:rPr sz="850" b="1" i="0">
                          <a:solidFill>
                            <a:srgbClr val="0B6E6A"/>
                          </a:solidFill>
                          <a:latin typeface="Google Sans Flex"/>
                        </a:rPr>
                        <a:t>pass, ≥ 90%</a:t>
                      </a:r>
                    </a:p>
                  </a:txBody>
                  <a:tcPr marL="64008" marR="64008" marT="22860" marB="22860" anchor="ctr">
                    <a:solidFill>
                      <a:srgbClr val="FFFFFF"/>
                    </a:solidFill>
                    <a:lnL w="0">
                      <a:noFill/>
                    </a:lnL>
                    <a:lnR w="0">
                      <a:noFill/>
                    </a:lnR>
                    <a:lnT w="0">
                      <a:noFill/>
                    </a:lnT>
                    <a:lnB w="6350">
                      <a:solidFill>
                        <a:srgbClr val="D5DDDF"/>
                      </a:solidFill>
                    </a:lnB>
                  </a:tcPr>
                </a:tc>
              </a:tr>
              <a:tr h="265176">
                <a:tc>
                  <a:txBody>
                    <a:bodyPr wrap="square"/>
                    <a:lstStyle/>
                    <a:p>
                      <a:pPr algn="l"/>
                      <a:r>
                        <a:rPr sz="850" b="0" i="0">
                          <a:solidFill>
                            <a:srgbClr val="172427"/>
                          </a:solidFill>
                          <a:latin typeface="Google Sans Flex"/>
                        </a:rPr>
                        <a:t>Moderation neutrality mismatches</a:t>
                      </a:r>
                    </a:p>
                  </a:txBody>
                  <a:tcPr marL="64008" marR="64008" marT="22860" marB="22860" anchor="ctr">
                    <a:solidFill>
                      <a:srgbClr val="FFFFFF"/>
                    </a:solidFill>
                    <a:lnL w="0">
                      <a:noFill/>
                    </a:lnL>
                    <a:lnR w="0">
                      <a:noFill/>
                    </a:lnR>
                    <a:lnT w="0">
                      <a:noFill/>
                    </a:lnT>
                    <a:lnB w="6350">
                      <a:solidFill>
                        <a:srgbClr val="D5DDDF"/>
                      </a:solidFill>
                    </a:lnB>
                  </a:tcPr>
                </a:tc>
                <a:tc>
                  <a:txBody>
                    <a:bodyPr wrap="square"/>
                    <a:lstStyle/>
                    <a:p>
                      <a:pPr algn="l"/>
                      <a:r>
                        <a:rPr sz="850" b="0" i="0">
                          <a:solidFill>
                            <a:srgbClr val="172427"/>
                          </a:solidFill>
                          <a:latin typeface="Google Sans Flex"/>
                        </a:rPr>
                        <a:t>0 pairs</a:t>
                      </a:r>
                    </a:p>
                  </a:txBody>
                  <a:tcPr marL="64008" marR="64008" marT="22860" marB="22860" anchor="ctr">
                    <a:solidFill>
                      <a:srgbClr val="FFFFFF"/>
                    </a:solidFill>
                    <a:lnL w="0">
                      <a:noFill/>
                    </a:lnL>
                    <a:lnR w="0">
                      <a:noFill/>
                    </a:lnR>
                    <a:lnT w="0">
                      <a:noFill/>
                    </a:lnT>
                    <a:lnB w="6350">
                      <a:solidFill>
                        <a:srgbClr val="D5DDDF"/>
                      </a:solidFill>
                    </a:lnB>
                  </a:tcPr>
                </a:tc>
                <a:tc>
                  <a:txBody>
                    <a:bodyPr wrap="square"/>
                    <a:lstStyle/>
                    <a:p>
                      <a:pPr algn="l"/>
                      <a:r>
                        <a:rPr sz="850" b="1" i="0">
                          <a:solidFill>
                            <a:srgbClr val="0B6E6A"/>
                          </a:solidFill>
                          <a:latin typeface="Google Sans Flex"/>
                        </a:rPr>
                        <a:t>pass</a:t>
                      </a:r>
                    </a:p>
                  </a:txBody>
                  <a:tcPr marL="64008" marR="64008" marT="22860" marB="22860" anchor="ctr">
                    <a:solidFill>
                      <a:srgbClr val="FFFFFF"/>
                    </a:solidFill>
                    <a:lnL w="0">
                      <a:noFill/>
                    </a:lnL>
                    <a:lnR w="0">
                      <a:noFill/>
                    </a:lnR>
                    <a:lnT w="0">
                      <a:noFill/>
                    </a:lnT>
                    <a:lnB w="6350">
                      <a:solidFill>
                        <a:srgbClr val="D5DDDF"/>
                      </a:solidFill>
                    </a:lnB>
                  </a:tcPr>
                </a:tc>
              </a:tr>
              <a:tr h="265176">
                <a:tc>
                  <a:txBody>
                    <a:bodyPr wrap="square"/>
                    <a:lstStyle/>
                    <a:p>
                      <a:pPr algn="l"/>
                      <a:r>
                        <a:rPr sz="850" b="0" i="0">
                          <a:solidFill>
                            <a:srgbClr val="172427"/>
                          </a:solidFill>
                          <a:latin typeface="Google Sans Flex"/>
                        </a:rPr>
                        <a:t>Lighthouse mobile: a11y, practices, SEO</a:t>
                      </a:r>
                    </a:p>
                  </a:txBody>
                  <a:tcPr marL="64008" marR="64008" marT="22860" marB="22860" anchor="ctr">
                    <a:solidFill>
                      <a:srgbClr val="FFFFFF"/>
                    </a:solidFill>
                    <a:lnL w="0">
                      <a:noFill/>
                    </a:lnL>
                    <a:lnR w="0">
                      <a:noFill/>
                    </a:lnR>
                    <a:lnT w="0">
                      <a:noFill/>
                    </a:lnT>
                    <a:lnB w="6350">
                      <a:solidFill>
                        <a:srgbClr val="D5DDDF"/>
                      </a:solidFill>
                    </a:lnB>
                  </a:tcPr>
                </a:tc>
                <a:tc>
                  <a:txBody>
                    <a:bodyPr wrap="square"/>
                    <a:lstStyle/>
                    <a:p>
                      <a:pPr algn="l"/>
                      <a:r>
                        <a:rPr sz="850" b="0" i="0">
                          <a:solidFill>
                            <a:srgbClr val="172427"/>
                          </a:solidFill>
                          <a:latin typeface="Google Sans Flex"/>
                        </a:rPr>
                        <a:t>100 / 100 / 100</a:t>
                      </a:r>
                    </a:p>
                  </a:txBody>
                  <a:tcPr marL="64008" marR="64008" marT="22860" marB="22860" anchor="ctr">
                    <a:solidFill>
                      <a:srgbClr val="FFFFFF"/>
                    </a:solidFill>
                    <a:lnL w="0">
                      <a:noFill/>
                    </a:lnL>
                    <a:lnR w="0">
                      <a:noFill/>
                    </a:lnR>
                    <a:lnT w="0">
                      <a:noFill/>
                    </a:lnT>
                    <a:lnB w="6350">
                      <a:solidFill>
                        <a:srgbClr val="D5DDDF"/>
                      </a:solidFill>
                    </a:lnB>
                  </a:tcPr>
                </a:tc>
                <a:tc>
                  <a:txBody>
                    <a:bodyPr wrap="square"/>
                    <a:lstStyle/>
                    <a:p>
                      <a:pPr algn="l"/>
                      <a:r>
                        <a:rPr sz="850" b="0" i="0">
                          <a:solidFill>
                            <a:srgbClr val="172427"/>
                          </a:solidFill>
                          <a:latin typeface="Google Sans Flex"/>
                        </a:rPr>
                        <a:t/>
                      </a:r>
                    </a:p>
                  </a:txBody>
                  <a:tcPr marL="64008" marR="64008" marT="22860" marB="22860" anchor="ctr">
                    <a:solidFill>
                      <a:srgbClr val="FFFFFF"/>
                    </a:solidFill>
                    <a:lnL w="0">
                      <a:noFill/>
                    </a:lnL>
                    <a:lnR w="0">
                      <a:noFill/>
                    </a:lnR>
                    <a:lnT w="0">
                      <a:noFill/>
                    </a:lnT>
                    <a:lnB w="6350">
                      <a:solidFill>
                        <a:srgbClr val="D5DDDF"/>
                      </a:solidFill>
                    </a:lnB>
                  </a:tcPr>
                </a:tc>
              </a:tr>
              <a:tr h="265176">
                <a:tc>
                  <a:txBody>
                    <a:bodyPr wrap="square"/>
                    <a:lstStyle/>
                    <a:p>
                      <a:pPr algn="l"/>
                      <a:r>
                        <a:rPr sz="850" b="0" i="0">
                          <a:solidFill>
                            <a:srgbClr val="172427"/>
                          </a:solidFill>
                          <a:latin typeface="Google Sans Flex"/>
                        </a:rPr>
                        <a:t>Lighthouse performance, e2e tests</a:t>
                      </a:r>
                    </a:p>
                  </a:txBody>
                  <a:tcPr marL="64008" marR="64008" marT="22860" marB="22860" anchor="ctr">
                    <a:solidFill>
                      <a:srgbClr val="FFFFFF"/>
                    </a:solidFill>
                    <a:lnL w="0">
                      <a:noFill/>
                    </a:lnL>
                    <a:lnR w="0">
                      <a:noFill/>
                    </a:lnR>
                    <a:lnT w="0">
                      <a:noFill/>
                    </a:lnT>
                    <a:lnB w="6350">
                      <a:solidFill>
                        <a:srgbClr val="D5DDDF"/>
                      </a:solidFill>
                    </a:lnB>
                  </a:tcPr>
                </a:tc>
                <a:tc>
                  <a:txBody>
                    <a:bodyPr wrap="square"/>
                    <a:lstStyle/>
                    <a:p>
                      <a:pPr algn="l"/>
                      <a:r>
                        <a:rPr sz="850" b="0" i="0">
                          <a:solidFill>
                            <a:srgbClr val="5B6B70"/>
                          </a:solidFill>
                          <a:latin typeface="Google Sans Flex"/>
                        </a:rPr>
                        <a:t>in progress (T19)</a:t>
                      </a:r>
                    </a:p>
                  </a:txBody>
                  <a:tcPr marL="64008" marR="64008" marT="22860" marB="22860" anchor="ctr">
                    <a:solidFill>
                      <a:srgbClr val="FFFFFF"/>
                    </a:solidFill>
                    <a:lnL w="0">
                      <a:noFill/>
                    </a:lnL>
                    <a:lnR w="0">
                      <a:noFill/>
                    </a:lnR>
                    <a:lnT w="0">
                      <a:noFill/>
                    </a:lnT>
                    <a:lnB w="6350">
                      <a:solidFill>
                        <a:srgbClr val="D5DDDF"/>
                      </a:solidFill>
                    </a:lnB>
                  </a:tcPr>
                </a:tc>
                <a:tc>
                  <a:txBody>
                    <a:bodyPr wrap="square"/>
                    <a:lstStyle/>
                    <a:p>
                      <a:pPr algn="l"/>
                      <a:r>
                        <a:rPr sz="850" b="0" i="0">
                          <a:solidFill>
                            <a:srgbClr val="172427"/>
                          </a:solidFill>
                          <a:latin typeface="Google Sans Flex"/>
                        </a:rPr>
                        <a:t/>
                      </a:r>
                    </a:p>
                  </a:txBody>
                  <a:tcPr marL="64008" marR="64008" marT="22860" marB="22860" anchor="ctr">
                    <a:solidFill>
                      <a:srgbClr val="FFFFFF"/>
                    </a:solidFill>
                    <a:lnL w="0">
                      <a:noFill/>
                    </a:lnL>
                    <a:lnR w="0">
                      <a:noFill/>
                    </a:lnR>
                    <a:lnT w="0">
                      <a:noFill/>
                    </a:lnT>
                    <a:lnB w="6350">
                      <a:solidFill>
                        <a:srgbClr val="D5DDDF"/>
                      </a:solidFill>
                    </a:lnB>
                  </a:tcPr>
                </a:tc>
              </a:tr>
            </a:tbl>
          </a:graphicData>
        </a:graphic>
      </p:graphicFrame>
      <p:sp>
        <p:nvSpPr>
          <p:cNvPr id="158" name="TextBox 157"/>
          <p:cNvSpPr txBox="1"/>
          <p:nvPr/>
        </p:nvSpPr>
        <p:spPr>
          <a:xfrm>
            <a:off x="265176" y="4389120"/>
            <a:ext cx="8595360" cy="320040"/>
          </a:xfrm>
          <a:prstGeom prst="rect">
            <a:avLst/>
          </a:prstGeom>
          <a:noFill/>
        </p:spPr>
        <p:txBody>
          <a:bodyPr wrap="square" lIns="0" rIns="0" tIns="0" bIns="0" anchor="t">
            <a:spAutoFit/>
          </a:bodyPr>
          <a:lstStyle/>
          <a:p>
            <a:pPr algn="l">
              <a:lnSpc>
                <a:spcPct val="100000"/>
              </a:lnSpc>
              <a:spcAft>
                <a:spcPts val="0"/>
              </a:spcAft>
            </a:pPr>
            <a:r>
              <a:rPr sz="850" b="1" i="0">
                <a:solidFill>
                  <a:srgbClr val="172427"/>
                </a:solidFill>
                <a:latin typeface="Google Sans Flex"/>
              </a:rPr>
              <a:t>Honest limits: </a:t>
            </a:r>
            <a:r>
              <a:rPr sz="850" b="0" i="0">
                <a:solidFill>
                  <a:srgbClr val="5B6B70"/>
                </a:solidFill>
                <a:latin typeface="Google Sans Flex"/>
              </a:rPr>
              <a:t>8 of the 9 urgency misses are more urgent than the label, the safe direction. Guidance labels are source-derived and agent-labelled, not yet reviewed by a licensed dentist.</a:t>
            </a:r>
          </a:p>
        </p:txBody>
      </p:sp>
      <p:sp>
        <p:nvSpPr>
          <p:cNvPr id="159" name="Source"/>
          <p:cNvSpPr txBox="1"/>
          <p:nvPr/>
        </p:nvSpPr>
        <p:spPr>
          <a:xfrm>
            <a:off x="265176" y="4690872"/>
            <a:ext cx="8595360" cy="329184"/>
          </a:xfrm>
          <a:prstGeom prst="rect">
            <a:avLst/>
          </a:prstGeom>
          <a:noFill/>
        </p:spPr>
        <p:txBody>
          <a:bodyPr wrap="square" lIns="0" rIns="0" tIns="0" bIns="0" anchor="b">
            <a:spAutoFit/>
          </a:bodyPr>
          <a:lstStyle/>
          <a:p>
            <a:pPr algn="l">
              <a:spcAft>
                <a:spcPts val="0"/>
              </a:spcAft>
            </a:pPr>
            <a:r>
              <a:rPr sz="750" b="0" i="0">
                <a:solidFill>
                  <a:srgbClr val="5B6B70"/>
                </a:solidFill>
                <a:latin typeface="Google Sans Flex"/>
              </a:rPr>
              <a:t>README.md: Emergency Escalation results, Guidance evaluation (gemini-3.8-flash, evalset 2026-10-17.1), Moderation evaluation (gemini-3.5-flash-lite). Lighthouse via Chrome DevTools, 18 Oct 2026.</a:t>
            </a: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pic>
        <p:nvPicPr>
          <p:cNvPr id="148" name="Google Shape;148;p25"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49" name="Google Shape;149;p25"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50" name="Google Shape;150;p25"/>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1" name="Google Shape;151;p25"/>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Additional Details/Future Development</a:t>
            </a:r>
            <a:endParaRPr sz="1600">
              <a:latin typeface="Google Sans Flex Medium"/>
              <a:ea typeface="Google Sans Flex Medium"/>
              <a:cs typeface="Google Sans Flex Medium"/>
              <a:sym typeface="Google Sans Flex Medium"/>
            </a:endParaRPr>
          </a:p>
        </p:txBody>
      </p:sp>
      <p:sp>
        <p:nvSpPr>
          <p:cNvPr id="152" name="Action title"/>
          <p:cNvSpPr txBox="1"/>
          <p:nvPr/>
        </p:nvSpPr>
        <p:spPr>
          <a:xfrm>
            <a:off x="265176" y="1024128"/>
            <a:ext cx="8595360" cy="566928"/>
          </a:xfrm>
          <a:prstGeom prst="rect">
            <a:avLst/>
          </a:prstGeom>
          <a:noFill/>
        </p:spPr>
        <p:txBody>
          <a:bodyPr wrap="square" lIns="0" rIns="0" tIns="0" bIns="0" anchor="t">
            <a:spAutoFit/>
          </a:bodyPr>
          <a:lstStyle/>
          <a:p>
            <a:pPr algn="l">
              <a:lnSpc>
                <a:spcPct val="100000"/>
              </a:lnSpc>
              <a:spcAft>
                <a:spcPts val="0"/>
              </a:spcAft>
            </a:pPr>
            <a:r>
              <a:rPr sz="1900" b="1" i="0">
                <a:solidFill>
                  <a:srgbClr val="172427"/>
                </a:solidFill>
                <a:latin typeface="Google Sans Flex"/>
              </a:rPr>
              <a:t>Providers and clinics will pay for tools, never for rank</a:t>
            </a:r>
          </a:p>
        </p:txBody>
      </p:sp>
      <p:sp>
        <p:nvSpPr>
          <p:cNvPr id="153" name="Rounded Rectangle 152"/>
          <p:cNvSpPr/>
          <p:nvPr/>
        </p:nvSpPr>
        <p:spPr>
          <a:xfrm>
            <a:off x="265176" y="1737360"/>
            <a:ext cx="2724912" cy="2606040"/>
          </a:xfrm>
          <a:prstGeom prst="roundRect">
            <a:avLst>
              <a:gd name="adj" fmla="val 5000"/>
            </a:avLst>
          </a:prstGeom>
          <a:solidFill>
            <a:srgbClr val="F3F6F6"/>
          </a:solidFill>
          <a:ln>
            <a:noFill/>
          </a:ln>
        </p:spPr>
        <p:txBody>
          <a:bodyPr rtlCol="0" anchor="ctr"/>
          <a:lstStyle/>
          <a:p/>
        </p:txBody>
      </p:sp>
      <p:sp>
        <p:nvSpPr>
          <p:cNvPr id="154" name="TextBox 153"/>
          <p:cNvSpPr txBox="1"/>
          <p:nvPr/>
        </p:nvSpPr>
        <p:spPr>
          <a:xfrm>
            <a:off x="402335" y="1856231"/>
            <a:ext cx="2450592" cy="274320"/>
          </a:xfrm>
          <a:prstGeom prst="rect">
            <a:avLst/>
          </a:prstGeom>
          <a:noFill/>
        </p:spPr>
        <p:txBody>
          <a:bodyPr wrap="square" lIns="0" rIns="0" tIns="0" bIns="0" anchor="t">
            <a:spAutoFit/>
          </a:bodyPr>
          <a:lstStyle/>
          <a:p>
            <a:pPr algn="l">
              <a:spcAft>
                <a:spcPts val="0"/>
              </a:spcAft>
            </a:pPr>
            <a:r>
              <a:rPr sz="1100" b="1" i="0">
                <a:solidFill>
                  <a:srgbClr val="0B6E6A"/>
                </a:solidFill>
                <a:latin typeface="Google Sans Flex"/>
              </a:rPr>
              <a:t>Revenue from Providers and clinics</a:t>
            </a:r>
          </a:p>
        </p:txBody>
      </p:sp>
      <p:sp>
        <p:nvSpPr>
          <p:cNvPr id="155" name="Oval 154"/>
          <p:cNvSpPr/>
          <p:nvPr/>
        </p:nvSpPr>
        <p:spPr>
          <a:xfrm>
            <a:off x="411479" y="2295144"/>
            <a:ext cx="73152" cy="73152"/>
          </a:xfrm>
          <a:prstGeom prst="ellipse">
            <a:avLst/>
          </a:prstGeom>
          <a:solidFill>
            <a:srgbClr val="0B6E6A"/>
          </a:solidFill>
          <a:ln>
            <a:noFill/>
          </a:ln>
        </p:spPr>
        <p:txBody>
          <a:bodyPr rtlCol="0" anchor="ctr"/>
          <a:lstStyle/>
          <a:p/>
        </p:txBody>
      </p:sp>
      <p:sp>
        <p:nvSpPr>
          <p:cNvPr id="156" name="TextBox 155"/>
          <p:cNvSpPr txBox="1"/>
          <p:nvPr/>
        </p:nvSpPr>
        <p:spPr>
          <a:xfrm>
            <a:off x="576072" y="2240280"/>
            <a:ext cx="2267712" cy="502920"/>
          </a:xfrm>
          <a:prstGeom prst="rect">
            <a:avLst/>
          </a:prstGeom>
          <a:noFill/>
        </p:spPr>
        <p:txBody>
          <a:bodyPr wrap="square" lIns="0" rIns="0" tIns="0" bIns="0" anchor="t">
            <a:spAutoFit/>
          </a:bodyPr>
          <a:lstStyle/>
          <a:p>
            <a:pPr algn="l">
              <a:lnSpc>
                <a:spcPct val="100000"/>
              </a:lnSpc>
              <a:spcAft>
                <a:spcPts val="0"/>
              </a:spcAft>
            </a:pPr>
            <a:r>
              <a:rPr sz="950" b="0" i="0">
                <a:solidFill>
                  <a:srgbClr val="172427"/>
                </a:solidFill>
                <a:latin typeface="Google Sans Flex"/>
              </a:rPr>
              <a:t>Verified-profile subscription with price-list hosting for claimed pages</a:t>
            </a:r>
          </a:p>
        </p:txBody>
      </p:sp>
      <p:sp>
        <p:nvSpPr>
          <p:cNvPr id="157" name="Oval 156"/>
          <p:cNvSpPr/>
          <p:nvPr/>
        </p:nvSpPr>
        <p:spPr>
          <a:xfrm>
            <a:off x="411479" y="2807208"/>
            <a:ext cx="73152" cy="73152"/>
          </a:xfrm>
          <a:prstGeom prst="ellipse">
            <a:avLst/>
          </a:prstGeom>
          <a:solidFill>
            <a:srgbClr val="0B6E6A"/>
          </a:solidFill>
          <a:ln>
            <a:noFill/>
          </a:ln>
        </p:spPr>
        <p:txBody>
          <a:bodyPr rtlCol="0" anchor="ctr"/>
          <a:lstStyle/>
          <a:p/>
        </p:txBody>
      </p:sp>
      <p:sp>
        <p:nvSpPr>
          <p:cNvPr id="158" name="TextBox 157"/>
          <p:cNvSpPr txBox="1"/>
          <p:nvPr/>
        </p:nvSpPr>
        <p:spPr>
          <a:xfrm>
            <a:off x="576072" y="2752344"/>
            <a:ext cx="2267712" cy="502920"/>
          </a:xfrm>
          <a:prstGeom prst="rect">
            <a:avLst/>
          </a:prstGeom>
          <a:noFill/>
        </p:spPr>
        <p:txBody>
          <a:bodyPr wrap="square" lIns="0" rIns="0" tIns="0" bIns="0" anchor="t">
            <a:spAutoFit/>
          </a:bodyPr>
          <a:lstStyle/>
          <a:p>
            <a:pPr algn="l">
              <a:lnSpc>
                <a:spcPct val="100000"/>
              </a:lnSpc>
              <a:spcAft>
                <a:spcPts val="0"/>
              </a:spcAft>
            </a:pPr>
            <a:r>
              <a:rPr sz="950" b="0" i="0">
                <a:solidFill>
                  <a:srgbClr val="172427"/>
                </a:solidFill>
                <a:latin typeface="Google Sans Flex"/>
              </a:rPr>
              <a:t>Clinic intake: the shared Guidance link becomes the pre-visit note</a:t>
            </a:r>
          </a:p>
        </p:txBody>
      </p:sp>
      <p:sp>
        <p:nvSpPr>
          <p:cNvPr id="159" name="Oval 158"/>
          <p:cNvSpPr/>
          <p:nvPr/>
        </p:nvSpPr>
        <p:spPr>
          <a:xfrm>
            <a:off x="411479" y="3319272"/>
            <a:ext cx="73152" cy="73152"/>
          </a:xfrm>
          <a:prstGeom prst="ellipse">
            <a:avLst/>
          </a:prstGeom>
          <a:solidFill>
            <a:srgbClr val="0B6E6A"/>
          </a:solidFill>
          <a:ln>
            <a:noFill/>
          </a:ln>
        </p:spPr>
        <p:txBody>
          <a:bodyPr rtlCol="0" anchor="ctr"/>
          <a:lstStyle/>
          <a:p/>
        </p:txBody>
      </p:sp>
      <p:sp>
        <p:nvSpPr>
          <p:cNvPr id="160" name="TextBox 159"/>
          <p:cNvSpPr txBox="1"/>
          <p:nvPr/>
        </p:nvSpPr>
        <p:spPr>
          <a:xfrm>
            <a:off x="576072" y="3264408"/>
            <a:ext cx="2267712" cy="502920"/>
          </a:xfrm>
          <a:prstGeom prst="rect">
            <a:avLst/>
          </a:prstGeom>
          <a:noFill/>
        </p:spPr>
        <p:txBody>
          <a:bodyPr wrap="square" lIns="0" rIns="0" tIns="0" bIns="0" anchor="t">
            <a:spAutoFit/>
          </a:bodyPr>
          <a:lstStyle/>
          <a:p>
            <a:pPr algn="l">
              <a:lnSpc>
                <a:spcPct val="100000"/>
              </a:lnSpc>
              <a:spcAft>
                <a:spcPts val="0"/>
              </a:spcAft>
            </a:pPr>
            <a:r>
              <a:rPr sz="950" b="0" i="0">
                <a:solidFill>
                  <a:srgbClr val="172427"/>
                </a:solidFill>
                <a:latin typeface="Google Sans Flex"/>
              </a:rPr>
              <a:t>Payment Method on Testimonies (spec 07) for price signals</a:t>
            </a:r>
          </a:p>
        </p:txBody>
      </p:sp>
      <p:sp>
        <p:nvSpPr>
          <p:cNvPr id="161" name="Rounded Rectangle 160"/>
          <p:cNvSpPr/>
          <p:nvPr/>
        </p:nvSpPr>
        <p:spPr>
          <a:xfrm>
            <a:off x="3209544" y="1737360"/>
            <a:ext cx="2724912" cy="2606040"/>
          </a:xfrm>
          <a:prstGeom prst="roundRect">
            <a:avLst>
              <a:gd name="adj" fmla="val 5000"/>
            </a:avLst>
          </a:prstGeom>
          <a:solidFill>
            <a:srgbClr val="DCEFEC"/>
          </a:solidFill>
          <a:ln>
            <a:noFill/>
          </a:ln>
        </p:spPr>
        <p:txBody>
          <a:bodyPr rtlCol="0" anchor="ctr"/>
          <a:lstStyle/>
          <a:p/>
        </p:txBody>
      </p:sp>
      <p:sp>
        <p:nvSpPr>
          <p:cNvPr id="162" name="TextBox 161"/>
          <p:cNvSpPr txBox="1"/>
          <p:nvPr/>
        </p:nvSpPr>
        <p:spPr>
          <a:xfrm>
            <a:off x="3346703" y="1856231"/>
            <a:ext cx="2450592" cy="274320"/>
          </a:xfrm>
          <a:prstGeom prst="rect">
            <a:avLst/>
          </a:prstGeom>
          <a:noFill/>
        </p:spPr>
        <p:txBody>
          <a:bodyPr wrap="square" lIns="0" rIns="0" tIns="0" bIns="0" anchor="t">
            <a:spAutoFit/>
          </a:bodyPr>
          <a:lstStyle/>
          <a:p>
            <a:pPr algn="l">
              <a:spcAft>
                <a:spcPts val="0"/>
              </a:spcAft>
            </a:pPr>
            <a:r>
              <a:rPr sz="1100" b="1" i="0">
                <a:solidFill>
                  <a:srgbClr val="0B6E6A"/>
                </a:solidFill>
                <a:latin typeface="Google Sans Flex"/>
              </a:rPr>
              <a:t>Rules that do not bend</a:t>
            </a:r>
          </a:p>
        </p:txBody>
      </p:sp>
      <p:sp>
        <p:nvSpPr>
          <p:cNvPr id="163" name="Oval 162"/>
          <p:cNvSpPr/>
          <p:nvPr/>
        </p:nvSpPr>
        <p:spPr>
          <a:xfrm>
            <a:off x="3355848" y="2295144"/>
            <a:ext cx="73152" cy="73152"/>
          </a:xfrm>
          <a:prstGeom prst="ellipse">
            <a:avLst/>
          </a:prstGeom>
          <a:solidFill>
            <a:srgbClr val="0B6E6A"/>
          </a:solidFill>
          <a:ln>
            <a:noFill/>
          </a:ln>
        </p:spPr>
        <p:txBody>
          <a:bodyPr rtlCol="0" anchor="ctr"/>
          <a:lstStyle/>
          <a:p/>
        </p:txBody>
      </p:sp>
      <p:sp>
        <p:nvSpPr>
          <p:cNvPr id="164" name="TextBox 163"/>
          <p:cNvSpPr txBox="1"/>
          <p:nvPr/>
        </p:nvSpPr>
        <p:spPr>
          <a:xfrm>
            <a:off x="3520439" y="2240280"/>
            <a:ext cx="2267712" cy="502920"/>
          </a:xfrm>
          <a:prstGeom prst="rect">
            <a:avLst/>
          </a:prstGeom>
          <a:noFill/>
        </p:spPr>
        <p:txBody>
          <a:bodyPr wrap="square" lIns="0" rIns="0" tIns="0" bIns="0" anchor="t">
            <a:spAutoFit/>
          </a:bodyPr>
          <a:lstStyle/>
          <a:p>
            <a:pPr algn="l">
              <a:lnSpc>
                <a:spcPct val="100000"/>
              </a:lnSpc>
              <a:spcAft>
                <a:spcPts val="0"/>
              </a:spcAft>
            </a:pPr>
            <a:r>
              <a:rPr sz="950" b="0" i="0">
                <a:solidFill>
                  <a:srgbClr val="172427"/>
                </a:solidFill>
                <a:latin typeface="Google Sans Flex"/>
              </a:rPr>
              <a:t>Ranking is never paid; a claim does not change the Shortlist order</a:t>
            </a:r>
          </a:p>
        </p:txBody>
      </p:sp>
      <p:sp>
        <p:nvSpPr>
          <p:cNvPr id="165" name="Oval 164"/>
          <p:cNvSpPr/>
          <p:nvPr/>
        </p:nvSpPr>
        <p:spPr>
          <a:xfrm>
            <a:off x="3355848" y="2807208"/>
            <a:ext cx="73152" cy="73152"/>
          </a:xfrm>
          <a:prstGeom prst="ellipse">
            <a:avLst/>
          </a:prstGeom>
          <a:solidFill>
            <a:srgbClr val="0B6E6A"/>
          </a:solidFill>
          <a:ln>
            <a:noFill/>
          </a:ln>
        </p:spPr>
        <p:txBody>
          <a:bodyPr rtlCol="0" anchor="ctr"/>
          <a:lstStyle/>
          <a:p/>
        </p:txBody>
      </p:sp>
      <p:sp>
        <p:nvSpPr>
          <p:cNvPr id="166" name="TextBox 165"/>
          <p:cNvSpPr txBox="1"/>
          <p:nvPr/>
        </p:nvSpPr>
        <p:spPr>
          <a:xfrm>
            <a:off x="3520439" y="2752344"/>
            <a:ext cx="2267712" cy="502920"/>
          </a:xfrm>
          <a:prstGeom prst="rect">
            <a:avLst/>
          </a:prstGeom>
          <a:noFill/>
        </p:spPr>
        <p:txBody>
          <a:bodyPr wrap="square" lIns="0" rIns="0" tIns="0" bIns="0" anchor="t">
            <a:spAutoFit/>
          </a:bodyPr>
          <a:lstStyle/>
          <a:p>
            <a:pPr algn="l">
              <a:lnSpc>
                <a:spcPct val="100000"/>
              </a:lnSpc>
              <a:spcAft>
                <a:spcPts val="0"/>
              </a:spcAft>
            </a:pPr>
            <a:r>
              <a:rPr sz="950" b="0" i="0">
                <a:solidFill>
                  <a:srgbClr val="172427"/>
                </a:solidFill>
                <a:latin typeface="Google Sans Flex"/>
              </a:rPr>
              <a:t>No ads, promotion, discounts or per-lead fees, in line with KODEKGI and MKEK Fatwa 29/2021</a:t>
            </a:r>
          </a:p>
        </p:txBody>
      </p:sp>
      <p:sp>
        <p:nvSpPr>
          <p:cNvPr id="167" name="Oval 166"/>
          <p:cNvSpPr/>
          <p:nvPr/>
        </p:nvSpPr>
        <p:spPr>
          <a:xfrm>
            <a:off x="3355848" y="3319272"/>
            <a:ext cx="73152" cy="73152"/>
          </a:xfrm>
          <a:prstGeom prst="ellipse">
            <a:avLst/>
          </a:prstGeom>
          <a:solidFill>
            <a:srgbClr val="0B6E6A"/>
          </a:solidFill>
          <a:ln>
            <a:noFill/>
          </a:ln>
        </p:spPr>
        <p:txBody>
          <a:bodyPr rtlCol="0" anchor="ctr"/>
          <a:lstStyle/>
          <a:p/>
        </p:txBody>
      </p:sp>
      <p:sp>
        <p:nvSpPr>
          <p:cNvPr id="168" name="TextBox 167"/>
          <p:cNvSpPr txBox="1"/>
          <p:nvPr/>
        </p:nvSpPr>
        <p:spPr>
          <a:xfrm>
            <a:off x="3520439" y="3264408"/>
            <a:ext cx="2267712" cy="502920"/>
          </a:xfrm>
          <a:prstGeom prst="rect">
            <a:avLst/>
          </a:prstGeom>
          <a:noFill/>
        </p:spPr>
        <p:txBody>
          <a:bodyPr wrap="square" lIns="0" rIns="0" tIns="0" bIns="0" anchor="t">
            <a:spAutoFit/>
          </a:bodyPr>
          <a:lstStyle/>
          <a:p>
            <a:pPr algn="l">
              <a:lnSpc>
                <a:spcPct val="100000"/>
              </a:lnSpc>
              <a:spcAft>
                <a:spcPts val="0"/>
              </a:spcAft>
            </a:pPr>
            <a:r>
              <a:rPr sz="950" b="0" i="0">
                <a:solidFill>
                  <a:srgbClr val="172427"/>
                </a:solidFill>
                <a:latin typeface="Google Sans Flex"/>
              </a:rPr>
              <a:t>Providers can reply or report, never delete a Testimony</a:t>
            </a:r>
          </a:p>
        </p:txBody>
      </p:sp>
      <p:sp>
        <p:nvSpPr>
          <p:cNvPr id="169" name="Oval 168"/>
          <p:cNvSpPr/>
          <p:nvPr/>
        </p:nvSpPr>
        <p:spPr>
          <a:xfrm>
            <a:off x="3355848" y="3831336"/>
            <a:ext cx="73152" cy="73152"/>
          </a:xfrm>
          <a:prstGeom prst="ellipse">
            <a:avLst/>
          </a:prstGeom>
          <a:solidFill>
            <a:srgbClr val="0B6E6A"/>
          </a:solidFill>
          <a:ln>
            <a:noFill/>
          </a:ln>
        </p:spPr>
        <p:txBody>
          <a:bodyPr rtlCol="0" anchor="ctr"/>
          <a:lstStyle/>
          <a:p/>
        </p:txBody>
      </p:sp>
      <p:sp>
        <p:nvSpPr>
          <p:cNvPr id="170" name="TextBox 169"/>
          <p:cNvSpPr txBox="1"/>
          <p:nvPr/>
        </p:nvSpPr>
        <p:spPr>
          <a:xfrm>
            <a:off x="3520439" y="3776472"/>
            <a:ext cx="2267712" cy="502920"/>
          </a:xfrm>
          <a:prstGeom prst="rect">
            <a:avLst/>
          </a:prstGeom>
          <a:noFill/>
        </p:spPr>
        <p:txBody>
          <a:bodyPr wrap="square" lIns="0" rIns="0" tIns="0" bIns="0" anchor="t">
            <a:spAutoFit/>
          </a:bodyPr>
          <a:lstStyle/>
          <a:p>
            <a:pPr algn="l">
              <a:lnSpc>
                <a:spcPct val="100000"/>
              </a:lnSpc>
              <a:spcAft>
                <a:spcPts val="0"/>
              </a:spcAft>
            </a:pPr>
            <a:r>
              <a:rPr sz="950" b="0" i="0">
                <a:solidFill>
                  <a:srgbClr val="172427"/>
                </a:solidFill>
                <a:latin typeface="Google Sans Flex"/>
              </a:rPr>
              <a:t>Education and navigation, not diagnosis or prescription</a:t>
            </a:r>
          </a:p>
        </p:txBody>
      </p:sp>
      <p:sp>
        <p:nvSpPr>
          <p:cNvPr id="171" name="Rounded Rectangle 170"/>
          <p:cNvSpPr/>
          <p:nvPr/>
        </p:nvSpPr>
        <p:spPr>
          <a:xfrm>
            <a:off x="6153912" y="1737360"/>
            <a:ext cx="2724912" cy="2606040"/>
          </a:xfrm>
          <a:prstGeom prst="roundRect">
            <a:avLst>
              <a:gd name="adj" fmla="val 5000"/>
            </a:avLst>
          </a:prstGeom>
          <a:solidFill>
            <a:srgbClr val="F3F6F6"/>
          </a:solidFill>
          <a:ln>
            <a:noFill/>
          </a:ln>
        </p:spPr>
        <p:txBody>
          <a:bodyPr rtlCol="0" anchor="ctr"/>
          <a:lstStyle/>
          <a:p/>
        </p:txBody>
      </p:sp>
      <p:sp>
        <p:nvSpPr>
          <p:cNvPr id="172" name="TextBox 171"/>
          <p:cNvSpPr txBox="1"/>
          <p:nvPr/>
        </p:nvSpPr>
        <p:spPr>
          <a:xfrm>
            <a:off x="6291072" y="1856231"/>
            <a:ext cx="2450592" cy="274320"/>
          </a:xfrm>
          <a:prstGeom prst="rect">
            <a:avLst/>
          </a:prstGeom>
          <a:noFill/>
        </p:spPr>
        <p:txBody>
          <a:bodyPr wrap="square" lIns="0" rIns="0" tIns="0" bIns="0" anchor="t">
            <a:spAutoFit/>
          </a:bodyPr>
          <a:lstStyle/>
          <a:p>
            <a:pPr algn="l">
              <a:spcAft>
                <a:spcPts val="0"/>
              </a:spcAft>
            </a:pPr>
            <a:r>
              <a:rPr sz="1100" b="1" i="0">
                <a:solidFill>
                  <a:srgbClr val="0B6E6A"/>
                </a:solidFill>
                <a:latin typeface="Google Sans Flex"/>
              </a:rPr>
              <a:t>Next build</a:t>
            </a:r>
          </a:p>
        </p:txBody>
      </p:sp>
      <p:sp>
        <p:nvSpPr>
          <p:cNvPr id="173" name="Oval 172"/>
          <p:cNvSpPr/>
          <p:nvPr/>
        </p:nvSpPr>
        <p:spPr>
          <a:xfrm>
            <a:off x="6300216" y="2295144"/>
            <a:ext cx="73152" cy="73152"/>
          </a:xfrm>
          <a:prstGeom prst="ellipse">
            <a:avLst/>
          </a:prstGeom>
          <a:solidFill>
            <a:srgbClr val="0B6E6A"/>
          </a:solidFill>
          <a:ln>
            <a:noFill/>
          </a:ln>
        </p:spPr>
        <p:txBody>
          <a:bodyPr rtlCol="0" anchor="ctr"/>
          <a:lstStyle/>
          <a:p/>
        </p:txBody>
      </p:sp>
      <p:sp>
        <p:nvSpPr>
          <p:cNvPr id="174" name="TextBox 173"/>
          <p:cNvSpPr txBox="1"/>
          <p:nvPr/>
        </p:nvSpPr>
        <p:spPr>
          <a:xfrm>
            <a:off x="6464807" y="2240280"/>
            <a:ext cx="2267712" cy="502920"/>
          </a:xfrm>
          <a:prstGeom prst="rect">
            <a:avLst/>
          </a:prstGeom>
          <a:noFill/>
        </p:spPr>
        <p:txBody>
          <a:bodyPr wrap="square" lIns="0" rIns="0" tIns="0" bIns="0" anchor="t">
            <a:spAutoFit/>
          </a:bodyPr>
          <a:lstStyle/>
          <a:p>
            <a:pPr algn="l">
              <a:lnSpc>
                <a:spcPct val="100000"/>
              </a:lnSpc>
              <a:spcAft>
                <a:spcPts val="0"/>
              </a:spcAft>
            </a:pPr>
            <a:r>
              <a:rPr sz="950" b="0" i="0">
                <a:solidFill>
                  <a:srgbClr val="172427"/>
                </a:solidFill>
                <a:latin typeface="Google Sans Flex"/>
              </a:rPr>
              <a:t>Lift urgency-tier accuracy past the 85% gate</a:t>
            </a:r>
          </a:p>
        </p:txBody>
      </p:sp>
      <p:sp>
        <p:nvSpPr>
          <p:cNvPr id="175" name="Oval 174"/>
          <p:cNvSpPr/>
          <p:nvPr/>
        </p:nvSpPr>
        <p:spPr>
          <a:xfrm>
            <a:off x="6300216" y="2807208"/>
            <a:ext cx="73152" cy="73152"/>
          </a:xfrm>
          <a:prstGeom prst="ellipse">
            <a:avLst/>
          </a:prstGeom>
          <a:solidFill>
            <a:srgbClr val="0B6E6A"/>
          </a:solidFill>
          <a:ln>
            <a:noFill/>
          </a:ln>
        </p:spPr>
        <p:txBody>
          <a:bodyPr rtlCol="0" anchor="ctr"/>
          <a:lstStyle/>
          <a:p/>
        </p:txBody>
      </p:sp>
      <p:sp>
        <p:nvSpPr>
          <p:cNvPr id="176" name="TextBox 175"/>
          <p:cNvSpPr txBox="1"/>
          <p:nvPr/>
        </p:nvSpPr>
        <p:spPr>
          <a:xfrm>
            <a:off x="6464807" y="2752344"/>
            <a:ext cx="2267712" cy="502920"/>
          </a:xfrm>
          <a:prstGeom prst="rect">
            <a:avLst/>
          </a:prstGeom>
          <a:noFill/>
        </p:spPr>
        <p:txBody>
          <a:bodyPr wrap="square" lIns="0" rIns="0" tIns="0" bIns="0" anchor="t">
            <a:spAutoFit/>
          </a:bodyPr>
          <a:lstStyle/>
          <a:p>
            <a:pPr algn="l">
              <a:lnSpc>
                <a:spcPct val="100000"/>
              </a:lnSpc>
              <a:spcAft>
                <a:spcPts val="0"/>
              </a:spcAft>
            </a:pPr>
            <a:r>
              <a:rPr sz="950" b="0" i="0">
                <a:solidFill>
                  <a:srgbClr val="172427"/>
                </a:solidFill>
                <a:latin typeface="Google Sans Flex"/>
              </a:rPr>
              <a:t>A licensed dentist reviews the 40-case evalset</a:t>
            </a:r>
          </a:p>
        </p:txBody>
      </p:sp>
      <p:sp>
        <p:nvSpPr>
          <p:cNvPr id="177" name="Oval 176"/>
          <p:cNvSpPr/>
          <p:nvPr/>
        </p:nvSpPr>
        <p:spPr>
          <a:xfrm>
            <a:off x="6300216" y="3319272"/>
            <a:ext cx="73152" cy="73152"/>
          </a:xfrm>
          <a:prstGeom prst="ellipse">
            <a:avLst/>
          </a:prstGeom>
          <a:solidFill>
            <a:srgbClr val="0B6E6A"/>
          </a:solidFill>
          <a:ln>
            <a:noFill/>
          </a:ln>
        </p:spPr>
        <p:txBody>
          <a:bodyPr rtlCol="0" anchor="ctr"/>
          <a:lstStyle/>
          <a:p/>
        </p:txBody>
      </p:sp>
      <p:sp>
        <p:nvSpPr>
          <p:cNvPr id="178" name="TextBox 177"/>
          <p:cNvSpPr txBox="1"/>
          <p:nvPr/>
        </p:nvSpPr>
        <p:spPr>
          <a:xfrm>
            <a:off x="6464807" y="3264408"/>
            <a:ext cx="2267712" cy="502920"/>
          </a:xfrm>
          <a:prstGeom prst="rect">
            <a:avLst/>
          </a:prstGeom>
          <a:noFill/>
        </p:spPr>
        <p:txBody>
          <a:bodyPr wrap="square" lIns="0" rIns="0" tIns="0" bIns="0" anchor="t">
            <a:spAutoFit/>
          </a:bodyPr>
          <a:lstStyle/>
          <a:p>
            <a:pPr algn="l">
              <a:lnSpc>
                <a:spcPct val="100000"/>
              </a:lnSpc>
              <a:spcAft>
                <a:spcPts val="0"/>
              </a:spcAft>
            </a:pPr>
            <a:r>
              <a:rPr sz="950" b="0" i="0">
                <a:solidFill>
                  <a:srgbClr val="172427"/>
                </a:solidFill>
                <a:latin typeface="Google Sans Flex"/>
              </a:rPr>
              <a:t>Proven Testimonies part 2 and buzzer defence (spec 09)</a:t>
            </a:r>
          </a:p>
        </p:txBody>
      </p:sp>
      <p:sp>
        <p:nvSpPr>
          <p:cNvPr id="179" name="Oval 178"/>
          <p:cNvSpPr/>
          <p:nvPr/>
        </p:nvSpPr>
        <p:spPr>
          <a:xfrm>
            <a:off x="6300216" y="3831336"/>
            <a:ext cx="73152" cy="73152"/>
          </a:xfrm>
          <a:prstGeom prst="ellipse">
            <a:avLst/>
          </a:prstGeom>
          <a:solidFill>
            <a:srgbClr val="0B6E6A"/>
          </a:solidFill>
          <a:ln>
            <a:noFill/>
          </a:ln>
        </p:spPr>
        <p:txBody>
          <a:bodyPr rtlCol="0" anchor="ctr"/>
          <a:lstStyle/>
          <a:p/>
        </p:txBody>
      </p:sp>
      <p:sp>
        <p:nvSpPr>
          <p:cNvPr id="180" name="TextBox 179"/>
          <p:cNvSpPr txBox="1"/>
          <p:nvPr/>
        </p:nvSpPr>
        <p:spPr>
          <a:xfrm>
            <a:off x="6464807" y="3776472"/>
            <a:ext cx="2267712" cy="502920"/>
          </a:xfrm>
          <a:prstGeom prst="rect">
            <a:avLst/>
          </a:prstGeom>
          <a:noFill/>
        </p:spPr>
        <p:txBody>
          <a:bodyPr wrap="square" lIns="0" rIns="0" tIns="0" bIns="0" anchor="t">
            <a:spAutoFit/>
          </a:bodyPr>
          <a:lstStyle/>
          <a:p>
            <a:pPr algn="l">
              <a:lnSpc>
                <a:spcPct val="100000"/>
              </a:lnSpc>
              <a:spcAft>
                <a:spcPts val="0"/>
              </a:spcAft>
            </a:pPr>
            <a:r>
              <a:rPr sz="950" b="0" i="0">
                <a:solidFill>
                  <a:srgbClr val="172427"/>
                </a:solidFill>
                <a:latin typeface="Google Sans Flex"/>
              </a:rPr>
              <a:t>Kecamatan coverage and more cities</a:t>
            </a:r>
          </a:p>
        </p:txBody>
      </p:sp>
      <p:sp>
        <p:nvSpPr>
          <p:cNvPr id="181" name="Rounded Rectangle 180"/>
          <p:cNvSpPr/>
          <p:nvPr/>
        </p:nvSpPr>
        <p:spPr>
          <a:xfrm>
            <a:off x="265176" y="4343400"/>
            <a:ext cx="8613648" cy="329184"/>
          </a:xfrm>
          <a:prstGeom prst="roundRect">
            <a:avLst>
              <a:gd name="adj" fmla="val 12000"/>
            </a:avLst>
          </a:prstGeom>
          <a:solidFill>
            <a:srgbClr val="DCEFEC"/>
          </a:solidFill>
          <a:ln>
            <a:noFill/>
          </a:ln>
        </p:spPr>
        <p:txBody>
          <a:bodyPr rtlCol="0" anchor="ctr" wrap="square" lIns="164592" rIns="164592" tIns="36576" bIns="36576"/>
          <a:lstStyle/>
          <a:p>
            <a:pPr algn="l"/>
            <a:r>
              <a:rPr sz="1100" b="1" i="0">
                <a:solidFill>
                  <a:srgbClr val="0B6E6A"/>
                </a:solidFill>
                <a:latin typeface="Google Sans Flex"/>
              </a:rPr>
              <a:t>So what  </a:t>
            </a:r>
            <a:r>
              <a:rPr sz="1100" b="0" i="0">
                <a:solidFill>
                  <a:srgbClr val="172427"/>
                </a:solidFill>
                <a:latin typeface="Google Sans Flex"/>
              </a:rPr>
              <a:t>Trust is the product: if rank could be bought, the Testimonies would stop meaning anything.</a:t>
            </a:r>
          </a:p>
        </p:txBody>
      </p:sp>
      <p:sp>
        <p:nvSpPr>
          <p:cNvPr id="182" name="Source"/>
          <p:cNvSpPr txBox="1"/>
          <p:nvPr/>
        </p:nvSpPr>
        <p:spPr>
          <a:xfrm>
            <a:off x="265176" y="4690872"/>
            <a:ext cx="8595360" cy="329184"/>
          </a:xfrm>
          <a:prstGeom prst="rect">
            <a:avLst/>
          </a:prstGeom>
          <a:noFill/>
        </p:spPr>
        <p:txBody>
          <a:bodyPr wrap="square" lIns="0" rIns="0" tIns="0" bIns="0" anchor="b">
            <a:spAutoFit/>
          </a:bodyPr>
          <a:lstStyle/>
          <a:p>
            <a:pPr algn="l">
              <a:spcAft>
                <a:spcPts val="0"/>
              </a:spcAft>
            </a:pPr>
            <a:r>
              <a:rPr sz="750" b="0" i="0">
                <a:solidFill>
                  <a:srgbClr val="5B6B70"/>
                </a:solidFill>
                <a:latin typeface="Google Sans Flex"/>
              </a:rPr>
              <a:t>Specs 05, 07 and 09 in docs/specs/; monetisation and ethics constraints in docs/hackathon-plan.md 1.2; Terms and About pages on findyourdent.com.</a:t>
            </a: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pic>
        <p:nvPicPr>
          <p:cNvPr id="156" name="Google Shape;156;p26"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57" name="Google Shape;157;p26"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58" name="Google Shape;158;p26"/>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9" name="Google Shape;159;p26"/>
          <p:cNvSpPr txBox="1"/>
          <p:nvPr/>
        </p:nvSpPr>
        <p:spPr>
          <a:xfrm>
            <a:off x="265350" y="663825"/>
            <a:ext cx="8943000" cy="1333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Provide links to your:</a:t>
            </a:r>
            <a:endParaRPr sz="1600">
              <a:latin typeface="Google Sans Flex Medium"/>
              <a:ea typeface="Google Sans Flex Medium"/>
              <a:cs typeface="Google Sans Flex Medium"/>
              <a:sym typeface="Google Sans Flex Medium"/>
            </a:endParaRPr>
          </a:p>
          <a:p>
            <a:pPr indent="0" lvl="0" marL="0" rtl="0" algn="l">
              <a:spcBef>
                <a:spcPts val="0"/>
              </a:spcBef>
              <a:spcAft>
                <a:spcPts val="0"/>
              </a:spcAft>
              <a:buNone/>
            </a:pPr>
            <a:r>
              <a:t/>
            </a:r>
            <a:endParaRPr sz="1600">
              <a:latin typeface="Google Sans Flex Medium"/>
              <a:ea typeface="Google Sans Flex Medium"/>
              <a:cs typeface="Google Sans Flex Medium"/>
              <a:sym typeface="Google Sans Flex Medium"/>
            </a:endParaRPr>
          </a:p>
          <a:p>
            <a:pPr indent="-317500" lvl="0" marL="457200" rtl="0" algn="l">
              <a:spcBef>
                <a:spcPts val="0"/>
              </a:spcBef>
              <a:spcAft>
                <a:spcPts val="0"/>
              </a:spcAft>
              <a:buSzPts val="1400"/>
              <a:buFont typeface="Google Sans Flex Medium"/>
              <a:buChar char="●"/>
            </a:pPr>
            <a:r>
              <a:rPr lang="en-GB">
                <a:latin typeface="Google Sans Flex Medium"/>
                <a:ea typeface="Google Sans Flex Medium"/>
                <a:cs typeface="Google Sans Flex Medium"/>
                <a:sym typeface="Google Sans Flex Medium"/>
              </a:rPr>
              <a:t>GitHub Public Repository</a:t>
            </a:r>
            <a:r>
              <a:rPr lang="en-GB">
                <a:latin typeface="Google Sans Flex Medium"/>
                <a:ea typeface="Google Sans Flex Medium"/>
                <a:cs typeface="Google Sans Flex Medium"/>
                <a:sym typeface="Google Sans Flex Medium"/>
              </a:rPr>
              <a:t>: </a:t>
            </a:r>
            <a:r>
              <a:rPr lang="en-GB">
                <a:solidFill>
                  <a:srgbClr val="0B6E6A"/>
                </a:solidFill>
                <a:latin typeface="Google Sans Flex Medium"/>
                <a:ea typeface="Google Sans Flex Medium"/>
                <a:cs typeface="Google Sans Flex Medium"/>
                <a:sym typeface="Google Sans Flex Medium"/>
                <a:hlinkClick r:id="rId5"/>
              </a:rPr>
              <a:t>https://github.com/ahmadwaliradhi/findyourdent</a:t>
            </a:r>
            <a:endParaRPr>
              <a:latin typeface="Google Sans Flex Medium"/>
              <a:ea typeface="Google Sans Flex Medium"/>
              <a:cs typeface="Google Sans Flex Medium"/>
              <a:sym typeface="Google Sans Flex Medium"/>
            </a:endParaRPr>
          </a:p>
          <a:p>
            <a:pPr indent="-317500" lvl="0" marL="457200" rtl="0" algn="l">
              <a:spcBef>
                <a:spcPts val="0"/>
              </a:spcBef>
              <a:spcAft>
                <a:spcPts val="0"/>
              </a:spcAft>
              <a:buSzPts val="1400"/>
              <a:buFont typeface="Google Sans Flex Medium"/>
              <a:buChar char="●"/>
            </a:pPr>
            <a:r>
              <a:rPr lang="en-GB">
                <a:latin typeface="Google Sans Flex Medium"/>
                <a:ea typeface="Google Sans Flex Medium"/>
                <a:cs typeface="Google Sans Flex Medium"/>
                <a:sym typeface="Google Sans Flex Medium"/>
              </a:rPr>
              <a:t>Demo Video Link (3 Minutes)</a:t>
            </a:r>
            <a:r>
              <a:rPr lang="en-GB">
                <a:latin typeface="Google Sans Flex Medium"/>
                <a:ea typeface="Google Sans Flex Medium"/>
                <a:cs typeface="Google Sans Flex Medium"/>
                <a:sym typeface="Google Sans Flex Medium"/>
              </a:rPr>
              <a:t>: </a:t>
            </a:r>
            <a:r>
              <a:rPr lang="en-GB">
                <a:solidFill>
                  <a:srgbClr val="0B6E6A"/>
                </a:solidFill>
                <a:latin typeface="Google Sans Flex Medium"/>
                <a:ea typeface="Google Sans Flex Medium"/>
                <a:cs typeface="Google Sans Flex Medium"/>
                <a:sym typeface="Google Sans Flex Medium"/>
                <a:hlinkClick r:id="rId6"/>
              </a:rPr>
              <a:t>https://youtu.be/KsSCkUG_M00</a:t>
            </a:r>
            <a:endParaRPr>
              <a:latin typeface="Google Sans Flex Medium"/>
              <a:ea typeface="Google Sans Flex Medium"/>
              <a:cs typeface="Google Sans Flex Medium"/>
              <a:sym typeface="Google Sans Flex Medium"/>
            </a:endParaRPr>
          </a:p>
          <a:p>
            <a:pPr indent="-317500" lvl="0" marL="457200" rtl="0" algn="l">
              <a:spcBef>
                <a:spcPts val="0"/>
              </a:spcBef>
              <a:spcAft>
                <a:spcPts val="0"/>
              </a:spcAft>
              <a:buSzPts val="1400"/>
              <a:buFont typeface="Google Sans Flex Medium"/>
              <a:buChar char="●"/>
            </a:pPr>
            <a:r>
              <a:rPr lang="en-GB">
                <a:latin typeface="Google Sans Flex Medium"/>
                <a:ea typeface="Google Sans Flex Medium"/>
                <a:cs typeface="Google Sans Flex Medium"/>
                <a:sym typeface="Google Sans Flex Medium"/>
              </a:rPr>
              <a:t>Final Product Link</a:t>
            </a:r>
            <a:r>
              <a:rPr lang="en-GB">
                <a:latin typeface="Google Sans Flex Medium"/>
                <a:ea typeface="Google Sans Flex Medium"/>
                <a:cs typeface="Google Sans Flex Medium"/>
                <a:sym typeface="Google Sans Flex Medium"/>
              </a:rPr>
              <a:t>: </a:t>
            </a:r>
            <a:r>
              <a:rPr lang="en-GB">
                <a:solidFill>
                  <a:srgbClr val="0B6E6A"/>
                </a:solidFill>
                <a:latin typeface="Google Sans Flex Medium"/>
                <a:ea typeface="Google Sans Flex Medium"/>
                <a:cs typeface="Google Sans Flex Medium"/>
                <a:sym typeface="Google Sans Flex Medium"/>
                <a:hlinkClick r:id="rId7"/>
              </a:rPr>
              <a:t>https://findyourdent.com</a:t>
            </a:r>
            <a:endParaRPr>
              <a:latin typeface="Google Sans Flex Medium"/>
              <a:ea typeface="Google Sans Flex Medium"/>
              <a:cs typeface="Google Sans Flex Medium"/>
              <a:sym typeface="Google Sans Flex Medium"/>
            </a:endParaRPr>
          </a:p>
          <a:p>
            <a:pPr indent="0" lvl="0" marL="0" rtl="0" algn="l">
              <a:spcBef>
                <a:spcPts val="0"/>
              </a:spcBef>
              <a:spcAft>
                <a:spcPts val="0"/>
              </a:spcAft>
              <a:buNone/>
            </a:pPr>
            <a:r>
              <a:t/>
            </a:r>
            <a:endParaRPr sz="1600">
              <a:latin typeface="Google Sans Flex Medium"/>
              <a:ea typeface="Google Sans Flex Medium"/>
              <a:cs typeface="Google Sans Flex Medium"/>
              <a:sym typeface="Google Sans Flex Medium"/>
            </a:endParaRPr>
          </a:p>
        </p:txBody>
      </p:sp>
      <p:sp>
        <p:nvSpPr>
          <p:cNvPr id="160" name="Rounded Rectangle 159"/>
          <p:cNvSpPr/>
          <p:nvPr/>
        </p:nvSpPr>
        <p:spPr>
          <a:xfrm>
            <a:off x="265176" y="2148840"/>
            <a:ext cx="2724912" cy="2240280"/>
          </a:xfrm>
          <a:prstGeom prst="roundRect">
            <a:avLst>
              <a:gd name="adj" fmla="val 5000"/>
            </a:avLst>
          </a:prstGeom>
          <a:solidFill>
            <a:srgbClr val="F3F6F6"/>
          </a:solidFill>
          <a:ln>
            <a:noFill/>
          </a:ln>
        </p:spPr>
        <p:txBody>
          <a:bodyPr rtlCol="0" anchor="ctr"/>
          <a:lstStyle/>
          <a:p/>
        </p:txBody>
      </p:sp>
      <p:sp>
        <p:nvSpPr>
          <p:cNvPr id="161" name="TextBox 160"/>
          <p:cNvSpPr txBox="1"/>
          <p:nvPr/>
        </p:nvSpPr>
        <p:spPr>
          <a:xfrm>
            <a:off x="429768" y="2286000"/>
            <a:ext cx="2395728" cy="274320"/>
          </a:xfrm>
          <a:prstGeom prst="rect">
            <a:avLst/>
          </a:prstGeom>
          <a:noFill/>
        </p:spPr>
        <p:txBody>
          <a:bodyPr wrap="square" lIns="0" rIns="0" tIns="0" bIns="0" anchor="t">
            <a:spAutoFit/>
          </a:bodyPr>
          <a:lstStyle/>
          <a:p>
            <a:pPr algn="l">
              <a:spcAft>
                <a:spcPts val="0"/>
              </a:spcAft>
            </a:pPr>
            <a:r>
              <a:rPr sz="1200" b="1" i="0">
                <a:solidFill>
                  <a:srgbClr val="0B6E6A"/>
                </a:solidFill>
                <a:latin typeface="Google Sans Flex"/>
              </a:rPr>
              <a:t>Code</a:t>
            </a:r>
          </a:p>
        </p:txBody>
      </p:sp>
      <p:sp>
        <p:nvSpPr>
          <p:cNvPr id="162" name="TextBox 161"/>
          <p:cNvSpPr txBox="1"/>
          <p:nvPr/>
        </p:nvSpPr>
        <p:spPr>
          <a:xfrm>
            <a:off x="429768" y="2578608"/>
            <a:ext cx="2395728" cy="365760"/>
          </a:xfrm>
          <a:prstGeom prst="rect">
            <a:avLst/>
          </a:prstGeom>
          <a:noFill/>
        </p:spPr>
        <p:txBody>
          <a:bodyPr wrap="square" lIns="0" rIns="0" tIns="0" bIns="0" anchor="t">
            <a:spAutoFit/>
          </a:bodyPr>
          <a:lstStyle/>
          <a:p>
            <a:pPr algn="l">
              <a:spcAft>
                <a:spcPts val="0"/>
              </a:spcAft>
            </a:pPr>
            <a:r>
              <a:rPr sz="950" b="0" i="0">
                <a:solidFill>
                  <a:srgbClr val="172427"/>
                </a:solidFill>
                <a:latin typeface="Google Sans Flex"/>
                <a:hlinkClick r:id="rId5"/>
              </a:rPr>
              <a:t>github.com/ahmadwaliradhi/findyourdent</a:t>
            </a:r>
          </a:p>
        </p:txBody>
      </p:sp>
      <p:pic>
        <p:nvPicPr>
          <p:cNvPr id="163" name="Picture 162" descr="image.png"/>
          <p:cNvPicPr>
            <a:picLocks noChangeAspect="1"/>
          </p:cNvPicPr>
          <p:nvPr/>
        </p:nvPicPr>
        <p:blipFill>
          <a:blip r:embed="rId8"/>
          <a:stretch>
            <a:fillRect/>
          </a:stretch>
        </p:blipFill>
        <p:spPr>
          <a:xfrm>
            <a:off x="429768" y="2990088"/>
            <a:ext cx="1234440" cy="1234440"/>
          </a:xfrm>
          <a:prstGeom prst="rect">
            <a:avLst/>
          </a:prstGeom>
        </p:spPr>
      </p:pic>
      <p:sp>
        <p:nvSpPr>
          <p:cNvPr id="164" name="Rounded Rectangle 163"/>
          <p:cNvSpPr/>
          <p:nvPr/>
        </p:nvSpPr>
        <p:spPr>
          <a:xfrm>
            <a:off x="3209544" y="2148840"/>
            <a:ext cx="2724912" cy="2240280"/>
          </a:xfrm>
          <a:prstGeom prst="roundRect">
            <a:avLst>
              <a:gd name="adj" fmla="val 5000"/>
            </a:avLst>
          </a:prstGeom>
          <a:solidFill>
            <a:srgbClr val="F3F6F6"/>
          </a:solidFill>
          <a:ln>
            <a:noFill/>
          </a:ln>
        </p:spPr>
        <p:txBody>
          <a:bodyPr rtlCol="0" anchor="ctr"/>
          <a:lstStyle/>
          <a:p/>
        </p:txBody>
      </p:sp>
      <p:sp>
        <p:nvSpPr>
          <p:cNvPr id="165" name="TextBox 164"/>
          <p:cNvSpPr txBox="1"/>
          <p:nvPr/>
        </p:nvSpPr>
        <p:spPr>
          <a:xfrm>
            <a:off x="3374136" y="2286000"/>
            <a:ext cx="2395728" cy="274320"/>
          </a:xfrm>
          <a:prstGeom prst="rect">
            <a:avLst/>
          </a:prstGeom>
          <a:noFill/>
        </p:spPr>
        <p:txBody>
          <a:bodyPr wrap="square" lIns="0" rIns="0" tIns="0" bIns="0" anchor="t">
            <a:spAutoFit/>
          </a:bodyPr>
          <a:lstStyle/>
          <a:p>
            <a:pPr algn="l">
              <a:spcAft>
                <a:spcPts val="0"/>
              </a:spcAft>
            </a:pPr>
            <a:r>
              <a:rPr sz="1200" b="1" i="0">
                <a:solidFill>
                  <a:srgbClr val="0B6E6A"/>
                </a:solidFill>
                <a:latin typeface="Google Sans Flex"/>
              </a:rPr>
              <a:t>Demo video</a:t>
            </a:r>
          </a:p>
        </p:txBody>
      </p:sp>
      <p:sp>
        <p:nvSpPr>
          <p:cNvPr id="166" name="TextBox 165"/>
          <p:cNvSpPr txBox="1"/>
          <p:nvPr/>
        </p:nvSpPr>
        <p:spPr>
          <a:xfrm>
            <a:off x="3374136" y="2578608"/>
            <a:ext cx="2395728" cy="365760"/>
          </a:xfrm>
          <a:prstGeom prst="rect">
            <a:avLst/>
          </a:prstGeom>
          <a:noFill/>
        </p:spPr>
        <p:txBody>
          <a:bodyPr wrap="square" lIns="0" rIns="0" tIns="0" bIns="0" anchor="t">
            <a:spAutoFit/>
          </a:bodyPr>
          <a:lstStyle/>
          <a:p>
            <a:pPr algn="l">
              <a:spcAft>
                <a:spcPts val="0"/>
              </a:spcAft>
            </a:pPr>
            <a:r>
              <a:rPr sz="950" b="0" i="0">
                <a:solidFill>
                  <a:srgbClr val="172427"/>
                </a:solidFill>
                <a:latin typeface="Google Sans Flex"/>
                <a:hlinkClick r:id="rId6"/>
              </a:rPr>
              <a:t>youtu.be/KsSCkUG_M00</a:t>
            </a:r>
          </a:p>
        </p:txBody>
      </p:sp>
      <p:pic>
        <p:nvPicPr>
          <p:cNvPr id="167" name="Picture 166" descr="image.png"/>
          <p:cNvPicPr>
            <a:picLocks noChangeAspect="1"/>
          </p:cNvPicPr>
          <p:nvPr/>
        </p:nvPicPr>
        <p:blipFill>
          <a:blip r:embed="rId9"/>
          <a:stretch>
            <a:fillRect/>
          </a:stretch>
        </p:blipFill>
        <p:spPr>
          <a:xfrm>
            <a:off x="3374136" y="2990088"/>
            <a:ext cx="1234440" cy="1234440"/>
          </a:xfrm>
          <a:prstGeom prst="rect">
            <a:avLst/>
          </a:prstGeom>
        </p:spPr>
      </p:pic>
      <p:sp>
        <p:nvSpPr>
          <p:cNvPr id="168" name="Rounded Rectangle 167"/>
          <p:cNvSpPr/>
          <p:nvPr/>
        </p:nvSpPr>
        <p:spPr>
          <a:xfrm>
            <a:off x="6153912" y="2148840"/>
            <a:ext cx="2724912" cy="2240280"/>
          </a:xfrm>
          <a:prstGeom prst="roundRect">
            <a:avLst>
              <a:gd name="adj" fmla="val 5000"/>
            </a:avLst>
          </a:prstGeom>
          <a:solidFill>
            <a:srgbClr val="F3F6F6"/>
          </a:solidFill>
          <a:ln>
            <a:noFill/>
          </a:ln>
        </p:spPr>
        <p:txBody>
          <a:bodyPr rtlCol="0" anchor="ctr"/>
          <a:lstStyle/>
          <a:p/>
        </p:txBody>
      </p:sp>
      <p:sp>
        <p:nvSpPr>
          <p:cNvPr id="169" name="TextBox 168"/>
          <p:cNvSpPr txBox="1"/>
          <p:nvPr/>
        </p:nvSpPr>
        <p:spPr>
          <a:xfrm>
            <a:off x="6318503" y="2286000"/>
            <a:ext cx="2395728" cy="274320"/>
          </a:xfrm>
          <a:prstGeom prst="rect">
            <a:avLst/>
          </a:prstGeom>
          <a:noFill/>
        </p:spPr>
        <p:txBody>
          <a:bodyPr wrap="square" lIns="0" rIns="0" tIns="0" bIns="0" anchor="t">
            <a:spAutoFit/>
          </a:bodyPr>
          <a:lstStyle/>
          <a:p>
            <a:pPr algn="l">
              <a:spcAft>
                <a:spcPts val="0"/>
              </a:spcAft>
            </a:pPr>
            <a:r>
              <a:rPr sz="1200" b="1" i="0">
                <a:solidFill>
                  <a:srgbClr val="0B6E6A"/>
                </a:solidFill>
                <a:latin typeface="Google Sans Flex"/>
              </a:rPr>
              <a:t>Live product</a:t>
            </a:r>
          </a:p>
        </p:txBody>
      </p:sp>
      <p:sp>
        <p:nvSpPr>
          <p:cNvPr id="170" name="TextBox 169"/>
          <p:cNvSpPr txBox="1"/>
          <p:nvPr/>
        </p:nvSpPr>
        <p:spPr>
          <a:xfrm>
            <a:off x="6318503" y="2578608"/>
            <a:ext cx="2395728" cy="365760"/>
          </a:xfrm>
          <a:prstGeom prst="rect">
            <a:avLst/>
          </a:prstGeom>
          <a:noFill/>
        </p:spPr>
        <p:txBody>
          <a:bodyPr wrap="square" lIns="0" rIns="0" tIns="0" bIns="0" anchor="t">
            <a:spAutoFit/>
          </a:bodyPr>
          <a:lstStyle/>
          <a:p>
            <a:pPr algn="l">
              <a:spcAft>
                <a:spcPts val="0"/>
              </a:spcAft>
            </a:pPr>
            <a:r>
              <a:rPr sz="950" b="0" i="0">
                <a:solidFill>
                  <a:srgbClr val="172427"/>
                </a:solidFill>
                <a:latin typeface="Google Sans Flex"/>
                <a:hlinkClick r:id="rId7"/>
              </a:rPr>
              <a:t>findyourdent.com</a:t>
            </a:r>
          </a:p>
        </p:txBody>
      </p:sp>
      <p:pic>
        <p:nvPicPr>
          <p:cNvPr id="171" name="Picture 170" descr="image.png"/>
          <p:cNvPicPr>
            <a:picLocks noChangeAspect="1"/>
          </p:cNvPicPr>
          <p:nvPr/>
        </p:nvPicPr>
        <p:blipFill>
          <a:blip r:embed="rId10"/>
          <a:stretch>
            <a:fillRect/>
          </a:stretch>
        </p:blipFill>
        <p:spPr>
          <a:xfrm>
            <a:off x="6318503" y="2990088"/>
            <a:ext cx="1234440" cy="1234440"/>
          </a:xfrm>
          <a:prstGeom prst="rect">
            <a:avLst/>
          </a:prstGeom>
        </p:spPr>
      </p:pic>
      <p:sp>
        <p:nvSpPr>
          <p:cNvPr id="172" name="Source"/>
          <p:cNvSpPr txBox="1"/>
          <p:nvPr/>
        </p:nvSpPr>
        <p:spPr>
          <a:xfrm>
            <a:off x="265176" y="4690872"/>
            <a:ext cx="8595360" cy="329184"/>
          </a:xfrm>
          <a:prstGeom prst="rect">
            <a:avLst/>
          </a:prstGeom>
          <a:noFill/>
        </p:spPr>
        <p:txBody>
          <a:bodyPr wrap="square" lIns="0" rIns="0" tIns="0" bIns="0" anchor="b">
            <a:spAutoFit/>
          </a:bodyPr>
          <a:lstStyle/>
          <a:p>
            <a:pPr algn="l">
              <a:spcAft>
                <a:spcPts val="0"/>
              </a:spcAft>
            </a:pPr>
            <a:r>
              <a:rPr sz="750" b="0" i="0">
                <a:solidFill>
                  <a:srgbClr val="5B6B70"/>
                </a:solidFill>
                <a:latin typeface="Google Sans Flex"/>
              </a:rPr>
              <a:t>Each link opened in a logged-out browser before submission. The live demo stays up through the finalist announcement on 7 November 2026.</a:t>
            </a: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pic>
        <p:nvPicPr>
          <p:cNvPr id="164" name="Google Shape;164;p27"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65" name="Google Shape;165;p27"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66" name="Google Shape;166;p27"/>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7" name="Heading"/>
          <p:cNvSpPr txBox="1"/>
          <p:nvPr/>
        </p:nvSpPr>
        <p:spPr>
          <a:xfrm>
            <a:off x="356616" y="758952"/>
            <a:ext cx="8503920" cy="320040"/>
          </a:xfrm>
          <a:prstGeom prst="rect">
            <a:avLst/>
          </a:prstGeom>
          <a:noFill/>
        </p:spPr>
        <p:txBody>
          <a:bodyPr wrap="square" lIns="0" rIns="0" tIns="0" bIns="0" anchor="t">
            <a:spAutoFit/>
          </a:bodyPr>
          <a:lstStyle/>
          <a:p>
            <a:pPr algn="l">
              <a:spcAft>
                <a:spcPts val="0"/>
              </a:spcAft>
            </a:pPr>
            <a:r>
              <a:rPr sz="1600" b="0" i="0">
                <a:solidFill>
                  <a:srgbClr val="172427"/>
                </a:solidFill>
                <a:latin typeface="Google Sans Flex"/>
              </a:rPr>
              <a:t>Sources and notes</a:t>
            </a:r>
          </a:p>
        </p:txBody>
      </p:sp>
      <p:sp>
        <p:nvSpPr>
          <p:cNvPr id="168" name="TextBox 167"/>
          <p:cNvSpPr txBox="1"/>
          <p:nvPr/>
        </p:nvSpPr>
        <p:spPr>
          <a:xfrm>
            <a:off x="265176" y="1188720"/>
            <a:ext cx="1828800" cy="457200"/>
          </a:xfrm>
          <a:prstGeom prst="rect">
            <a:avLst/>
          </a:prstGeom>
          <a:noFill/>
        </p:spPr>
        <p:txBody>
          <a:bodyPr wrap="square" lIns="0" rIns="0" tIns="0" bIns="0" anchor="t">
            <a:spAutoFit/>
          </a:bodyPr>
          <a:lstStyle/>
          <a:p>
            <a:pPr algn="l">
              <a:spcAft>
                <a:spcPts val="0"/>
              </a:spcAft>
            </a:pPr>
            <a:r>
              <a:rPr sz="1000" b="1" i="0">
                <a:solidFill>
                  <a:srgbClr val="0B6E6A"/>
                </a:solidFill>
                <a:latin typeface="Google Sans Flex"/>
              </a:rPr>
              <a:t>SKI 2023 figures</a:t>
            </a:r>
          </a:p>
        </p:txBody>
      </p:sp>
      <p:sp>
        <p:nvSpPr>
          <p:cNvPr id="169" name="TextBox 168"/>
          <p:cNvSpPr txBox="1"/>
          <p:nvPr/>
        </p:nvSpPr>
        <p:spPr>
          <a:xfrm>
            <a:off x="2148840" y="1188720"/>
            <a:ext cx="6720840" cy="502920"/>
          </a:xfrm>
          <a:prstGeom prst="rect">
            <a:avLst/>
          </a:prstGeom>
          <a:noFill/>
        </p:spPr>
        <p:txBody>
          <a:bodyPr wrap="square" lIns="0" rIns="0" tIns="0" bIns="0" anchor="t">
            <a:spAutoFit/>
          </a:bodyPr>
          <a:lstStyle/>
          <a:p>
            <a:pPr algn="l">
              <a:lnSpc>
                <a:spcPct val="100000"/>
              </a:lnSpc>
              <a:spcAft>
                <a:spcPts val="0"/>
              </a:spcAft>
            </a:pPr>
            <a:r>
              <a:rPr sz="950" b="0" i="0">
                <a:solidFill>
                  <a:srgbClr val="172427"/>
                </a:solidFill>
                <a:latin typeface="Google Sans Flex"/>
              </a:rPr>
              <a:t>Survei Kesehatan Indonesia 2023 Dalam Angka, BKPK Kemenkes, Bab 9: Tabel 9.5 p. 324, Tabel 9.7 p. 327. badankebijakan.kemkes.go.id/ski-2023-dalam-angka</a:t>
            </a:r>
          </a:p>
        </p:txBody>
      </p:sp>
      <p:sp>
        <p:nvSpPr>
          <p:cNvPr id="170" name="TextBox 169"/>
          <p:cNvSpPr txBox="1"/>
          <p:nvPr/>
        </p:nvSpPr>
        <p:spPr>
          <a:xfrm>
            <a:off x="265176" y="1737360"/>
            <a:ext cx="1828800" cy="457200"/>
          </a:xfrm>
          <a:prstGeom prst="rect">
            <a:avLst/>
          </a:prstGeom>
          <a:noFill/>
        </p:spPr>
        <p:txBody>
          <a:bodyPr wrap="square" lIns="0" rIns="0" tIns="0" bIns="0" anchor="t">
            <a:spAutoFit/>
          </a:bodyPr>
          <a:lstStyle/>
          <a:p>
            <a:pPr algn="l">
              <a:spcAft>
                <a:spcPts val="0"/>
              </a:spcAft>
            </a:pPr>
            <a:r>
              <a:rPr sz="1000" b="1" i="0">
                <a:solidFill>
                  <a:srgbClr val="0B6E6A"/>
                </a:solidFill>
                <a:latin typeface="Google Sans Flex"/>
              </a:rPr>
              <a:t>11.2% treated</a:t>
            </a:r>
          </a:p>
        </p:txBody>
      </p:sp>
      <p:sp>
        <p:nvSpPr>
          <p:cNvPr id="171" name="TextBox 170"/>
          <p:cNvSpPr txBox="1"/>
          <p:nvPr/>
        </p:nvSpPr>
        <p:spPr>
          <a:xfrm>
            <a:off x="2148840" y="1737360"/>
            <a:ext cx="6720840" cy="502920"/>
          </a:xfrm>
          <a:prstGeom prst="rect">
            <a:avLst/>
          </a:prstGeom>
          <a:noFill/>
        </p:spPr>
        <p:txBody>
          <a:bodyPr wrap="square" lIns="0" rIns="0" tIns="0" bIns="0" anchor="t">
            <a:spAutoFit/>
          </a:bodyPr>
          <a:lstStyle/>
          <a:p>
            <a:pPr algn="l">
              <a:lnSpc>
                <a:spcPct val="100000"/>
              </a:lnSpc>
              <a:spcAft>
                <a:spcPts val="0"/>
              </a:spcAft>
            </a:pPr>
            <a:r>
              <a:rPr sz="950" b="0" i="0">
                <a:solidFill>
                  <a:srgbClr val="172427"/>
                </a:solidFill>
                <a:latin typeface="Google Sans Flex"/>
              </a:rPr>
              <a:t>BKPK SKI 2023 oral health factsheet, Gambar 3 p. 2. repository.badankebijakan.kemkes.go.id/5534</a:t>
            </a:r>
          </a:p>
        </p:txBody>
      </p:sp>
      <p:sp>
        <p:nvSpPr>
          <p:cNvPr id="172" name="TextBox 171"/>
          <p:cNvSpPr txBox="1"/>
          <p:nvPr/>
        </p:nvSpPr>
        <p:spPr>
          <a:xfrm>
            <a:off x="265176" y="2286000"/>
            <a:ext cx="1828800" cy="457200"/>
          </a:xfrm>
          <a:prstGeom prst="rect">
            <a:avLst/>
          </a:prstGeom>
          <a:noFill/>
        </p:spPr>
        <p:txBody>
          <a:bodyPr wrap="square" lIns="0" rIns="0" tIns="0" bIns="0" anchor="t">
            <a:spAutoFit/>
          </a:bodyPr>
          <a:lstStyle/>
          <a:p>
            <a:pPr algn="l">
              <a:spcAft>
                <a:spcPts val="0"/>
              </a:spcAft>
            </a:pPr>
            <a:r>
              <a:rPr sz="1000" b="1" i="0">
                <a:solidFill>
                  <a:srgbClr val="0B6E6A"/>
                </a:solidFill>
                <a:latin typeface="Google Sans Flex"/>
              </a:rPr>
              <a:t>Reading the 57.0%</a:t>
            </a:r>
          </a:p>
        </p:txBody>
      </p:sp>
      <p:sp>
        <p:nvSpPr>
          <p:cNvPr id="173" name="TextBox 172"/>
          <p:cNvSpPr txBox="1"/>
          <p:nvPr/>
        </p:nvSpPr>
        <p:spPr>
          <a:xfrm>
            <a:off x="2148840" y="2286000"/>
            <a:ext cx="6720840" cy="502920"/>
          </a:xfrm>
          <a:prstGeom prst="rect">
            <a:avLst/>
          </a:prstGeom>
          <a:noFill/>
        </p:spPr>
        <p:txBody>
          <a:bodyPr wrap="square" lIns="0" rIns="0" tIns="0" bIns="0" anchor="t">
            <a:spAutoFit/>
          </a:bodyPr>
          <a:lstStyle/>
          <a:p>
            <a:pPr algn="l">
              <a:lnSpc>
                <a:spcPct val="100000"/>
              </a:lnSpc>
              <a:spcAft>
                <a:spcPts val="0"/>
              </a:spcAft>
            </a:pPr>
            <a:r>
              <a:rPr sz="950" b="0" i="0">
                <a:solidFill>
                  <a:srgbClr val="172427"/>
                </a:solidFill>
                <a:latin typeface="Google Sans Flex"/>
              </a:rPr>
              <a:t>Its denominator is everyone aged 3+ not treated by a dental health worker, including people with no dental problem (multiple response).</a:t>
            </a:r>
          </a:p>
        </p:txBody>
      </p:sp>
      <p:sp>
        <p:nvSpPr>
          <p:cNvPr id="174" name="TextBox 173"/>
          <p:cNvSpPr txBox="1"/>
          <p:nvPr/>
        </p:nvSpPr>
        <p:spPr>
          <a:xfrm>
            <a:off x="265176" y="2834639"/>
            <a:ext cx="1828800" cy="457200"/>
          </a:xfrm>
          <a:prstGeom prst="rect">
            <a:avLst/>
          </a:prstGeom>
          <a:noFill/>
        </p:spPr>
        <p:txBody>
          <a:bodyPr wrap="square" lIns="0" rIns="0" tIns="0" bIns="0" anchor="t">
            <a:spAutoFit/>
          </a:bodyPr>
          <a:lstStyle/>
          <a:p>
            <a:pPr algn="l">
              <a:spcAft>
                <a:spcPts val="0"/>
              </a:spcAft>
            </a:pPr>
            <a:r>
              <a:rPr sz="1000" b="1" i="0">
                <a:solidFill>
                  <a:srgbClr val="0B6E6A"/>
                </a:solidFill>
                <a:latin typeface="Google Sans Flex"/>
              </a:rPr>
              <a:t>Cost</a:t>
            </a:r>
          </a:p>
        </p:txBody>
      </p:sp>
      <p:sp>
        <p:nvSpPr>
          <p:cNvPr id="175" name="TextBox 174"/>
          <p:cNvSpPr txBox="1"/>
          <p:nvPr/>
        </p:nvSpPr>
        <p:spPr>
          <a:xfrm>
            <a:off x="2148840" y="2834639"/>
            <a:ext cx="6720840" cy="502920"/>
          </a:xfrm>
          <a:prstGeom prst="rect">
            <a:avLst/>
          </a:prstGeom>
          <a:noFill/>
        </p:spPr>
        <p:txBody>
          <a:bodyPr wrap="square" lIns="0" rIns="0" tIns="0" bIns="0" anchor="t">
            <a:spAutoFit/>
          </a:bodyPr>
          <a:lstStyle/>
          <a:p>
            <a:pPr algn="l">
              <a:lnSpc>
                <a:spcPct val="100000"/>
              </a:lnSpc>
              <a:spcAft>
                <a:spcPts val="0"/>
              </a:spcAft>
            </a:pPr>
            <a:r>
              <a:rPr sz="950" b="0" i="0">
                <a:solidFill>
                  <a:srgbClr val="172427"/>
                </a:solidFill>
                <a:latin typeface="Google Sans Flex"/>
              </a:rPr>
              <a:t>docs/research/cost-comparison-2026-10-17.md, USD list prices, ex-tax, PPN 11% as one line, no credits.</a:t>
            </a:r>
          </a:p>
        </p:txBody>
      </p:sp>
      <p:sp>
        <p:nvSpPr>
          <p:cNvPr id="176" name="TextBox 175"/>
          <p:cNvSpPr txBox="1"/>
          <p:nvPr/>
        </p:nvSpPr>
        <p:spPr>
          <a:xfrm>
            <a:off x="265176" y="3383280"/>
            <a:ext cx="1828800" cy="457200"/>
          </a:xfrm>
          <a:prstGeom prst="rect">
            <a:avLst/>
          </a:prstGeom>
          <a:noFill/>
        </p:spPr>
        <p:txBody>
          <a:bodyPr wrap="square" lIns="0" rIns="0" tIns="0" bIns="0" anchor="t">
            <a:spAutoFit/>
          </a:bodyPr>
          <a:lstStyle/>
          <a:p>
            <a:pPr algn="l">
              <a:spcAft>
                <a:spcPts val="0"/>
              </a:spcAft>
            </a:pPr>
            <a:r>
              <a:rPr sz="1000" b="1" i="0">
                <a:solidFill>
                  <a:srgbClr val="0B6E6A"/>
                </a:solidFill>
                <a:latin typeface="Google Sans Flex"/>
              </a:rPr>
              <a:t>Evaluations</a:t>
            </a:r>
          </a:p>
        </p:txBody>
      </p:sp>
      <p:sp>
        <p:nvSpPr>
          <p:cNvPr id="177" name="TextBox 176"/>
          <p:cNvSpPr txBox="1"/>
          <p:nvPr/>
        </p:nvSpPr>
        <p:spPr>
          <a:xfrm>
            <a:off x="2148840" y="3383280"/>
            <a:ext cx="6720840" cy="502920"/>
          </a:xfrm>
          <a:prstGeom prst="rect">
            <a:avLst/>
          </a:prstGeom>
          <a:noFill/>
        </p:spPr>
        <p:txBody>
          <a:bodyPr wrap="square" lIns="0" rIns="0" tIns="0" bIns="0" anchor="t">
            <a:spAutoFit/>
          </a:bodyPr>
          <a:lstStyle/>
          <a:p>
            <a:pPr algn="l">
              <a:lnSpc>
                <a:spcPct val="100000"/>
              </a:lnSpc>
              <a:spcAft>
                <a:spcPts val="0"/>
              </a:spcAft>
            </a:pPr>
            <a:r>
              <a:rPr sz="950" b="0" i="0">
                <a:solidFill>
                  <a:srgbClr val="172427"/>
                </a:solidFill>
                <a:latin typeface="Google Sans Flex"/>
              </a:rPr>
              <a:t>README.md results sections; evalsets in services/agent/evals/. Guidance labels agent-labelled, Moderation labels team-labelled.</a:t>
            </a:r>
          </a:p>
        </p:txBody>
      </p:sp>
      <p:sp>
        <p:nvSpPr>
          <p:cNvPr id="178" name="TextBox 177"/>
          <p:cNvSpPr txBox="1"/>
          <p:nvPr/>
        </p:nvSpPr>
        <p:spPr>
          <a:xfrm>
            <a:off x="265176" y="3931920"/>
            <a:ext cx="1828800" cy="457200"/>
          </a:xfrm>
          <a:prstGeom prst="rect">
            <a:avLst/>
          </a:prstGeom>
          <a:noFill/>
        </p:spPr>
        <p:txBody>
          <a:bodyPr wrap="square" lIns="0" rIns="0" tIns="0" bIns="0" anchor="t">
            <a:spAutoFit/>
          </a:bodyPr>
          <a:lstStyle/>
          <a:p>
            <a:pPr algn="l">
              <a:spcAft>
                <a:spcPts val="0"/>
              </a:spcAft>
            </a:pPr>
            <a:r>
              <a:rPr sz="1000" b="1" i="0">
                <a:solidFill>
                  <a:srgbClr val="0B6E6A"/>
                </a:solidFill>
                <a:latin typeface="Google Sans Flex"/>
              </a:rPr>
              <a:t>Ethics</a:t>
            </a:r>
          </a:p>
        </p:txBody>
      </p:sp>
      <p:sp>
        <p:nvSpPr>
          <p:cNvPr id="179" name="TextBox 178"/>
          <p:cNvSpPr txBox="1"/>
          <p:nvPr/>
        </p:nvSpPr>
        <p:spPr>
          <a:xfrm>
            <a:off x="2148840" y="3931920"/>
            <a:ext cx="6720840" cy="502920"/>
          </a:xfrm>
          <a:prstGeom prst="rect">
            <a:avLst/>
          </a:prstGeom>
          <a:noFill/>
        </p:spPr>
        <p:txBody>
          <a:bodyPr wrap="square" lIns="0" rIns="0" tIns="0" bIns="0" anchor="t">
            <a:spAutoFit/>
          </a:bodyPr>
          <a:lstStyle/>
          <a:p>
            <a:pPr algn="l">
              <a:lnSpc>
                <a:spcPct val="100000"/>
              </a:lnSpc>
              <a:spcAft>
                <a:spcPts val="0"/>
              </a:spcAft>
            </a:pPr>
            <a:r>
              <a:rPr sz="950" b="0" i="0">
                <a:solidFill>
                  <a:srgbClr val="172427"/>
                </a:solidFill>
                <a:latin typeface="Google Sans Flex"/>
              </a:rPr>
              <a:t>KODEKGI (Kode Etik Kedokteran Gigi Indonesia) and MKEK Fatwa 29/2021 on advertising by doctors and dentists.</a:t>
            </a: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pic>
        <p:nvPicPr>
          <p:cNvPr id="171" name="Google Shape;171;p28"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72" name="Google Shape;172;p28" title="Frame 145.png"/>
          <p:cNvPicPr preferRelativeResize="0"/>
          <p:nvPr/>
        </p:nvPicPr>
        <p:blipFill>
          <a:blip r:embed="rId4">
            <a:alphaModFix/>
          </a:blip>
          <a:stretch>
            <a:fillRect/>
          </a:stretch>
        </p:blipFill>
        <p:spPr>
          <a:xfrm>
            <a:off x="0" y="0"/>
            <a:ext cx="9144000" cy="5143516"/>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